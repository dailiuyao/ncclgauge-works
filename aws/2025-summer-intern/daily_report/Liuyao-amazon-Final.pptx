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6"/>
  </p:notesMasterIdLst>
  <p:sldIdLst>
    <p:sldId id="277" r:id="rId2"/>
    <p:sldId id="371" r:id="rId3"/>
    <p:sldId id="372" r:id="rId4"/>
    <p:sldId id="274" r:id="rId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C9DDDDD-7A4B-2B49-88A2-8FD2D73FFA61}">
          <p14:sldIdLst>
            <p14:sldId id="277"/>
            <p14:sldId id="371"/>
            <p14:sldId id="372"/>
            <p14:sldId id="274"/>
          </p14:sldIdLst>
        </p14:section>
        <p14:section name="Back Up" id="{4880F8FA-7BCC-CC49-A472-FABDED928AE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04F0DB-0603-36A9-8FC8-0DEA20A10451}" name="Adam Weingram" initials="AW" userId="S::aweingram@ucmerced.edu::11b9c55c-e503-41db-85ae-f770777bde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/>
    <p:restoredTop sz="75144"/>
  </p:normalViewPr>
  <p:slideViewPr>
    <p:cSldViewPr snapToGrid="0">
      <p:cViewPr>
        <p:scale>
          <a:sx n="142" d="100"/>
          <a:sy n="142" d="100"/>
        </p:scale>
        <p:origin x="152" y="-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9a8aeeed4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g369a8aeeed4_4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369a8aeeed4_4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>
          <a:extLst>
            <a:ext uri="{FF2B5EF4-FFF2-40B4-BE49-F238E27FC236}">
              <a16:creationId xmlns:a16="http://schemas.microsoft.com/office/drawing/2014/main" id="{5FF36C29-757C-E186-91FD-3D06F4E2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69a8aeeed4_4_394:notes">
            <a:extLst>
              <a:ext uri="{FF2B5EF4-FFF2-40B4-BE49-F238E27FC236}">
                <a16:creationId xmlns:a16="http://schemas.microsoft.com/office/drawing/2014/main" id="{DCE5EA88-CC02-8E36-4591-34C718A16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g369a8aeeed4_4_394:notes">
            <a:extLst>
              <a:ext uri="{FF2B5EF4-FFF2-40B4-BE49-F238E27FC236}">
                <a16:creationId xmlns:a16="http://schemas.microsoft.com/office/drawing/2014/main" id="{8C70F9CE-79FD-5CC7-73FA-063FA06B9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69a8aeeed4_4_394:notes">
            <a:extLst>
              <a:ext uri="{FF2B5EF4-FFF2-40B4-BE49-F238E27FC236}">
                <a16:creationId xmlns:a16="http://schemas.microsoft.com/office/drawing/2014/main" id="{89FE189F-BC7F-94E4-AA09-AA8014C428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969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699c8b4ad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3699c8b4adf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Nvidia: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700" err="1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developer.nvidia.com</a:t>
            </a: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/blog/accelerating-hpc-applications-with-nsight-compute-roofline-analysis/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/>
              <a:t>HPL (High Performance LINPACK): https://</a:t>
            </a:r>
            <a:r>
              <a:rPr lang="en-US" sz="2400" err="1"/>
              <a:t>arxiv.org</a:t>
            </a:r>
            <a:r>
              <a:rPr lang="en-US" sz="2400"/>
              <a:t>/pdf/2011.02617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Simulation:</a:t>
            </a: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700" err="1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arxiv.org</a:t>
            </a: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/html/2503.19050v1</a:t>
            </a: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https://1week.tistory.com/82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699c8b4adf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461177" y="273845"/>
            <a:ext cx="8221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461177" y="898497"/>
            <a:ext cx="8221640" cy="3553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WO_OBJECT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461177" y="898497"/>
            <a:ext cx="4053673" cy="373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body" idx="2"/>
          </p:nvPr>
        </p:nvSpPr>
        <p:spPr>
          <a:xfrm>
            <a:off x="4629149" y="898497"/>
            <a:ext cx="4053667" cy="373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  <p:sp>
        <p:nvSpPr>
          <p:cNvPr id="2" name="Google Shape;148;p26">
            <a:extLst>
              <a:ext uri="{FF2B5EF4-FFF2-40B4-BE49-F238E27FC236}">
                <a16:creationId xmlns:a16="http://schemas.microsoft.com/office/drawing/2014/main" id="{AFC616C8-FC12-D861-9CD3-DAEEBECDC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177" y="273845"/>
            <a:ext cx="8221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9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9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0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0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0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1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1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  <p:sp>
        <p:nvSpPr>
          <p:cNvPr id="2" name="Google Shape;148;p26">
            <a:extLst>
              <a:ext uri="{FF2B5EF4-FFF2-40B4-BE49-F238E27FC236}">
                <a16:creationId xmlns:a16="http://schemas.microsoft.com/office/drawing/2014/main" id="{7361F026-1F1B-B633-D3E9-75BD31476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177" y="273845"/>
            <a:ext cx="8221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⮚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8" name="Google Shape;198;p32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2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06" name="Google Shape;206;p33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33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33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3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body" idx="1"/>
          </p:nvPr>
        </p:nvSpPr>
        <p:spPr>
          <a:xfrm rot="5400000">
            <a:off x="3030481" y="-1032612"/>
            <a:ext cx="3083039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4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4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4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35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35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2" name="Google Shape;222;p35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5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54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628650" y="869005"/>
            <a:ext cx="7886700" cy="358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0" y="4869656"/>
            <a:ext cx="9144000" cy="273844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5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9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9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27333" y="4869656"/>
            <a:ext cx="32351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9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7"/>
          <p:cNvSpPr txBox="1">
            <a:spLocks noGrp="1"/>
          </p:cNvSpPr>
          <p:nvPr>
            <p:ph type="body" idx="1"/>
          </p:nvPr>
        </p:nvSpPr>
        <p:spPr>
          <a:xfrm>
            <a:off x="461177" y="955668"/>
            <a:ext cx="3549195" cy="655637"/>
          </a:xfr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indent="-222250">
              <a:lnSpc>
                <a:spcPct val="80000"/>
              </a:lnSpc>
              <a:buSzPts val="2100"/>
            </a:pPr>
            <a:r>
              <a:rPr lang="en-US" sz="1900"/>
              <a:t>L: upper bound on message latency between processors; </a:t>
            </a:r>
          </a:p>
        </p:txBody>
      </p:sp>
      <p:sp>
        <p:nvSpPr>
          <p:cNvPr id="590" name="Google Shape;590;p57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US" dirty="0"/>
              <a:t>Liuyao Dai, 2025</a:t>
            </a:r>
          </a:p>
        </p:txBody>
      </p:sp>
      <p:sp>
        <p:nvSpPr>
          <p:cNvPr id="591" name="Google Shape;591;p57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fld id="{00000000-1234-1234-1234-123412341234}" type="slidenum">
              <a:rPr lang="en"/>
              <a:pPr lvl="0"/>
              <a:t>1</a:t>
            </a:fld>
            <a:endParaRPr lang="en"/>
          </a:p>
        </p:txBody>
      </p:sp>
      <p:sp>
        <p:nvSpPr>
          <p:cNvPr id="599" name="Google Shape;599;p57"/>
          <p:cNvSpPr txBox="1">
            <a:spLocks noGrp="1"/>
          </p:cNvSpPr>
          <p:nvPr>
            <p:ph type="body" idx="4294967295"/>
          </p:nvPr>
        </p:nvSpPr>
        <p:spPr>
          <a:xfrm>
            <a:off x="426201" y="1680267"/>
            <a:ext cx="3638967" cy="65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177800" lvl="0" indent="-222250" algn="l" rtl="0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-US" dirty="0"/>
              <a:t>o</a:t>
            </a:r>
            <a:r>
              <a:rPr lang="en" dirty="0"/>
              <a:t> (o</a:t>
            </a:r>
            <a:r>
              <a:rPr lang="en" baseline="-25000" dirty="0"/>
              <a:t>s</a:t>
            </a:r>
            <a:r>
              <a:rPr lang="en" dirty="0"/>
              <a:t>, o</a:t>
            </a:r>
            <a:r>
              <a:rPr lang="en" baseline="-25000" dirty="0"/>
              <a:t>r</a:t>
            </a:r>
            <a:r>
              <a:rPr lang="en" dirty="0"/>
              <a:t>): overhead time during transmission or reception; </a:t>
            </a:r>
            <a:endParaRPr sz="2100" i="1" dirty="0"/>
          </a:p>
        </p:txBody>
      </p:sp>
      <p:sp>
        <p:nvSpPr>
          <p:cNvPr id="600" name="Google Shape;600;p57"/>
          <p:cNvSpPr txBox="1">
            <a:spLocks noGrp="1"/>
          </p:cNvSpPr>
          <p:nvPr>
            <p:ph type="body" idx="4294967295"/>
          </p:nvPr>
        </p:nvSpPr>
        <p:spPr>
          <a:xfrm>
            <a:off x="426201" y="2404866"/>
            <a:ext cx="3886200" cy="65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177800" lvl="0" indent="-222250" algn="l" rtl="0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g: minimum gap between consecutive messages; </a:t>
            </a:r>
            <a:endParaRPr sz="2100" i="1" dirty="0"/>
          </a:p>
        </p:txBody>
      </p:sp>
      <p:sp>
        <p:nvSpPr>
          <p:cNvPr id="601" name="Google Shape;601;p57"/>
          <p:cNvSpPr txBox="1">
            <a:spLocks noGrp="1"/>
          </p:cNvSpPr>
          <p:nvPr>
            <p:ph type="body" idx="4294967295"/>
          </p:nvPr>
        </p:nvSpPr>
        <p:spPr>
          <a:xfrm>
            <a:off x="426201" y="3129465"/>
            <a:ext cx="3886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177800" lvl="0" indent="-222250" algn="l" rtl="0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P: number of processors;</a:t>
            </a:r>
            <a:endParaRPr/>
          </a:p>
        </p:txBody>
      </p:sp>
      <p:sp>
        <p:nvSpPr>
          <p:cNvPr id="602" name="Google Shape;602;p57"/>
          <p:cNvSpPr txBox="1">
            <a:spLocks noGrp="1"/>
          </p:cNvSpPr>
          <p:nvPr>
            <p:ph type="body" idx="4294967295"/>
          </p:nvPr>
        </p:nvSpPr>
        <p:spPr>
          <a:xfrm>
            <a:off x="426201" y="3569903"/>
            <a:ext cx="3886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177800" lvl="0" indent="-222250" algn="l" rtl="0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G: gap per byte for long messages.</a:t>
            </a:r>
            <a:endParaRPr sz="2100" i="1"/>
          </a:p>
        </p:txBody>
      </p:sp>
      <p:pic>
        <p:nvPicPr>
          <p:cNvPr id="589" name="Google Shape;589;p57" descr="A diagram of a rectangular object with arrows and letter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8708" y="1816918"/>
            <a:ext cx="388620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592" name="Google Shape;592;p57"/>
          <p:cNvSpPr/>
          <p:nvPr/>
        </p:nvSpPr>
        <p:spPr>
          <a:xfrm>
            <a:off x="4768363" y="2708228"/>
            <a:ext cx="5325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7"/>
          <p:cNvSpPr/>
          <p:nvPr/>
        </p:nvSpPr>
        <p:spPr>
          <a:xfrm>
            <a:off x="4399731" y="1728010"/>
            <a:ext cx="5325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7"/>
          <p:cNvSpPr/>
          <p:nvPr/>
        </p:nvSpPr>
        <p:spPr>
          <a:xfrm>
            <a:off x="5860648" y="2659729"/>
            <a:ext cx="6423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7"/>
          <p:cNvSpPr/>
          <p:nvPr/>
        </p:nvSpPr>
        <p:spPr>
          <a:xfrm>
            <a:off x="5843251" y="2157295"/>
            <a:ext cx="5325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7"/>
          <p:cNvSpPr/>
          <p:nvPr/>
        </p:nvSpPr>
        <p:spPr>
          <a:xfrm>
            <a:off x="3951301" y="2552773"/>
            <a:ext cx="6423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7"/>
          <p:cNvSpPr/>
          <p:nvPr/>
        </p:nvSpPr>
        <p:spPr>
          <a:xfrm>
            <a:off x="3887564" y="1846477"/>
            <a:ext cx="6423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7"/>
          <p:cNvSpPr/>
          <p:nvPr/>
        </p:nvSpPr>
        <p:spPr>
          <a:xfrm>
            <a:off x="7020457" y="2021204"/>
            <a:ext cx="532500" cy="449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9;p54">
            <a:extLst>
              <a:ext uri="{FF2B5EF4-FFF2-40B4-BE49-F238E27FC236}">
                <a16:creationId xmlns:a16="http://schemas.microsoft.com/office/drawing/2014/main" id="{8CD4F018-091F-9134-6EE2-390CE0D80642}"/>
              </a:ext>
            </a:extLst>
          </p:cNvPr>
          <p:cNvSpPr txBox="1">
            <a:spLocks/>
          </p:cNvSpPr>
          <p:nvPr/>
        </p:nvSpPr>
        <p:spPr>
          <a:xfrm>
            <a:off x="365178" y="160817"/>
            <a:ext cx="8338247" cy="520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Communication Model (</a:t>
            </a:r>
            <a:r>
              <a:rPr lang="en-US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LogGP</a:t>
            </a:r>
            <a:r>
              <a:rPr lang="en-US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>
          <a:extLst>
            <a:ext uri="{FF2B5EF4-FFF2-40B4-BE49-F238E27FC236}">
              <a16:creationId xmlns:a16="http://schemas.microsoft.com/office/drawing/2014/main" id="{BDE68D9A-B55F-8E4C-9B1F-BC69DDD8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8">
            <a:extLst>
              <a:ext uri="{FF2B5EF4-FFF2-40B4-BE49-F238E27FC236}">
                <a16:creationId xmlns:a16="http://schemas.microsoft.com/office/drawing/2014/main" id="{863AF131-E5B5-A0AA-B54D-F9AC2A8B79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7001" cy="273845"/>
          </a:xfr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dirty="0"/>
              <a:t>Liuyao Dai, 2025</a:t>
            </a:r>
          </a:p>
        </p:txBody>
      </p:sp>
      <p:sp>
        <p:nvSpPr>
          <p:cNvPr id="610" name="Google Shape;610;p58">
            <a:extLst>
              <a:ext uri="{FF2B5EF4-FFF2-40B4-BE49-F238E27FC236}">
                <a16:creationId xmlns:a16="http://schemas.microsoft.com/office/drawing/2014/main" id="{3388FF80-498C-EB3C-D740-C70177499F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217" cy="273846"/>
          </a:xfr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fld id="{00000000-1234-1234-1234-123412341234}" type="slidenum">
              <a:rPr lang="en"/>
              <a:pPr lvl="0"/>
              <a:t>2</a:t>
            </a:fld>
            <a:endParaRPr lang="e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7AFDF9-F221-5242-A291-4F12EB329E07}"/>
              </a:ext>
            </a:extLst>
          </p:cNvPr>
          <p:cNvSpPr/>
          <p:nvPr/>
        </p:nvSpPr>
        <p:spPr>
          <a:xfrm>
            <a:off x="2444629" y="2513424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910E0-B3B6-9557-ABBC-EF7A610FA169}"/>
              </a:ext>
            </a:extLst>
          </p:cNvPr>
          <p:cNvGrpSpPr/>
          <p:nvPr/>
        </p:nvGrpSpPr>
        <p:grpSpPr>
          <a:xfrm rot="16200000">
            <a:off x="2940640" y="1855566"/>
            <a:ext cx="330702" cy="204232"/>
            <a:chOff x="11902457" y="13729729"/>
            <a:chExt cx="2578121" cy="1423884"/>
          </a:xfrm>
        </p:grpSpPr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0DA51D5C-2B52-0930-E734-7ABA193987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2457" y="14448445"/>
              <a:ext cx="2454976" cy="705168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6A07C29D-E0FD-C345-7602-CA50A4A38D9D}"/>
                </a:ext>
              </a:extLst>
            </p:cNvPr>
            <p:cNvSpPr/>
            <p:nvPr/>
          </p:nvSpPr>
          <p:spPr>
            <a:xfrm>
              <a:off x="11919012" y="13729729"/>
              <a:ext cx="2561566" cy="765299"/>
            </a:xfrm>
            <a:custGeom>
              <a:avLst/>
              <a:gdLst>
                <a:gd name="connsiteX0" fmla="*/ 0 w 2561563"/>
                <a:gd name="connsiteY0" fmla="*/ 0 h 492980"/>
                <a:gd name="connsiteX1" fmla="*/ 1280160 w 2561563"/>
                <a:gd name="connsiteY1" fmla="*/ 55659 h 492980"/>
                <a:gd name="connsiteX2" fmla="*/ 2210463 w 2561563"/>
                <a:gd name="connsiteY2" fmla="*/ 166977 h 492980"/>
                <a:gd name="connsiteX3" fmla="*/ 2552369 w 2561563"/>
                <a:gd name="connsiteY3" fmla="*/ 286247 h 492980"/>
                <a:gd name="connsiteX4" fmla="*/ 2449002 w 2561563"/>
                <a:gd name="connsiteY4" fmla="*/ 437321 h 492980"/>
                <a:gd name="connsiteX5" fmla="*/ 2289976 w 2561563"/>
                <a:gd name="connsiteY5" fmla="*/ 492980 h 492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563" h="492980">
                  <a:moveTo>
                    <a:pt x="0" y="0"/>
                  </a:moveTo>
                  <a:cubicBezTo>
                    <a:pt x="455875" y="13915"/>
                    <a:pt x="911750" y="27830"/>
                    <a:pt x="1280160" y="55659"/>
                  </a:cubicBezTo>
                  <a:cubicBezTo>
                    <a:pt x="1648571" y="83489"/>
                    <a:pt x="1998428" y="128546"/>
                    <a:pt x="2210463" y="166977"/>
                  </a:cubicBezTo>
                  <a:cubicBezTo>
                    <a:pt x="2422498" y="205408"/>
                    <a:pt x="2512612" y="241190"/>
                    <a:pt x="2552369" y="286247"/>
                  </a:cubicBezTo>
                  <a:cubicBezTo>
                    <a:pt x="2592126" y="331304"/>
                    <a:pt x="2492734" y="402866"/>
                    <a:pt x="2449002" y="437321"/>
                  </a:cubicBezTo>
                  <a:cubicBezTo>
                    <a:pt x="2405270" y="471776"/>
                    <a:pt x="2319131" y="459850"/>
                    <a:pt x="2289976" y="492980"/>
                  </a:cubicBezTo>
                </a:path>
              </a:pathLst>
            </a:custGeom>
            <a:noFill/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ash"/>
              <a:tailEnd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95C8E-7515-1BA6-B46F-E29010374E7A}"/>
              </a:ext>
            </a:extLst>
          </p:cNvPr>
          <p:cNvSpPr/>
          <p:nvPr/>
        </p:nvSpPr>
        <p:spPr>
          <a:xfrm>
            <a:off x="2182992" y="1235132"/>
            <a:ext cx="549544" cy="224379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F910D8D1-0909-EB27-2956-67D8798713A5}"/>
              </a:ext>
            </a:extLst>
          </p:cNvPr>
          <p:cNvSpPr>
            <a:spLocks noChangeAspect="1"/>
          </p:cNvSpPr>
          <p:nvPr/>
        </p:nvSpPr>
        <p:spPr>
          <a:xfrm>
            <a:off x="2033857" y="1012927"/>
            <a:ext cx="305602" cy="299172"/>
          </a:xfrm>
          <a:prstGeom prst="star5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7B989D-6095-1649-3A3E-2C2618660434}"/>
              </a:ext>
            </a:extLst>
          </p:cNvPr>
          <p:cNvSpPr/>
          <p:nvPr/>
        </p:nvSpPr>
        <p:spPr>
          <a:xfrm>
            <a:off x="3889428" y="3668137"/>
            <a:ext cx="259022" cy="224379"/>
          </a:xfrm>
          <a:prstGeom prst="rect">
            <a:avLst/>
          </a:prstGeom>
          <a:pattFill prst="open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9D034F27-0058-A339-359B-8DB398F94EB3}"/>
              </a:ext>
            </a:extLst>
          </p:cNvPr>
          <p:cNvSpPr/>
          <p:nvPr/>
        </p:nvSpPr>
        <p:spPr>
          <a:xfrm>
            <a:off x="3889430" y="3024430"/>
            <a:ext cx="172042" cy="630859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headEnd w="lg" len="lg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4571A6-AF75-6883-5CBC-8FD9D2FA5895}"/>
              </a:ext>
            </a:extLst>
          </p:cNvPr>
          <p:cNvCxnSpPr>
            <a:cxnSpLocks/>
          </p:cNvCxnSpPr>
          <p:nvPr/>
        </p:nvCxnSpPr>
        <p:spPr>
          <a:xfrm>
            <a:off x="3868568" y="3024428"/>
            <a:ext cx="110640" cy="314131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lg" len="lg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9BB8953-BE7A-2E2F-4C92-81D1B176AE4E}"/>
              </a:ext>
            </a:extLst>
          </p:cNvPr>
          <p:cNvSpPr/>
          <p:nvPr/>
        </p:nvSpPr>
        <p:spPr>
          <a:xfrm>
            <a:off x="4148166" y="3668137"/>
            <a:ext cx="899724" cy="224379"/>
          </a:xfrm>
          <a:prstGeom prst="rect">
            <a:avLst/>
          </a:prstGeom>
          <a:pattFill prst="solid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9D1A849-E244-7F46-7E29-EDB48652680A}"/>
              </a:ext>
            </a:extLst>
          </p:cNvPr>
          <p:cNvCxnSpPr>
            <a:cxnSpLocks/>
            <a:stCxn id="26" idx="1"/>
          </p:cNvCxnSpPr>
          <p:nvPr/>
        </p:nvCxnSpPr>
        <p:spPr>
          <a:xfrm flipV="1">
            <a:off x="4148166" y="3503476"/>
            <a:ext cx="96397" cy="27685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894731F-CFB0-91AA-2F01-88D444811376}"/>
              </a:ext>
            </a:extLst>
          </p:cNvPr>
          <p:cNvSpPr/>
          <p:nvPr/>
        </p:nvSpPr>
        <p:spPr>
          <a:xfrm>
            <a:off x="4241596" y="1241604"/>
            <a:ext cx="719726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B5A76D0D-9D1B-8252-D68B-A4AD1F147D07}"/>
              </a:ext>
            </a:extLst>
          </p:cNvPr>
          <p:cNvSpPr/>
          <p:nvPr/>
        </p:nvSpPr>
        <p:spPr>
          <a:xfrm rot="10800000" flipH="1">
            <a:off x="4100863" y="1469333"/>
            <a:ext cx="140729" cy="658953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17A31B7-41FB-9CCE-CA16-FE592C07A318}"/>
              </a:ext>
            </a:extLst>
          </p:cNvPr>
          <p:cNvSpPr/>
          <p:nvPr/>
        </p:nvSpPr>
        <p:spPr>
          <a:xfrm>
            <a:off x="4382325" y="1615521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CA47C7-5B11-37D8-1A45-40F4FADF9A79}"/>
              </a:ext>
            </a:extLst>
          </p:cNvPr>
          <p:cNvCxnSpPr>
            <a:cxnSpLocks/>
            <a:stCxn id="29" idx="6"/>
            <a:endCxn id="30" idx="1"/>
          </p:cNvCxnSpPr>
          <p:nvPr/>
        </p:nvCxnSpPr>
        <p:spPr>
          <a:xfrm>
            <a:off x="4241592" y="1469333"/>
            <a:ext cx="140733" cy="29577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iamond 31">
            <a:extLst>
              <a:ext uri="{FF2B5EF4-FFF2-40B4-BE49-F238E27FC236}">
                <a16:creationId xmlns:a16="http://schemas.microsoft.com/office/drawing/2014/main" id="{20366E7A-E6E9-77FB-3670-F965419EDC7E}"/>
              </a:ext>
            </a:extLst>
          </p:cNvPr>
          <p:cNvSpPr/>
          <p:nvPr/>
        </p:nvSpPr>
        <p:spPr>
          <a:xfrm>
            <a:off x="4805942" y="1366381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96189F-1EBA-DE4C-18BB-866AE35D937C}"/>
              </a:ext>
            </a:extLst>
          </p:cNvPr>
          <p:cNvSpPr/>
          <p:nvPr/>
        </p:nvSpPr>
        <p:spPr>
          <a:xfrm>
            <a:off x="5047890" y="3668361"/>
            <a:ext cx="371451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F6226D3C-29FA-1ADF-B032-076DEED83CE4}"/>
              </a:ext>
            </a:extLst>
          </p:cNvPr>
          <p:cNvSpPr/>
          <p:nvPr/>
        </p:nvSpPr>
        <p:spPr>
          <a:xfrm>
            <a:off x="5260567" y="3818332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F18B94-504B-DF64-5EEE-F0FCBE36D83F}"/>
              </a:ext>
            </a:extLst>
          </p:cNvPr>
          <p:cNvSpPr/>
          <p:nvPr/>
        </p:nvSpPr>
        <p:spPr>
          <a:xfrm>
            <a:off x="3525754" y="2138580"/>
            <a:ext cx="158058" cy="224379"/>
          </a:xfrm>
          <a:prstGeom prst="rect">
            <a:avLst/>
          </a:prstGeom>
          <a:pattFill prst="sphere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DC26A182-0C32-7F95-203C-4C1BE94C2B8A}"/>
              </a:ext>
            </a:extLst>
          </p:cNvPr>
          <p:cNvSpPr/>
          <p:nvPr/>
        </p:nvSpPr>
        <p:spPr>
          <a:xfrm>
            <a:off x="5048649" y="3229523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E4E30732-3F89-762A-02E1-0216C67C8E29}"/>
              </a:ext>
            </a:extLst>
          </p:cNvPr>
          <p:cNvGrpSpPr/>
          <p:nvPr/>
        </p:nvGrpSpPr>
        <p:grpSpPr>
          <a:xfrm>
            <a:off x="98857" y="1185085"/>
            <a:ext cx="5673539" cy="2840827"/>
            <a:chOff x="1735230" y="1191619"/>
            <a:chExt cx="5673539" cy="284082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15BB505-1402-6421-98E1-AB4D9B2FD4FA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787551"/>
              <a:ext cx="4741731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4D75065-8755-611A-D842-E447D3C3F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1353370"/>
              <a:ext cx="4741731" cy="58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1F8DCC-587E-20A7-E4CA-02B9F99BB1A8}"/>
                </a:ext>
              </a:extLst>
            </p:cNvPr>
            <p:cNvSpPr/>
            <p:nvPr/>
          </p:nvSpPr>
          <p:spPr>
            <a:xfrm>
              <a:off x="3009883" y="1242101"/>
              <a:ext cx="474173" cy="224379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674639-EC33-1F5E-4599-45154F0B48DE}"/>
                </a:ext>
              </a:extLst>
            </p:cNvPr>
            <p:cNvSpPr/>
            <p:nvPr/>
          </p:nvSpPr>
          <p:spPr>
            <a:xfrm>
              <a:off x="3484060" y="1241666"/>
              <a:ext cx="338808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5-Point Star 21">
              <a:extLst>
                <a:ext uri="{FF2B5EF4-FFF2-40B4-BE49-F238E27FC236}">
                  <a16:creationId xmlns:a16="http://schemas.microsoft.com/office/drawing/2014/main" id="{7AF8CCDC-60F8-5AF8-6429-A0828D4BAE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6112" y="3176033"/>
              <a:ext cx="305602" cy="299172"/>
            </a:xfrm>
            <a:prstGeom prst="star5">
              <a:avLst/>
            </a:prstGeom>
            <a:pattFill prst="dkVert">
              <a:fgClr>
                <a:srgbClr val="C0000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6777B20-1C86-3DF7-F06A-02397F0079AC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1753535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6DDA93-27F2-7FB0-724A-6CA8EED6FFAC}"/>
                </a:ext>
              </a:extLst>
            </p:cNvPr>
            <p:cNvSpPr txBox="1"/>
            <p:nvPr/>
          </p:nvSpPr>
          <p:spPr>
            <a:xfrm>
              <a:off x="1738336" y="1191619"/>
              <a:ext cx="80751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22883AF-E12B-FD32-A14F-F5F0A9D382F2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2161710"/>
              <a:ext cx="4741731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FF3C43-26A9-017F-343E-2C1510ECE0FA}"/>
                </a:ext>
              </a:extLst>
            </p:cNvPr>
            <p:cNvSpPr txBox="1"/>
            <p:nvPr/>
          </p:nvSpPr>
          <p:spPr>
            <a:xfrm>
              <a:off x="1792948" y="1998002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96D174-02A3-57E3-398F-4796CE52A74B}"/>
                </a:ext>
              </a:extLst>
            </p:cNvPr>
            <p:cNvSpPr txBox="1"/>
            <p:nvPr/>
          </p:nvSpPr>
          <p:spPr>
            <a:xfrm>
              <a:off x="1735230" y="1576177"/>
              <a:ext cx="81372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D27797-0DAE-04B3-1A88-2F68FE03FD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2979794"/>
              <a:ext cx="4741731" cy="58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088E29-10FD-2BBF-AC31-9A2F4BC532A3}"/>
                </a:ext>
              </a:extLst>
            </p:cNvPr>
            <p:cNvSpPr txBox="1"/>
            <p:nvPr/>
          </p:nvSpPr>
          <p:spPr>
            <a:xfrm>
              <a:off x="1792948" y="2794765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0D5E92-144F-2406-BE33-A61614B939A5}"/>
                </a:ext>
              </a:extLst>
            </p:cNvPr>
            <p:cNvSpPr txBox="1"/>
            <p:nvPr/>
          </p:nvSpPr>
          <p:spPr>
            <a:xfrm>
              <a:off x="1747465" y="3600786"/>
              <a:ext cx="78925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924DCB-C07F-D6E1-2E12-351B9DCDD941}"/>
                </a:ext>
              </a:extLst>
            </p:cNvPr>
            <p:cNvSpPr txBox="1"/>
            <p:nvPr/>
          </p:nvSpPr>
          <p:spPr>
            <a:xfrm>
              <a:off x="1735232" y="3199420"/>
              <a:ext cx="81372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5A22BA-FF7A-2C4E-92FC-82E72C8036D8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382772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68336CD-52FA-2568-092A-44EEA0FF7F9B}"/>
                </a:ext>
              </a:extLst>
            </p:cNvPr>
            <p:cNvSpPr/>
            <p:nvPr/>
          </p:nvSpPr>
          <p:spPr>
            <a:xfrm>
              <a:off x="3040639" y="3681251"/>
              <a:ext cx="474173" cy="223857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CBC89A7-8C15-1A75-BD56-58C0F935EBFA}"/>
                </a:ext>
              </a:extLst>
            </p:cNvPr>
            <p:cNvSpPr/>
            <p:nvPr/>
          </p:nvSpPr>
          <p:spPr>
            <a:xfrm>
              <a:off x="3437597" y="3680989"/>
              <a:ext cx="305602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5-Point Star 38">
              <a:extLst>
                <a:ext uri="{FF2B5EF4-FFF2-40B4-BE49-F238E27FC236}">
                  <a16:creationId xmlns:a16="http://schemas.microsoft.com/office/drawing/2014/main" id="{2CADBD9E-E59C-51AD-BE74-37AE6182A9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7468" y="3733274"/>
              <a:ext cx="305602" cy="299172"/>
            </a:xfrm>
            <a:prstGeom prst="star5">
              <a:avLst/>
            </a:prstGeom>
            <a:pattFill prst="wdUpDiag">
              <a:fgClr>
                <a:srgbClr val="00B0F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A634AC3-833A-F887-220C-BCD6A8CA7B42}"/>
              </a:ext>
            </a:extLst>
          </p:cNvPr>
          <p:cNvSpPr/>
          <p:nvPr/>
        </p:nvSpPr>
        <p:spPr>
          <a:xfrm>
            <a:off x="3208105" y="2138580"/>
            <a:ext cx="316115" cy="224379"/>
          </a:xfrm>
          <a:prstGeom prst="rect">
            <a:avLst/>
          </a:prstGeom>
          <a:pattFill prst="dkHorz">
            <a:fgClr>
              <a:srgbClr val="FFC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17DBA660-A403-B84F-4B6F-B10B2037FAAC}"/>
              </a:ext>
            </a:extLst>
          </p:cNvPr>
          <p:cNvSpPr/>
          <p:nvPr/>
        </p:nvSpPr>
        <p:spPr>
          <a:xfrm rot="10800000" flipH="1">
            <a:off x="2615904" y="1467835"/>
            <a:ext cx="111149" cy="166182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ysDash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1012F351-1E8C-B900-9556-C014A7BAF7F2}"/>
              </a:ext>
            </a:extLst>
          </p:cNvPr>
          <p:cNvSpPr/>
          <p:nvPr/>
        </p:nvSpPr>
        <p:spPr>
          <a:xfrm rot="3733896">
            <a:off x="3338317" y="2626442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1CF16156-2934-1991-A2B5-130BF3D5BF31}"/>
              </a:ext>
            </a:extLst>
          </p:cNvPr>
          <p:cNvSpPr/>
          <p:nvPr/>
        </p:nvSpPr>
        <p:spPr>
          <a:xfrm rot="3733896">
            <a:off x="3035142" y="2626442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2E7106-70E8-6BC1-A53A-572654AB48F4}"/>
              </a:ext>
            </a:extLst>
          </p:cNvPr>
          <p:cNvSpPr/>
          <p:nvPr/>
        </p:nvSpPr>
        <p:spPr>
          <a:xfrm>
            <a:off x="2732540" y="1235132"/>
            <a:ext cx="269530" cy="224379"/>
          </a:xfrm>
          <a:prstGeom prst="rect">
            <a:avLst/>
          </a:prstGeom>
          <a:pattFill prst="dkVert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68265BB-4141-FEDC-C7B0-3E4B10FCF6E8}"/>
              </a:ext>
            </a:extLst>
          </p:cNvPr>
          <p:cNvCxnSpPr>
            <a:cxnSpLocks/>
          </p:cNvCxnSpPr>
          <p:nvPr/>
        </p:nvCxnSpPr>
        <p:spPr>
          <a:xfrm>
            <a:off x="2888031" y="1459511"/>
            <a:ext cx="126446" cy="66196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01D42A-0221-95C7-925F-54C748423F2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4894574" y="3520998"/>
            <a:ext cx="153316" cy="259552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90CB95A-2B4A-528C-617B-37AD77E00CD4}"/>
              </a:ext>
            </a:extLst>
          </p:cNvPr>
          <p:cNvSpPr>
            <a:spLocks/>
          </p:cNvSpPr>
          <p:nvPr/>
        </p:nvSpPr>
        <p:spPr>
          <a:xfrm>
            <a:off x="4249117" y="3255284"/>
            <a:ext cx="645458" cy="224379"/>
          </a:xfrm>
          <a:prstGeom prst="rect">
            <a:avLst/>
          </a:prstGeom>
          <a:pattFill prst="smGrid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D63933D-153E-D43A-B351-FE10107C0DC8}"/>
              </a:ext>
            </a:extLst>
          </p:cNvPr>
          <p:cNvSpPr/>
          <p:nvPr/>
        </p:nvSpPr>
        <p:spPr>
          <a:xfrm rot="10800000" flipH="1" flipV="1">
            <a:off x="2646246" y="2443368"/>
            <a:ext cx="267167" cy="132717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9981A80-D4F2-6CBE-6D86-E4B998C0A62E}"/>
              </a:ext>
            </a:extLst>
          </p:cNvPr>
          <p:cNvSpPr/>
          <p:nvPr/>
        </p:nvSpPr>
        <p:spPr>
          <a:xfrm>
            <a:off x="2458135" y="2520646"/>
            <a:ext cx="315725" cy="1374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D7637FB-503B-9A9E-4542-17053E2A6AB6}"/>
              </a:ext>
            </a:extLst>
          </p:cNvPr>
          <p:cNvSpPr/>
          <p:nvPr/>
        </p:nvSpPr>
        <p:spPr>
          <a:xfrm>
            <a:off x="2861496" y="2013547"/>
            <a:ext cx="459698" cy="24551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96B2703-B83D-8E78-42AF-0CC86517D8D5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2742670" y="2223105"/>
            <a:ext cx="186148" cy="148408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C11D8DC4-0A1E-B02E-8593-B3DFA0B14429}"/>
              </a:ext>
            </a:extLst>
          </p:cNvPr>
          <p:cNvSpPr/>
          <p:nvPr/>
        </p:nvSpPr>
        <p:spPr>
          <a:xfrm>
            <a:off x="4922696" y="2462723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249A074-3342-F44A-79F9-0798F6600115}"/>
              </a:ext>
            </a:extLst>
          </p:cNvPr>
          <p:cNvCxnSpPr>
            <a:cxnSpLocks/>
            <a:stCxn id="60" idx="6"/>
            <a:endCxn id="583" idx="2"/>
          </p:cNvCxnSpPr>
          <p:nvPr/>
        </p:nvCxnSpPr>
        <p:spPr>
          <a:xfrm>
            <a:off x="4358229" y="2241509"/>
            <a:ext cx="476555" cy="289964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EEC581B-22D4-820F-C080-870B823CEE6E}"/>
              </a:ext>
            </a:extLst>
          </p:cNvPr>
          <p:cNvSpPr/>
          <p:nvPr/>
        </p:nvSpPr>
        <p:spPr>
          <a:xfrm>
            <a:off x="4041406" y="2070157"/>
            <a:ext cx="316822" cy="342702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2" name="Graphic 61" descr="Badge with solid fill">
            <a:extLst>
              <a:ext uri="{FF2B5EF4-FFF2-40B4-BE49-F238E27FC236}">
                <a16:creationId xmlns:a16="http://schemas.microsoft.com/office/drawing/2014/main" id="{8D0BD4A8-D06A-16BC-6361-4C410AB4A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2298" y="1329875"/>
            <a:ext cx="474173" cy="448758"/>
          </a:xfrm>
          <a:prstGeom prst="rect">
            <a:avLst/>
          </a:prstGeom>
        </p:spPr>
      </p:pic>
      <p:pic>
        <p:nvPicPr>
          <p:cNvPr id="63" name="Graphic 62" descr="Badge 3 with solid fill">
            <a:extLst>
              <a:ext uri="{FF2B5EF4-FFF2-40B4-BE49-F238E27FC236}">
                <a16:creationId xmlns:a16="http://schemas.microsoft.com/office/drawing/2014/main" id="{681AAC89-BB48-BA02-446A-041C8FE7E4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7232" y="2343154"/>
            <a:ext cx="474173" cy="448758"/>
          </a:xfrm>
          <a:prstGeom prst="rect">
            <a:avLst/>
          </a:prstGeom>
        </p:spPr>
      </p:pic>
      <p:pic>
        <p:nvPicPr>
          <p:cNvPr id="576" name="Graphic 575" descr="Badge 4 with solid fill">
            <a:extLst>
              <a:ext uri="{FF2B5EF4-FFF2-40B4-BE49-F238E27FC236}">
                <a16:creationId xmlns:a16="http://schemas.microsoft.com/office/drawing/2014/main" id="{B376ADBE-9098-DF6B-D26F-345B51FCA2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1796" y="2529186"/>
            <a:ext cx="474173" cy="448758"/>
          </a:xfrm>
          <a:prstGeom prst="rect">
            <a:avLst/>
          </a:prstGeom>
        </p:spPr>
      </p:pic>
      <p:pic>
        <p:nvPicPr>
          <p:cNvPr id="577" name="Graphic 576" descr="Badge 5 with solid fill">
            <a:extLst>
              <a:ext uri="{FF2B5EF4-FFF2-40B4-BE49-F238E27FC236}">
                <a16:creationId xmlns:a16="http://schemas.microsoft.com/office/drawing/2014/main" id="{8BF6507B-1EC0-E834-18D8-E3DF452837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0722" y="2312091"/>
            <a:ext cx="474173" cy="448758"/>
          </a:xfrm>
          <a:prstGeom prst="rect">
            <a:avLst/>
          </a:prstGeom>
        </p:spPr>
      </p:pic>
      <p:pic>
        <p:nvPicPr>
          <p:cNvPr id="578" name="Graphic 577" descr="Badge 6 with solid fill">
            <a:extLst>
              <a:ext uri="{FF2B5EF4-FFF2-40B4-BE49-F238E27FC236}">
                <a16:creationId xmlns:a16="http://schemas.microsoft.com/office/drawing/2014/main" id="{20261F9C-CC72-A571-7E9F-6768FB7BD3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38744" y="1330325"/>
            <a:ext cx="474173" cy="448758"/>
          </a:xfrm>
          <a:prstGeom prst="rect">
            <a:avLst/>
          </a:prstGeom>
        </p:spPr>
      </p:pic>
      <p:pic>
        <p:nvPicPr>
          <p:cNvPr id="579" name="Graphic 578" descr="Badge 7 with solid fill">
            <a:extLst>
              <a:ext uri="{FF2B5EF4-FFF2-40B4-BE49-F238E27FC236}">
                <a16:creationId xmlns:a16="http://schemas.microsoft.com/office/drawing/2014/main" id="{9295210E-31A8-E04E-170F-64E6749CD1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58190" y="2956619"/>
            <a:ext cx="474173" cy="448758"/>
          </a:xfrm>
          <a:prstGeom prst="rect">
            <a:avLst/>
          </a:prstGeom>
        </p:spPr>
      </p:pic>
      <p:sp>
        <p:nvSpPr>
          <p:cNvPr id="582" name="Oval 581">
            <a:extLst>
              <a:ext uri="{FF2B5EF4-FFF2-40B4-BE49-F238E27FC236}">
                <a16:creationId xmlns:a16="http://schemas.microsoft.com/office/drawing/2014/main" id="{7FC136AA-6867-86B1-AD76-8D914AF0CB0F}"/>
              </a:ext>
            </a:extLst>
          </p:cNvPr>
          <p:cNvSpPr/>
          <p:nvPr/>
        </p:nvSpPr>
        <p:spPr>
          <a:xfrm>
            <a:off x="2279981" y="2374970"/>
            <a:ext cx="747711" cy="411669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3" name="Oval 582">
            <a:extLst>
              <a:ext uri="{FF2B5EF4-FFF2-40B4-BE49-F238E27FC236}">
                <a16:creationId xmlns:a16="http://schemas.microsoft.com/office/drawing/2014/main" id="{EB24043A-A242-75BC-FE82-F240C8740A33}"/>
              </a:ext>
            </a:extLst>
          </p:cNvPr>
          <p:cNvSpPr/>
          <p:nvPr/>
        </p:nvSpPr>
        <p:spPr>
          <a:xfrm>
            <a:off x="4834784" y="2340764"/>
            <a:ext cx="576328" cy="38141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C1C13B11-EF17-85E9-071E-6083149E8FE7}"/>
              </a:ext>
            </a:extLst>
          </p:cNvPr>
          <p:cNvSpPr/>
          <p:nvPr/>
        </p:nvSpPr>
        <p:spPr>
          <a:xfrm>
            <a:off x="2463312" y="1142532"/>
            <a:ext cx="672302" cy="57902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5" name="Oval 584">
            <a:extLst>
              <a:ext uri="{FF2B5EF4-FFF2-40B4-BE49-F238E27FC236}">
                <a16:creationId xmlns:a16="http://schemas.microsoft.com/office/drawing/2014/main" id="{42E913BA-090D-7018-8BAF-7D0BEDDD08B2}"/>
              </a:ext>
            </a:extLst>
          </p:cNvPr>
          <p:cNvSpPr/>
          <p:nvPr/>
        </p:nvSpPr>
        <p:spPr>
          <a:xfrm>
            <a:off x="3701181" y="2792224"/>
            <a:ext cx="805342" cy="345365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6" name="Oval 585">
            <a:extLst>
              <a:ext uri="{FF2B5EF4-FFF2-40B4-BE49-F238E27FC236}">
                <a16:creationId xmlns:a16="http://schemas.microsoft.com/office/drawing/2014/main" id="{9F3C0CC9-5FDB-6838-4DF1-829D4200A2C3}"/>
              </a:ext>
            </a:extLst>
          </p:cNvPr>
          <p:cNvSpPr/>
          <p:nvPr/>
        </p:nvSpPr>
        <p:spPr>
          <a:xfrm>
            <a:off x="3829602" y="1200806"/>
            <a:ext cx="612842" cy="434084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4C9D0A7C-862C-58E6-22CE-3CF375A05500}"/>
              </a:ext>
            </a:extLst>
          </p:cNvPr>
          <p:cNvSpPr/>
          <p:nvPr/>
        </p:nvSpPr>
        <p:spPr>
          <a:xfrm>
            <a:off x="4539160" y="3036941"/>
            <a:ext cx="950630" cy="79818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8" name="Right Arrow 587">
            <a:extLst>
              <a:ext uri="{FF2B5EF4-FFF2-40B4-BE49-F238E27FC236}">
                <a16:creationId xmlns:a16="http://schemas.microsoft.com/office/drawing/2014/main" id="{C8801EDD-0195-4A0D-03C2-8B3ED425D171}"/>
              </a:ext>
            </a:extLst>
          </p:cNvPr>
          <p:cNvSpPr/>
          <p:nvPr/>
        </p:nvSpPr>
        <p:spPr>
          <a:xfrm rot="3733896">
            <a:off x="3186730" y="2626442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DEDF01DC-889A-023C-A35E-5FCE2D011393}"/>
              </a:ext>
            </a:extLst>
          </p:cNvPr>
          <p:cNvSpPr>
            <a:spLocks/>
          </p:cNvSpPr>
          <p:nvPr/>
        </p:nvSpPr>
        <p:spPr>
          <a:xfrm>
            <a:off x="4100858" y="1242243"/>
            <a:ext cx="140734" cy="224379"/>
          </a:xfrm>
          <a:prstGeom prst="rect">
            <a:avLst/>
          </a:prstGeom>
          <a:pattFill prst="shingle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C4979C-99D8-A817-CAB6-37DF56C4D703}"/>
              </a:ext>
            </a:extLst>
          </p:cNvPr>
          <p:cNvSpPr>
            <a:spLocks/>
          </p:cNvSpPr>
          <p:nvPr/>
        </p:nvSpPr>
        <p:spPr>
          <a:xfrm>
            <a:off x="2074656" y="1634390"/>
            <a:ext cx="596899" cy="224379"/>
          </a:xfrm>
          <a:prstGeom prst="rect">
            <a:avLst/>
          </a:prstGeom>
          <a:pattFill prst="lt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5-Point Star 44">
            <a:extLst>
              <a:ext uri="{FF2B5EF4-FFF2-40B4-BE49-F238E27FC236}">
                <a16:creationId xmlns:a16="http://schemas.microsoft.com/office/drawing/2014/main" id="{38FBD609-321C-715E-E17F-B4D47278266E}"/>
              </a:ext>
            </a:extLst>
          </p:cNvPr>
          <p:cNvSpPr>
            <a:spLocks noChangeAspect="1"/>
          </p:cNvSpPr>
          <p:nvPr/>
        </p:nvSpPr>
        <p:spPr>
          <a:xfrm>
            <a:off x="1919739" y="1386164"/>
            <a:ext cx="305602" cy="299172"/>
          </a:xfrm>
          <a:prstGeom prst="star5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32E8BD2-7C70-A968-0B11-A0C4AD092F2B}"/>
              </a:ext>
            </a:extLst>
          </p:cNvPr>
          <p:cNvCxnSpPr>
            <a:cxnSpLocks/>
            <a:stCxn id="581" idx="4"/>
            <a:endCxn id="580" idx="7"/>
          </p:cNvCxnSpPr>
          <p:nvPr/>
        </p:nvCxnSpPr>
        <p:spPr>
          <a:xfrm flipH="1">
            <a:off x="1787719" y="1925376"/>
            <a:ext cx="388966" cy="469676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1DE0838-BAE1-1870-52C5-4DB268EFA1C9}"/>
              </a:ext>
            </a:extLst>
          </p:cNvPr>
          <p:cNvSpPr/>
          <p:nvPr/>
        </p:nvSpPr>
        <p:spPr>
          <a:xfrm>
            <a:off x="1161921" y="2497652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F65DED77-C36C-E1CC-C5AA-38408CDE02FF}"/>
              </a:ext>
            </a:extLst>
          </p:cNvPr>
          <p:cNvSpPr/>
          <p:nvPr/>
        </p:nvSpPr>
        <p:spPr>
          <a:xfrm rot="10800000" flipH="1" flipV="1">
            <a:off x="1344035" y="2362230"/>
            <a:ext cx="267167" cy="149414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203820-F897-10B3-0CA3-EBB39B7D4E65}"/>
              </a:ext>
            </a:extLst>
          </p:cNvPr>
          <p:cNvSpPr/>
          <p:nvPr/>
        </p:nvSpPr>
        <p:spPr>
          <a:xfrm>
            <a:off x="1541771" y="2520246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" name="Graphic 60" descr="Badge 1 with solid fill">
            <a:extLst>
              <a:ext uri="{FF2B5EF4-FFF2-40B4-BE49-F238E27FC236}">
                <a16:creationId xmlns:a16="http://schemas.microsoft.com/office/drawing/2014/main" id="{AB08D913-D496-1044-4B42-444A8561311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9852" y="2356910"/>
            <a:ext cx="474173" cy="448758"/>
          </a:xfrm>
          <a:prstGeom prst="rect">
            <a:avLst/>
          </a:prstGeom>
        </p:spPr>
      </p:pic>
      <p:sp>
        <p:nvSpPr>
          <p:cNvPr id="580" name="Oval 579">
            <a:extLst>
              <a:ext uri="{FF2B5EF4-FFF2-40B4-BE49-F238E27FC236}">
                <a16:creationId xmlns:a16="http://schemas.microsoft.com/office/drawing/2014/main" id="{B306DFDE-2267-ECC4-4848-20461FDC0D0C}"/>
              </a:ext>
            </a:extLst>
          </p:cNvPr>
          <p:cNvSpPr/>
          <p:nvPr/>
        </p:nvSpPr>
        <p:spPr>
          <a:xfrm>
            <a:off x="853963" y="2320740"/>
            <a:ext cx="1093964" cy="50743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1" name="Oval 580">
            <a:extLst>
              <a:ext uri="{FF2B5EF4-FFF2-40B4-BE49-F238E27FC236}">
                <a16:creationId xmlns:a16="http://schemas.microsoft.com/office/drawing/2014/main" id="{CE9633C1-86F5-0598-A926-60AE0B6CF68D}"/>
              </a:ext>
            </a:extLst>
          </p:cNvPr>
          <p:cNvSpPr/>
          <p:nvPr/>
        </p:nvSpPr>
        <p:spPr>
          <a:xfrm>
            <a:off x="2041186" y="1702610"/>
            <a:ext cx="270995" cy="222766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331CDEC0-CC55-64B4-557E-CE425E94ACED}"/>
              </a:ext>
            </a:extLst>
          </p:cNvPr>
          <p:cNvSpPr txBox="1"/>
          <p:nvPr/>
        </p:nvSpPr>
        <p:spPr>
          <a:xfrm>
            <a:off x="1451493" y="4182438"/>
            <a:ext cx="6183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1. GPU kernel is launched to compute and prepare data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F20C5DC0-BCBD-1F5C-FC6D-AABDDA97D8A7}"/>
              </a:ext>
            </a:extLst>
          </p:cNvPr>
          <p:cNvSpPr txBox="1"/>
          <p:nvPr/>
        </p:nvSpPr>
        <p:spPr>
          <a:xfrm>
            <a:off x="-1267091" y="5519552"/>
            <a:ext cx="77391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2. CPU proxy begins polling the GPU to detect when the data in the FIFO; </a:t>
            </a:r>
          </a:p>
          <a:p>
            <a:pPr algn="ctr"/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Notify NIC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B4E413E-AAA1-29B2-F9F3-2B92360108EE}"/>
              </a:ext>
            </a:extLst>
          </p:cNvPr>
          <p:cNvSpPr txBox="1"/>
          <p:nvPr/>
        </p:nvSpPr>
        <p:spPr>
          <a:xfrm>
            <a:off x="-2134638" y="6604492"/>
            <a:ext cx="7984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2000" dirty="0"/>
              <a:t>3. The NIC retrieves data from the FIFO via DMA; sends it to network.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6FD194AC-B426-7EF6-4725-DEFE85A6E07D}"/>
              </a:ext>
            </a:extLst>
          </p:cNvPr>
          <p:cNvSpPr txBox="1"/>
          <p:nvPr/>
        </p:nvSpPr>
        <p:spPr>
          <a:xfrm>
            <a:off x="-2292501" y="-921757"/>
            <a:ext cx="79842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Recv</a:t>
            </a:r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: CPU proxy polls the NIC and forwards the data to the receiving GPU’s FIFO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A13933DD-A8CD-293E-DE34-1E8BDCBDD07E}"/>
              </a:ext>
            </a:extLst>
          </p:cNvPr>
          <p:cNvSpPr txBox="1"/>
          <p:nvPr/>
        </p:nvSpPr>
        <p:spPr>
          <a:xfrm>
            <a:off x="-3157851" y="7722605"/>
            <a:ext cx="6856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5. The CPU proxy polls for the completion event, updates FIFO</a:t>
            </a: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C260A6B3-1A1D-14F6-E7D3-BC2319CEE3E2}"/>
              </a:ext>
            </a:extLst>
          </p:cNvPr>
          <p:cNvSpPr txBox="1"/>
          <p:nvPr/>
        </p:nvSpPr>
        <p:spPr>
          <a:xfrm>
            <a:off x="300981" y="-1615525"/>
            <a:ext cx="6040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6. The sending GPU completes the data transfer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3B6A843F-A7B1-78D0-FFB7-4C47820BC3CF}"/>
              </a:ext>
            </a:extLst>
          </p:cNvPr>
          <p:cNvSpPr txBox="1"/>
          <p:nvPr/>
        </p:nvSpPr>
        <p:spPr>
          <a:xfrm>
            <a:off x="1631911" y="472700"/>
            <a:ext cx="8346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7. The receiving GPU transfers the data from the FIFO to its destination buffer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4" name="Google Shape;399;p54">
            <a:extLst>
              <a:ext uri="{FF2B5EF4-FFF2-40B4-BE49-F238E27FC236}">
                <a16:creationId xmlns:a16="http://schemas.microsoft.com/office/drawing/2014/main" id="{4431BDF0-9FD6-8A86-4A9E-BE31C692BDF5}"/>
              </a:ext>
            </a:extLst>
          </p:cNvPr>
          <p:cNvSpPr txBox="1">
            <a:spLocks/>
          </p:cNvSpPr>
          <p:nvPr/>
        </p:nvSpPr>
        <p:spPr>
          <a:xfrm>
            <a:off x="365178" y="160817"/>
            <a:ext cx="8606102" cy="520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Does Comm. In NCCL Look Like?</a:t>
            </a:r>
          </a:p>
        </p:txBody>
      </p:sp>
      <p:sp>
        <p:nvSpPr>
          <p:cNvPr id="2" name="Title 600">
            <a:extLst>
              <a:ext uri="{FF2B5EF4-FFF2-40B4-BE49-F238E27FC236}">
                <a16:creationId xmlns:a16="http://schemas.microsoft.com/office/drawing/2014/main" id="{E128B07E-A6CB-3255-4A94-3DDFD8273A23}"/>
              </a:ext>
            </a:extLst>
          </p:cNvPr>
          <p:cNvSpPr txBox="1">
            <a:spLocks/>
          </p:cNvSpPr>
          <p:nvPr/>
        </p:nvSpPr>
        <p:spPr>
          <a:xfrm>
            <a:off x="1421177" y="-2238230"/>
            <a:ext cx="55000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Usually, we call this Proxy-initiated GDR in CCLs</a:t>
            </a:r>
          </a:p>
        </p:txBody>
      </p:sp>
      <p:pic>
        <p:nvPicPr>
          <p:cNvPr id="596" name="Picture 595">
            <a:extLst>
              <a:ext uri="{FF2B5EF4-FFF2-40B4-BE49-F238E27FC236}">
                <a16:creationId xmlns:a16="http://schemas.microsoft.com/office/drawing/2014/main" id="{5F1ACF07-B068-4290-F96F-05FF3A96654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06533" y="702479"/>
            <a:ext cx="2777363" cy="34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8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9" grpId="0" animBg="1"/>
      <p:bldP spid="54" grpId="0" animBg="1"/>
      <p:bldP spid="55" grpId="0" animBg="1"/>
      <p:bldP spid="56" grpId="0" animBg="1"/>
      <p:bldP spid="58" grpId="0" animBg="1"/>
      <p:bldP spid="60" grpId="0" animBg="1"/>
      <p:bldP spid="582" grpId="0" animBg="1"/>
      <p:bldP spid="583" grpId="0" animBg="1"/>
      <p:bldP spid="584" grpId="0" animBg="1"/>
      <p:bldP spid="585" grpId="0" animBg="1"/>
      <p:bldP spid="586" grpId="0" animBg="1"/>
      <p:bldP spid="587" grpId="0" animBg="1"/>
      <p:bldP spid="588" grpId="0" animBg="1"/>
      <p:bldP spid="589" grpId="0" animBg="1"/>
      <p:bldP spid="40" grpId="0" animBg="1"/>
      <p:bldP spid="45" grpId="0" animBg="1"/>
      <p:bldP spid="51" grpId="0" animBg="1"/>
      <p:bldP spid="52" grpId="0" animBg="1"/>
      <p:bldP spid="53" grpId="0" animBg="1"/>
      <p:bldP spid="580" grpId="0" animBg="1"/>
      <p:bldP spid="581" grpId="0" animBg="1"/>
      <p:bldP spid="595" grpId="0"/>
      <p:bldP spid="595" grpId="1"/>
      <p:bldP spid="598" grpId="0"/>
      <p:bldP spid="598" grpId="1"/>
      <p:bldP spid="600" grpId="0"/>
      <p:bldP spid="600" grpId="1"/>
      <p:bldP spid="602" grpId="0"/>
      <p:bldP spid="602" grpId="1"/>
      <p:bldP spid="604" grpId="0"/>
      <p:bldP spid="604" grpId="1"/>
      <p:bldP spid="606" grpId="0"/>
      <p:bldP spid="606" grpId="1"/>
      <p:bldP spid="612" grpId="0"/>
      <p:bldP spid="612" grpId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AAE01-CDB9-B3C1-68A3-1942CD7244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6814" y="898497"/>
            <a:ext cx="2866002" cy="37342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L: time of proxy polled the data in the FIFO and post the </a:t>
            </a:r>
            <a:r>
              <a:rPr lang="en-US" dirty="0" err="1"/>
              <a:t>isend</a:t>
            </a:r>
            <a:r>
              <a:rPr lang="en-US" dirty="0"/>
              <a:t> (step 2) to proxy polled the complete event, </a:t>
            </a:r>
            <a:r>
              <a:rPr lang="en-US" dirty="0" err="1"/>
              <a:t>updata</a:t>
            </a:r>
            <a:r>
              <a:rPr lang="en-US" dirty="0"/>
              <a:t> the FIFO (step 5), data size should be very small, </a:t>
            </a:r>
            <a:r>
              <a:rPr lang="en-US" dirty="0" err="1"/>
              <a:t>ie</a:t>
            </a:r>
            <a:r>
              <a:rPr lang="en-US" dirty="0"/>
              <a:t>. 4 B.    </a:t>
            </a:r>
          </a:p>
          <a:p>
            <a:r>
              <a:rPr lang="en-US" dirty="0"/>
              <a:t>G*s: NIC send data (size: s) to network (step 3).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56E43-7F7C-0682-9D72-383600D2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LogGP</a:t>
            </a:r>
            <a:r>
              <a:rPr lang="en-US" dirty="0"/>
              <a:t> Parameters in NCCL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FDE425-11A7-244E-FE3E-69048D886587}"/>
              </a:ext>
            </a:extLst>
          </p:cNvPr>
          <p:cNvSpPr/>
          <p:nvPr/>
        </p:nvSpPr>
        <p:spPr>
          <a:xfrm>
            <a:off x="2444629" y="2513424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37C424-792E-3B04-0BC0-A649F5745159}"/>
              </a:ext>
            </a:extLst>
          </p:cNvPr>
          <p:cNvGrpSpPr/>
          <p:nvPr/>
        </p:nvGrpSpPr>
        <p:grpSpPr>
          <a:xfrm rot="16200000">
            <a:off x="2940640" y="1855566"/>
            <a:ext cx="330702" cy="204232"/>
            <a:chOff x="11902457" y="13729729"/>
            <a:chExt cx="2578121" cy="1423884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E35EDD-2814-872A-8283-995022519C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2457" y="14448445"/>
              <a:ext cx="2454976" cy="705168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7700AAA-51C9-9D0D-142A-1457264FEBF8}"/>
                </a:ext>
              </a:extLst>
            </p:cNvPr>
            <p:cNvSpPr/>
            <p:nvPr/>
          </p:nvSpPr>
          <p:spPr>
            <a:xfrm>
              <a:off x="11919012" y="13729729"/>
              <a:ext cx="2561566" cy="765299"/>
            </a:xfrm>
            <a:custGeom>
              <a:avLst/>
              <a:gdLst>
                <a:gd name="connsiteX0" fmla="*/ 0 w 2561563"/>
                <a:gd name="connsiteY0" fmla="*/ 0 h 492980"/>
                <a:gd name="connsiteX1" fmla="*/ 1280160 w 2561563"/>
                <a:gd name="connsiteY1" fmla="*/ 55659 h 492980"/>
                <a:gd name="connsiteX2" fmla="*/ 2210463 w 2561563"/>
                <a:gd name="connsiteY2" fmla="*/ 166977 h 492980"/>
                <a:gd name="connsiteX3" fmla="*/ 2552369 w 2561563"/>
                <a:gd name="connsiteY3" fmla="*/ 286247 h 492980"/>
                <a:gd name="connsiteX4" fmla="*/ 2449002 w 2561563"/>
                <a:gd name="connsiteY4" fmla="*/ 437321 h 492980"/>
                <a:gd name="connsiteX5" fmla="*/ 2289976 w 2561563"/>
                <a:gd name="connsiteY5" fmla="*/ 492980 h 492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563" h="492980">
                  <a:moveTo>
                    <a:pt x="0" y="0"/>
                  </a:moveTo>
                  <a:cubicBezTo>
                    <a:pt x="455875" y="13915"/>
                    <a:pt x="911750" y="27830"/>
                    <a:pt x="1280160" y="55659"/>
                  </a:cubicBezTo>
                  <a:cubicBezTo>
                    <a:pt x="1648571" y="83489"/>
                    <a:pt x="1998428" y="128546"/>
                    <a:pt x="2210463" y="166977"/>
                  </a:cubicBezTo>
                  <a:cubicBezTo>
                    <a:pt x="2422498" y="205408"/>
                    <a:pt x="2512612" y="241190"/>
                    <a:pt x="2552369" y="286247"/>
                  </a:cubicBezTo>
                  <a:cubicBezTo>
                    <a:pt x="2592126" y="331304"/>
                    <a:pt x="2492734" y="402866"/>
                    <a:pt x="2449002" y="437321"/>
                  </a:cubicBezTo>
                  <a:cubicBezTo>
                    <a:pt x="2405270" y="471776"/>
                    <a:pt x="2319131" y="459850"/>
                    <a:pt x="2289976" y="492980"/>
                  </a:cubicBezTo>
                </a:path>
              </a:pathLst>
            </a:custGeom>
            <a:noFill/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ash"/>
              <a:tailEnd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1B0E700-8055-0B83-164D-4E2DB866195C}"/>
              </a:ext>
            </a:extLst>
          </p:cNvPr>
          <p:cNvSpPr/>
          <p:nvPr/>
        </p:nvSpPr>
        <p:spPr>
          <a:xfrm>
            <a:off x="2182992" y="1235132"/>
            <a:ext cx="549544" cy="224379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5-Point Star 28">
            <a:extLst>
              <a:ext uri="{FF2B5EF4-FFF2-40B4-BE49-F238E27FC236}">
                <a16:creationId xmlns:a16="http://schemas.microsoft.com/office/drawing/2014/main" id="{7B211DF8-BA16-4B09-7ACE-7E4B77BBAA00}"/>
              </a:ext>
            </a:extLst>
          </p:cNvPr>
          <p:cNvSpPr>
            <a:spLocks noChangeAspect="1"/>
          </p:cNvSpPr>
          <p:nvPr/>
        </p:nvSpPr>
        <p:spPr>
          <a:xfrm>
            <a:off x="2033857" y="1012927"/>
            <a:ext cx="305602" cy="299172"/>
          </a:xfrm>
          <a:prstGeom prst="star5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113379-1768-5BCC-9916-D880A31234D7}"/>
              </a:ext>
            </a:extLst>
          </p:cNvPr>
          <p:cNvSpPr/>
          <p:nvPr/>
        </p:nvSpPr>
        <p:spPr>
          <a:xfrm>
            <a:off x="3889428" y="3668137"/>
            <a:ext cx="259022" cy="224379"/>
          </a:xfrm>
          <a:prstGeom prst="rect">
            <a:avLst/>
          </a:prstGeom>
          <a:pattFill prst="open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5C6C871-2850-8545-A721-273B8D06E1F9}"/>
              </a:ext>
            </a:extLst>
          </p:cNvPr>
          <p:cNvSpPr/>
          <p:nvPr/>
        </p:nvSpPr>
        <p:spPr>
          <a:xfrm>
            <a:off x="3889430" y="3024430"/>
            <a:ext cx="172042" cy="630859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headEnd w="lg" len="lg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BF7710-17AE-9C76-02EA-3BADB43E6DF5}"/>
              </a:ext>
            </a:extLst>
          </p:cNvPr>
          <p:cNvCxnSpPr>
            <a:cxnSpLocks/>
          </p:cNvCxnSpPr>
          <p:nvPr/>
        </p:nvCxnSpPr>
        <p:spPr>
          <a:xfrm>
            <a:off x="3868568" y="3024428"/>
            <a:ext cx="110640" cy="314131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lg" len="lg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AEFABFD-67DC-A4F5-F15A-ADAB71067E56}"/>
              </a:ext>
            </a:extLst>
          </p:cNvPr>
          <p:cNvSpPr/>
          <p:nvPr/>
        </p:nvSpPr>
        <p:spPr>
          <a:xfrm>
            <a:off x="4148166" y="3668137"/>
            <a:ext cx="899724" cy="224379"/>
          </a:xfrm>
          <a:prstGeom prst="rect">
            <a:avLst/>
          </a:prstGeom>
          <a:pattFill prst="solid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385B8F-5B39-F81F-08FF-441E6B55EBE0}"/>
              </a:ext>
            </a:extLst>
          </p:cNvPr>
          <p:cNvCxnSpPr>
            <a:cxnSpLocks/>
            <a:stCxn id="33" idx="1"/>
          </p:cNvCxnSpPr>
          <p:nvPr/>
        </p:nvCxnSpPr>
        <p:spPr>
          <a:xfrm flipV="1">
            <a:off x="4148166" y="3503476"/>
            <a:ext cx="96397" cy="27685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7FAB320-908A-F2EA-DC56-FF457DA1BD05}"/>
              </a:ext>
            </a:extLst>
          </p:cNvPr>
          <p:cNvSpPr/>
          <p:nvPr/>
        </p:nvSpPr>
        <p:spPr>
          <a:xfrm>
            <a:off x="4241596" y="1241604"/>
            <a:ext cx="719726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7CCE62C-460A-C2DD-0020-2AFAFAA4CE58}"/>
              </a:ext>
            </a:extLst>
          </p:cNvPr>
          <p:cNvSpPr/>
          <p:nvPr/>
        </p:nvSpPr>
        <p:spPr>
          <a:xfrm rot="10800000" flipH="1">
            <a:off x="4100863" y="1469333"/>
            <a:ext cx="140729" cy="658953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462408A2-6F00-27C5-455C-CF5433A4D203}"/>
              </a:ext>
            </a:extLst>
          </p:cNvPr>
          <p:cNvSpPr/>
          <p:nvPr/>
        </p:nvSpPr>
        <p:spPr>
          <a:xfrm>
            <a:off x="4382325" y="1615521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FA3B8A0-EE8A-4424-1103-CACB9CDF5F5B}"/>
              </a:ext>
            </a:extLst>
          </p:cNvPr>
          <p:cNvCxnSpPr>
            <a:cxnSpLocks/>
            <a:stCxn id="36" idx="6"/>
            <a:endCxn id="37" idx="1"/>
          </p:cNvCxnSpPr>
          <p:nvPr/>
        </p:nvCxnSpPr>
        <p:spPr>
          <a:xfrm>
            <a:off x="4241592" y="1469333"/>
            <a:ext cx="140733" cy="29577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amond 38">
            <a:extLst>
              <a:ext uri="{FF2B5EF4-FFF2-40B4-BE49-F238E27FC236}">
                <a16:creationId xmlns:a16="http://schemas.microsoft.com/office/drawing/2014/main" id="{F82B6D3A-CC91-2AA7-B7F8-F2E052778E20}"/>
              </a:ext>
            </a:extLst>
          </p:cNvPr>
          <p:cNvSpPr/>
          <p:nvPr/>
        </p:nvSpPr>
        <p:spPr>
          <a:xfrm>
            <a:off x="4805942" y="1366381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BC3C95-2D6D-CD92-297C-D512DC29510C}"/>
              </a:ext>
            </a:extLst>
          </p:cNvPr>
          <p:cNvSpPr/>
          <p:nvPr/>
        </p:nvSpPr>
        <p:spPr>
          <a:xfrm>
            <a:off x="5047890" y="3668361"/>
            <a:ext cx="371451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23FF86DF-4F30-0744-CADE-0B890431BE05}"/>
              </a:ext>
            </a:extLst>
          </p:cNvPr>
          <p:cNvSpPr/>
          <p:nvPr/>
        </p:nvSpPr>
        <p:spPr>
          <a:xfrm>
            <a:off x="5260567" y="3818332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5BB35E-7925-7499-B0D3-6620343FC52E}"/>
              </a:ext>
            </a:extLst>
          </p:cNvPr>
          <p:cNvSpPr/>
          <p:nvPr/>
        </p:nvSpPr>
        <p:spPr>
          <a:xfrm>
            <a:off x="3525754" y="2138580"/>
            <a:ext cx="158058" cy="224379"/>
          </a:xfrm>
          <a:prstGeom prst="rect">
            <a:avLst/>
          </a:prstGeom>
          <a:pattFill prst="sphere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D33BA85E-DF8F-6AE6-94C9-06DD1890D1B3}"/>
              </a:ext>
            </a:extLst>
          </p:cNvPr>
          <p:cNvSpPr/>
          <p:nvPr/>
        </p:nvSpPr>
        <p:spPr>
          <a:xfrm>
            <a:off x="5048649" y="3229523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9B1C81C-A387-921E-5231-021083227992}"/>
              </a:ext>
            </a:extLst>
          </p:cNvPr>
          <p:cNvGrpSpPr/>
          <p:nvPr/>
        </p:nvGrpSpPr>
        <p:grpSpPr>
          <a:xfrm>
            <a:off x="98857" y="1185085"/>
            <a:ext cx="5673539" cy="2840827"/>
            <a:chOff x="1735230" y="1191619"/>
            <a:chExt cx="5673539" cy="284082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530A02D-8384-5431-05AD-7F65827C2A78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787551"/>
              <a:ext cx="4741731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1080B78-A087-F165-37F2-BAC515FA5E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1353370"/>
              <a:ext cx="4741731" cy="58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55C5885-CEFE-8581-C734-383AEA193788}"/>
                </a:ext>
              </a:extLst>
            </p:cNvPr>
            <p:cNvSpPr/>
            <p:nvPr/>
          </p:nvSpPr>
          <p:spPr>
            <a:xfrm>
              <a:off x="3009883" y="1242101"/>
              <a:ext cx="474173" cy="224379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3F7DFFF-2E5F-6003-1478-78D88B8327BB}"/>
                </a:ext>
              </a:extLst>
            </p:cNvPr>
            <p:cNvSpPr/>
            <p:nvPr/>
          </p:nvSpPr>
          <p:spPr>
            <a:xfrm>
              <a:off x="3484060" y="1241666"/>
              <a:ext cx="338808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5-Point Star 48">
              <a:extLst>
                <a:ext uri="{FF2B5EF4-FFF2-40B4-BE49-F238E27FC236}">
                  <a16:creationId xmlns:a16="http://schemas.microsoft.com/office/drawing/2014/main" id="{151414F7-FFCC-1FF6-7BAF-D187B52121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6112" y="3176033"/>
              <a:ext cx="305602" cy="299172"/>
            </a:xfrm>
            <a:prstGeom prst="star5">
              <a:avLst/>
            </a:prstGeom>
            <a:pattFill prst="dkVert">
              <a:fgClr>
                <a:srgbClr val="C0000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773342C-D274-E699-AC2B-7A6875DB704E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1753535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1AA2A7-05CE-4386-E819-44D4711D9FAD}"/>
                </a:ext>
              </a:extLst>
            </p:cNvPr>
            <p:cNvSpPr txBox="1"/>
            <p:nvPr/>
          </p:nvSpPr>
          <p:spPr>
            <a:xfrm>
              <a:off x="1738336" y="1191619"/>
              <a:ext cx="80751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CAED304-D550-68C5-3369-F3B97C637CA2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2161710"/>
              <a:ext cx="4741731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BDEA0D8-17CC-FD5B-AC8F-A477E0020FDD}"/>
                </a:ext>
              </a:extLst>
            </p:cNvPr>
            <p:cNvSpPr txBox="1"/>
            <p:nvPr/>
          </p:nvSpPr>
          <p:spPr>
            <a:xfrm>
              <a:off x="1792948" y="1998002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ECDE4F4-B7A5-0930-05AA-05556103B0D7}"/>
                </a:ext>
              </a:extLst>
            </p:cNvPr>
            <p:cNvSpPr txBox="1"/>
            <p:nvPr/>
          </p:nvSpPr>
          <p:spPr>
            <a:xfrm>
              <a:off x="1735230" y="1576177"/>
              <a:ext cx="81372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91A1DCF-7AF9-DE58-70C7-1F5007402F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2979794"/>
              <a:ext cx="4741731" cy="58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75BA38-BA51-4761-81FA-E873B3182CFF}"/>
                </a:ext>
              </a:extLst>
            </p:cNvPr>
            <p:cNvSpPr txBox="1"/>
            <p:nvPr/>
          </p:nvSpPr>
          <p:spPr>
            <a:xfrm>
              <a:off x="1792948" y="2794765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EDF4393-FE45-49ED-64B8-30DD33221A0A}"/>
                </a:ext>
              </a:extLst>
            </p:cNvPr>
            <p:cNvSpPr txBox="1"/>
            <p:nvPr/>
          </p:nvSpPr>
          <p:spPr>
            <a:xfrm>
              <a:off x="1747465" y="3600786"/>
              <a:ext cx="78925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C25680A-C350-F0B0-0B38-C78C4468DE1D}"/>
                </a:ext>
              </a:extLst>
            </p:cNvPr>
            <p:cNvSpPr txBox="1"/>
            <p:nvPr/>
          </p:nvSpPr>
          <p:spPr>
            <a:xfrm>
              <a:off x="1735232" y="3199420"/>
              <a:ext cx="81372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95E23B2-AE2A-691C-B2E7-AFA76283BD28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382772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61A42AD-8CB2-855B-6CB3-07B1023B2D43}"/>
                </a:ext>
              </a:extLst>
            </p:cNvPr>
            <p:cNvSpPr/>
            <p:nvPr/>
          </p:nvSpPr>
          <p:spPr>
            <a:xfrm>
              <a:off x="3040639" y="3681251"/>
              <a:ext cx="474173" cy="223857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9C8DCA6-A412-AFE8-ECEC-6B7E5D96FAF9}"/>
                </a:ext>
              </a:extLst>
            </p:cNvPr>
            <p:cNvSpPr/>
            <p:nvPr/>
          </p:nvSpPr>
          <p:spPr>
            <a:xfrm>
              <a:off x="3437597" y="3680989"/>
              <a:ext cx="305602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5-Point Star 61">
              <a:extLst>
                <a:ext uri="{FF2B5EF4-FFF2-40B4-BE49-F238E27FC236}">
                  <a16:creationId xmlns:a16="http://schemas.microsoft.com/office/drawing/2014/main" id="{C98F4E88-9820-01CF-7745-0F6B53DBB0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7468" y="3733274"/>
              <a:ext cx="305602" cy="299172"/>
            </a:xfrm>
            <a:prstGeom prst="star5">
              <a:avLst/>
            </a:prstGeom>
            <a:pattFill prst="wdUpDiag">
              <a:fgClr>
                <a:srgbClr val="00B0F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A77267FB-6E8E-69A1-858C-90A921264227}"/>
              </a:ext>
            </a:extLst>
          </p:cNvPr>
          <p:cNvSpPr/>
          <p:nvPr/>
        </p:nvSpPr>
        <p:spPr>
          <a:xfrm>
            <a:off x="3208105" y="2138580"/>
            <a:ext cx="316115" cy="224379"/>
          </a:xfrm>
          <a:prstGeom prst="rect">
            <a:avLst/>
          </a:prstGeom>
          <a:pattFill prst="dkHorz">
            <a:fgClr>
              <a:srgbClr val="FFC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43D4B86D-CC11-EB99-3175-C82CDC026D44}"/>
              </a:ext>
            </a:extLst>
          </p:cNvPr>
          <p:cNvSpPr/>
          <p:nvPr/>
        </p:nvSpPr>
        <p:spPr>
          <a:xfrm rot="10800000" flipH="1">
            <a:off x="2615904" y="1467835"/>
            <a:ext cx="111149" cy="166182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ysDash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ight Arrow 64">
            <a:extLst>
              <a:ext uri="{FF2B5EF4-FFF2-40B4-BE49-F238E27FC236}">
                <a16:creationId xmlns:a16="http://schemas.microsoft.com/office/drawing/2014/main" id="{3CAB7F65-0B59-6D3E-473D-84BD5A9FFF79}"/>
              </a:ext>
            </a:extLst>
          </p:cNvPr>
          <p:cNvSpPr/>
          <p:nvPr/>
        </p:nvSpPr>
        <p:spPr>
          <a:xfrm rot="3733896">
            <a:off x="3338317" y="2626442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FFDA9F9E-6FAF-ABBC-FAD6-C81116865BC2}"/>
              </a:ext>
            </a:extLst>
          </p:cNvPr>
          <p:cNvSpPr/>
          <p:nvPr/>
        </p:nvSpPr>
        <p:spPr>
          <a:xfrm rot="3733896">
            <a:off x="3035142" y="2626442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E6276BB-FFE3-CAFC-1258-8E7C835BFBBE}"/>
              </a:ext>
            </a:extLst>
          </p:cNvPr>
          <p:cNvSpPr/>
          <p:nvPr/>
        </p:nvSpPr>
        <p:spPr>
          <a:xfrm>
            <a:off x="2732540" y="1235132"/>
            <a:ext cx="269530" cy="224379"/>
          </a:xfrm>
          <a:prstGeom prst="rect">
            <a:avLst/>
          </a:prstGeom>
          <a:pattFill prst="dkVert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2B78DA-9C92-B1E1-CABF-42B4C3538597}"/>
              </a:ext>
            </a:extLst>
          </p:cNvPr>
          <p:cNvCxnSpPr>
            <a:cxnSpLocks/>
          </p:cNvCxnSpPr>
          <p:nvPr/>
        </p:nvCxnSpPr>
        <p:spPr>
          <a:xfrm>
            <a:off x="2888031" y="1459511"/>
            <a:ext cx="126446" cy="66196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3C09467-FB05-FE5D-AB02-46F5BA564BAE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4894574" y="3520998"/>
            <a:ext cx="153316" cy="259552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11F1EC9-D0AC-B437-2B6A-D1E28247BD13}"/>
              </a:ext>
            </a:extLst>
          </p:cNvPr>
          <p:cNvSpPr>
            <a:spLocks/>
          </p:cNvSpPr>
          <p:nvPr/>
        </p:nvSpPr>
        <p:spPr>
          <a:xfrm>
            <a:off x="4249117" y="3255284"/>
            <a:ext cx="645458" cy="224379"/>
          </a:xfrm>
          <a:prstGeom prst="rect">
            <a:avLst/>
          </a:prstGeom>
          <a:pattFill prst="smGrid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54EB05F3-002A-C84D-449B-49F19C8E494D}"/>
              </a:ext>
            </a:extLst>
          </p:cNvPr>
          <p:cNvSpPr/>
          <p:nvPr/>
        </p:nvSpPr>
        <p:spPr>
          <a:xfrm rot="10800000" flipH="1" flipV="1">
            <a:off x="2646246" y="2443368"/>
            <a:ext cx="267167" cy="132717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1FF4BB5-22D8-9A35-D030-4502084466C6}"/>
              </a:ext>
            </a:extLst>
          </p:cNvPr>
          <p:cNvSpPr/>
          <p:nvPr/>
        </p:nvSpPr>
        <p:spPr>
          <a:xfrm>
            <a:off x="2458135" y="2520646"/>
            <a:ext cx="315725" cy="1374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9B4C85C-CEED-2960-6FE0-B4FECDAD5088}"/>
              </a:ext>
            </a:extLst>
          </p:cNvPr>
          <p:cNvSpPr/>
          <p:nvPr/>
        </p:nvSpPr>
        <p:spPr>
          <a:xfrm>
            <a:off x="2861496" y="2013547"/>
            <a:ext cx="459698" cy="24551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3F5D3B7-B358-9CBB-3347-0946E9EC5BC2}"/>
              </a:ext>
            </a:extLst>
          </p:cNvPr>
          <p:cNvCxnSpPr>
            <a:cxnSpLocks/>
            <a:stCxn id="73" idx="3"/>
          </p:cNvCxnSpPr>
          <p:nvPr/>
        </p:nvCxnSpPr>
        <p:spPr>
          <a:xfrm flipH="1">
            <a:off x="2742670" y="2223105"/>
            <a:ext cx="186148" cy="148408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F631874-3839-E754-5B6C-5E1887B0699A}"/>
              </a:ext>
            </a:extLst>
          </p:cNvPr>
          <p:cNvSpPr/>
          <p:nvPr/>
        </p:nvSpPr>
        <p:spPr>
          <a:xfrm>
            <a:off x="4922696" y="2462723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FFFA627-BC6C-49C8-60C9-46C883230B84}"/>
              </a:ext>
            </a:extLst>
          </p:cNvPr>
          <p:cNvCxnSpPr>
            <a:cxnSpLocks/>
            <a:stCxn id="77" idx="6"/>
            <a:endCxn id="85" idx="2"/>
          </p:cNvCxnSpPr>
          <p:nvPr/>
        </p:nvCxnSpPr>
        <p:spPr>
          <a:xfrm>
            <a:off x="4358229" y="2241509"/>
            <a:ext cx="476555" cy="289964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0819F830-46D4-1D57-B217-289F7CE2E9B6}"/>
              </a:ext>
            </a:extLst>
          </p:cNvPr>
          <p:cNvSpPr/>
          <p:nvPr/>
        </p:nvSpPr>
        <p:spPr>
          <a:xfrm>
            <a:off x="4041406" y="2070157"/>
            <a:ext cx="316822" cy="342702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8" name="Graphic 77" descr="Badge with solid fill">
            <a:extLst>
              <a:ext uri="{FF2B5EF4-FFF2-40B4-BE49-F238E27FC236}">
                <a16:creationId xmlns:a16="http://schemas.microsoft.com/office/drawing/2014/main" id="{538851D7-B765-1B7A-49B5-257816216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2298" y="1329875"/>
            <a:ext cx="474173" cy="448758"/>
          </a:xfrm>
          <a:prstGeom prst="rect">
            <a:avLst/>
          </a:prstGeom>
        </p:spPr>
      </p:pic>
      <p:pic>
        <p:nvPicPr>
          <p:cNvPr id="79" name="Graphic 78" descr="Badge 3 with solid fill">
            <a:extLst>
              <a:ext uri="{FF2B5EF4-FFF2-40B4-BE49-F238E27FC236}">
                <a16:creationId xmlns:a16="http://schemas.microsoft.com/office/drawing/2014/main" id="{82F8CEAB-EAC6-5BC0-AAA7-0423DAF99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7232" y="2343154"/>
            <a:ext cx="474173" cy="448758"/>
          </a:xfrm>
          <a:prstGeom prst="rect">
            <a:avLst/>
          </a:prstGeom>
        </p:spPr>
      </p:pic>
      <p:pic>
        <p:nvPicPr>
          <p:cNvPr id="80" name="Graphic 79" descr="Badge 4 with solid fill">
            <a:extLst>
              <a:ext uri="{FF2B5EF4-FFF2-40B4-BE49-F238E27FC236}">
                <a16:creationId xmlns:a16="http://schemas.microsoft.com/office/drawing/2014/main" id="{2409D1B4-D7F8-BF94-80F3-ECDFE0E366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1796" y="2529186"/>
            <a:ext cx="474173" cy="448758"/>
          </a:xfrm>
          <a:prstGeom prst="rect">
            <a:avLst/>
          </a:prstGeom>
        </p:spPr>
      </p:pic>
      <p:pic>
        <p:nvPicPr>
          <p:cNvPr id="81" name="Graphic 80" descr="Badge 5 with solid fill">
            <a:extLst>
              <a:ext uri="{FF2B5EF4-FFF2-40B4-BE49-F238E27FC236}">
                <a16:creationId xmlns:a16="http://schemas.microsoft.com/office/drawing/2014/main" id="{49AEAD88-E352-DED1-C434-49743526ED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0722" y="2312091"/>
            <a:ext cx="474173" cy="448758"/>
          </a:xfrm>
          <a:prstGeom prst="rect">
            <a:avLst/>
          </a:prstGeom>
        </p:spPr>
      </p:pic>
      <p:pic>
        <p:nvPicPr>
          <p:cNvPr id="82" name="Graphic 81" descr="Badge 6 with solid fill">
            <a:extLst>
              <a:ext uri="{FF2B5EF4-FFF2-40B4-BE49-F238E27FC236}">
                <a16:creationId xmlns:a16="http://schemas.microsoft.com/office/drawing/2014/main" id="{C714C6A3-BA60-FCB9-B3B4-FFED9D93A0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38744" y="1330325"/>
            <a:ext cx="474173" cy="448758"/>
          </a:xfrm>
          <a:prstGeom prst="rect">
            <a:avLst/>
          </a:prstGeom>
        </p:spPr>
      </p:pic>
      <p:pic>
        <p:nvPicPr>
          <p:cNvPr id="83" name="Graphic 82" descr="Badge 7 with solid fill">
            <a:extLst>
              <a:ext uri="{FF2B5EF4-FFF2-40B4-BE49-F238E27FC236}">
                <a16:creationId xmlns:a16="http://schemas.microsoft.com/office/drawing/2014/main" id="{ADC365D7-BFCB-2BC1-C277-3260C230C6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58190" y="2956619"/>
            <a:ext cx="474173" cy="448758"/>
          </a:xfrm>
          <a:prstGeom prst="rect">
            <a:avLst/>
          </a:prstGeom>
        </p:spPr>
      </p:pic>
      <p:sp>
        <p:nvSpPr>
          <p:cNvPr id="84" name="Oval 83">
            <a:extLst>
              <a:ext uri="{FF2B5EF4-FFF2-40B4-BE49-F238E27FC236}">
                <a16:creationId xmlns:a16="http://schemas.microsoft.com/office/drawing/2014/main" id="{D2578241-C920-E264-1F4B-EBB694396D52}"/>
              </a:ext>
            </a:extLst>
          </p:cNvPr>
          <p:cNvSpPr/>
          <p:nvPr/>
        </p:nvSpPr>
        <p:spPr>
          <a:xfrm>
            <a:off x="2279981" y="2374970"/>
            <a:ext cx="747711" cy="411669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6999F98-8BFF-C5F0-3C8B-5479035C3454}"/>
              </a:ext>
            </a:extLst>
          </p:cNvPr>
          <p:cNvSpPr/>
          <p:nvPr/>
        </p:nvSpPr>
        <p:spPr>
          <a:xfrm>
            <a:off x="4834784" y="2340764"/>
            <a:ext cx="576328" cy="38141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E037316-847E-EBAF-1DC5-FB4FA67EA1C9}"/>
              </a:ext>
            </a:extLst>
          </p:cNvPr>
          <p:cNvSpPr/>
          <p:nvPr/>
        </p:nvSpPr>
        <p:spPr>
          <a:xfrm>
            <a:off x="2463312" y="1142532"/>
            <a:ext cx="672302" cy="57902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605D9C5-E22E-43E9-4CEF-4520E0099505}"/>
              </a:ext>
            </a:extLst>
          </p:cNvPr>
          <p:cNvSpPr/>
          <p:nvPr/>
        </p:nvSpPr>
        <p:spPr>
          <a:xfrm>
            <a:off x="3701181" y="2792224"/>
            <a:ext cx="805342" cy="345365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21A1F51-7755-02CB-D735-53D230FC1479}"/>
              </a:ext>
            </a:extLst>
          </p:cNvPr>
          <p:cNvSpPr/>
          <p:nvPr/>
        </p:nvSpPr>
        <p:spPr>
          <a:xfrm>
            <a:off x="3829602" y="1200806"/>
            <a:ext cx="612842" cy="434084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2FBA367-2A8A-4B90-CBBB-B1308C857A90}"/>
              </a:ext>
            </a:extLst>
          </p:cNvPr>
          <p:cNvSpPr/>
          <p:nvPr/>
        </p:nvSpPr>
        <p:spPr>
          <a:xfrm>
            <a:off x="4539160" y="3036941"/>
            <a:ext cx="950630" cy="79818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2783FBBB-A9E8-447A-4D7B-0464C2417B37}"/>
              </a:ext>
            </a:extLst>
          </p:cNvPr>
          <p:cNvSpPr/>
          <p:nvPr/>
        </p:nvSpPr>
        <p:spPr>
          <a:xfrm rot="3733896">
            <a:off x="3186730" y="2626442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A9C1F2C-BFD2-993B-6E04-9035E78149D1}"/>
              </a:ext>
            </a:extLst>
          </p:cNvPr>
          <p:cNvSpPr>
            <a:spLocks/>
          </p:cNvSpPr>
          <p:nvPr/>
        </p:nvSpPr>
        <p:spPr>
          <a:xfrm>
            <a:off x="4100858" y="1242243"/>
            <a:ext cx="140734" cy="224379"/>
          </a:xfrm>
          <a:prstGeom prst="rect">
            <a:avLst/>
          </a:prstGeom>
          <a:pattFill prst="shingle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782B747-082A-701A-2969-5B1FDB48A3F6}"/>
              </a:ext>
            </a:extLst>
          </p:cNvPr>
          <p:cNvSpPr>
            <a:spLocks/>
          </p:cNvSpPr>
          <p:nvPr/>
        </p:nvSpPr>
        <p:spPr>
          <a:xfrm>
            <a:off x="2074656" y="1634390"/>
            <a:ext cx="596899" cy="224379"/>
          </a:xfrm>
          <a:prstGeom prst="rect">
            <a:avLst/>
          </a:prstGeom>
          <a:pattFill prst="lt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5-Point Star 92">
            <a:extLst>
              <a:ext uri="{FF2B5EF4-FFF2-40B4-BE49-F238E27FC236}">
                <a16:creationId xmlns:a16="http://schemas.microsoft.com/office/drawing/2014/main" id="{DB83219B-B29B-6605-0AC3-26351393D66C}"/>
              </a:ext>
            </a:extLst>
          </p:cNvPr>
          <p:cNvSpPr>
            <a:spLocks noChangeAspect="1"/>
          </p:cNvSpPr>
          <p:nvPr/>
        </p:nvSpPr>
        <p:spPr>
          <a:xfrm>
            <a:off x="1919739" y="1386164"/>
            <a:ext cx="305602" cy="299172"/>
          </a:xfrm>
          <a:prstGeom prst="star5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A4F7A5C-710A-7300-D620-B7A5A5D9B2F7}"/>
              </a:ext>
            </a:extLst>
          </p:cNvPr>
          <p:cNvCxnSpPr>
            <a:cxnSpLocks/>
            <a:stCxn id="100" idx="4"/>
            <a:endCxn id="99" idx="7"/>
          </p:cNvCxnSpPr>
          <p:nvPr/>
        </p:nvCxnSpPr>
        <p:spPr>
          <a:xfrm flipH="1">
            <a:off x="1787719" y="1925376"/>
            <a:ext cx="388966" cy="469676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46E7C4A6-B246-73A8-A446-55F407D3CD96}"/>
              </a:ext>
            </a:extLst>
          </p:cNvPr>
          <p:cNvSpPr/>
          <p:nvPr/>
        </p:nvSpPr>
        <p:spPr>
          <a:xfrm>
            <a:off x="1161921" y="2497652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1FB5BDA6-2AC4-004D-6D76-A1C86AA8FC3F}"/>
              </a:ext>
            </a:extLst>
          </p:cNvPr>
          <p:cNvSpPr/>
          <p:nvPr/>
        </p:nvSpPr>
        <p:spPr>
          <a:xfrm rot="10800000" flipH="1" flipV="1">
            <a:off x="1344035" y="2362230"/>
            <a:ext cx="267167" cy="149414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FF8EF58-7236-33BE-4068-F27394697870}"/>
              </a:ext>
            </a:extLst>
          </p:cNvPr>
          <p:cNvSpPr/>
          <p:nvPr/>
        </p:nvSpPr>
        <p:spPr>
          <a:xfrm>
            <a:off x="1541771" y="2520246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66F10602-434A-390D-4DA9-C5D0647DC4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9852" y="2356910"/>
            <a:ext cx="474173" cy="448758"/>
          </a:xfrm>
          <a:prstGeom prst="rect">
            <a:avLst/>
          </a:prstGeom>
        </p:spPr>
      </p:pic>
      <p:sp>
        <p:nvSpPr>
          <p:cNvPr id="99" name="Oval 98">
            <a:extLst>
              <a:ext uri="{FF2B5EF4-FFF2-40B4-BE49-F238E27FC236}">
                <a16:creationId xmlns:a16="http://schemas.microsoft.com/office/drawing/2014/main" id="{9E4A23B8-CD67-7C57-C015-A81A3F4F3299}"/>
              </a:ext>
            </a:extLst>
          </p:cNvPr>
          <p:cNvSpPr/>
          <p:nvPr/>
        </p:nvSpPr>
        <p:spPr>
          <a:xfrm>
            <a:off x="853963" y="2320740"/>
            <a:ext cx="1093964" cy="50743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D1F5255-3971-FA53-3740-8872CC7F1D1D}"/>
              </a:ext>
            </a:extLst>
          </p:cNvPr>
          <p:cNvSpPr/>
          <p:nvPr/>
        </p:nvSpPr>
        <p:spPr>
          <a:xfrm>
            <a:off x="2041186" y="1702610"/>
            <a:ext cx="270995" cy="222766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30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0" grpId="0" animBg="1"/>
      <p:bldP spid="71" grpId="0" animBg="1"/>
      <p:bldP spid="72" grpId="0" animBg="1"/>
      <p:bldP spid="73" grpId="0" animBg="1"/>
      <p:bldP spid="75" grpId="0" animBg="1"/>
      <p:bldP spid="77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9" grpId="0" animBg="1"/>
      <p:bldP spid="10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>
            <a:spLocks noGrp="1"/>
          </p:cNvSpPr>
          <p:nvPr>
            <p:ph type="ftr" idx="11"/>
          </p:nvPr>
        </p:nvSpPr>
        <p:spPr>
          <a:xfrm>
            <a:off x="3493008" y="4869654"/>
            <a:ext cx="30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PADSYS Lab</a:t>
            </a:r>
            <a:r>
              <a:rPr lang="en"/>
              <a:t>, </a:t>
            </a:r>
            <a:r>
              <a:rPr lang="en" err="1"/>
              <a:t>Liuyao</a:t>
            </a:r>
            <a:r>
              <a:rPr lang="en"/>
              <a:t> Dai, 2025</a:t>
            </a:r>
            <a:endParaRPr/>
          </a:p>
        </p:txBody>
      </p:sp>
      <p:sp>
        <p:nvSpPr>
          <p:cNvPr id="402" name="Google Shape;402;p54"/>
          <p:cNvSpPr txBox="1">
            <a:spLocks noGrp="1"/>
          </p:cNvSpPr>
          <p:nvPr>
            <p:ph type="sldNum" idx="12"/>
          </p:nvPr>
        </p:nvSpPr>
        <p:spPr>
          <a:xfrm>
            <a:off x="7056783" y="4869654"/>
            <a:ext cx="208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AF51E6BD-AF81-23D5-14F3-E7EBAEF60198}"/>
              </a:ext>
            </a:extLst>
          </p:cNvPr>
          <p:cNvGrpSpPr/>
          <p:nvPr/>
        </p:nvGrpSpPr>
        <p:grpSpPr>
          <a:xfrm>
            <a:off x="570565" y="942140"/>
            <a:ext cx="3325226" cy="2546254"/>
            <a:chOff x="570565" y="942140"/>
            <a:chExt cx="3325226" cy="254625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74EA958-F9AA-91B5-3FFD-AB2A0E5A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591" y="1341639"/>
              <a:ext cx="27432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F60930B-44BF-6EFB-A8CC-71C1DD3AB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591" y="1654547"/>
              <a:ext cx="27432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E0B396-B383-CFF1-4457-7958B03658A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591" y="1967455"/>
              <a:ext cx="27432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931070-7172-920D-3552-BE40BAF522B2}"/>
                </a:ext>
              </a:extLst>
            </p:cNvPr>
            <p:cNvSpPr txBox="1"/>
            <p:nvPr/>
          </p:nvSpPr>
          <p:spPr>
            <a:xfrm>
              <a:off x="570565" y="1471483"/>
              <a:ext cx="626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CPU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C4DE93D-357E-682E-27A7-0A2037F15723}"/>
                </a:ext>
              </a:extLst>
            </p:cNvPr>
            <p:cNvSpPr txBox="1"/>
            <p:nvPr/>
          </p:nvSpPr>
          <p:spPr>
            <a:xfrm>
              <a:off x="570565" y="1156973"/>
              <a:ext cx="626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GPU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ED2E03-8AE5-C23B-8B64-E6B9E3BE3B23}"/>
                </a:ext>
              </a:extLst>
            </p:cNvPr>
            <p:cNvSpPr txBox="1"/>
            <p:nvPr/>
          </p:nvSpPr>
          <p:spPr>
            <a:xfrm>
              <a:off x="619992" y="1782789"/>
              <a:ext cx="527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NIC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6085CCD-9ED9-0DAC-AA18-BB2967838B77}"/>
                </a:ext>
              </a:extLst>
            </p:cNvPr>
            <p:cNvCxnSpPr>
              <a:cxnSpLocks/>
            </p:cNvCxnSpPr>
            <p:nvPr/>
          </p:nvCxnSpPr>
          <p:spPr>
            <a:xfrm>
              <a:off x="1119136" y="2677912"/>
              <a:ext cx="27432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38A930-ABE7-24B4-DCEF-BED8C57B3208}"/>
                </a:ext>
              </a:extLst>
            </p:cNvPr>
            <p:cNvCxnSpPr>
              <a:cxnSpLocks/>
            </p:cNvCxnSpPr>
            <p:nvPr/>
          </p:nvCxnSpPr>
          <p:spPr>
            <a:xfrm>
              <a:off x="1119136" y="2990820"/>
              <a:ext cx="27432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5166F7-4F3A-F1FA-3851-B22ADCD3FC35}"/>
                </a:ext>
              </a:extLst>
            </p:cNvPr>
            <p:cNvCxnSpPr>
              <a:cxnSpLocks/>
            </p:cNvCxnSpPr>
            <p:nvPr/>
          </p:nvCxnSpPr>
          <p:spPr>
            <a:xfrm>
              <a:off x="1119136" y="3303728"/>
              <a:ext cx="27432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A0B6E0E-B910-3F84-C6F1-DD71FC019CD9}"/>
                </a:ext>
              </a:extLst>
            </p:cNvPr>
            <p:cNvSpPr txBox="1"/>
            <p:nvPr/>
          </p:nvSpPr>
          <p:spPr>
            <a:xfrm>
              <a:off x="570565" y="2807756"/>
              <a:ext cx="626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CPU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890C7B-8626-3395-5776-0AD53594681C}"/>
                </a:ext>
              </a:extLst>
            </p:cNvPr>
            <p:cNvSpPr txBox="1"/>
            <p:nvPr/>
          </p:nvSpPr>
          <p:spPr>
            <a:xfrm>
              <a:off x="570565" y="2493246"/>
              <a:ext cx="626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NIC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69A323-117F-121D-AD65-749FF5D40AD4}"/>
                </a:ext>
              </a:extLst>
            </p:cNvPr>
            <p:cNvSpPr txBox="1"/>
            <p:nvPr/>
          </p:nvSpPr>
          <p:spPr>
            <a:xfrm>
              <a:off x="570565" y="3119062"/>
              <a:ext cx="626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GPU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8DB3270-9AAB-A61D-BECD-4CFED1D0FD94}"/>
                </a:ext>
              </a:extLst>
            </p:cNvPr>
            <p:cNvCxnSpPr/>
            <p:nvPr/>
          </p:nvCxnSpPr>
          <p:spPr>
            <a:xfrm>
              <a:off x="1822145" y="1986812"/>
              <a:ext cx="616874" cy="6911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836B3E-E841-F4B1-849F-9A50E59A6148}"/>
                </a:ext>
              </a:extLst>
            </p:cNvPr>
            <p:cNvSpPr txBox="1"/>
            <p:nvPr/>
          </p:nvSpPr>
          <p:spPr>
            <a:xfrm>
              <a:off x="2689155" y="1636777"/>
              <a:ext cx="626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BCBF0AA-539E-AB24-28B2-4DE3C3DFA88B}"/>
                </a:ext>
              </a:extLst>
            </p:cNvPr>
            <p:cNvCxnSpPr>
              <a:cxnSpLocks/>
            </p:cNvCxnSpPr>
            <p:nvPr/>
          </p:nvCxnSpPr>
          <p:spPr>
            <a:xfrm>
              <a:off x="2668091" y="1900478"/>
              <a:ext cx="621739" cy="294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BBC9ED58-C192-8B4C-B8CC-25BA940EF91D}"/>
                </a:ext>
              </a:extLst>
            </p:cNvPr>
            <p:cNvSpPr/>
            <p:nvPr/>
          </p:nvSpPr>
          <p:spPr>
            <a:xfrm rot="10800000" flipH="1">
              <a:off x="3452755" y="1654545"/>
              <a:ext cx="79787" cy="312904"/>
            </a:xfrm>
            <a:custGeom>
              <a:avLst/>
              <a:gdLst>
                <a:gd name="connsiteX0" fmla="*/ 0 w 449865"/>
                <a:gd name="connsiteY0" fmla="*/ 600606 h 600606"/>
                <a:gd name="connsiteX1" fmla="*/ 48898 w 449865"/>
                <a:gd name="connsiteY1" fmla="*/ 307216 h 600606"/>
                <a:gd name="connsiteX2" fmla="*/ 161365 w 449865"/>
                <a:gd name="connsiteY2" fmla="*/ 48054 h 600606"/>
                <a:gd name="connsiteX3" fmla="*/ 244492 w 449865"/>
                <a:gd name="connsiteY3" fmla="*/ 4045 h 600606"/>
                <a:gd name="connsiteX4" fmla="*/ 322729 w 449865"/>
                <a:gd name="connsiteY4" fmla="*/ 101842 h 600606"/>
                <a:gd name="connsiteX5" fmla="*/ 410747 w 449865"/>
                <a:gd name="connsiteY5" fmla="*/ 307216 h 600606"/>
                <a:gd name="connsiteX6" fmla="*/ 449865 w 449865"/>
                <a:gd name="connsiteY6" fmla="*/ 600606 h 60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9865" h="600606">
                  <a:moveTo>
                    <a:pt x="0" y="600606"/>
                  </a:moveTo>
                  <a:cubicBezTo>
                    <a:pt x="11002" y="499957"/>
                    <a:pt x="22004" y="399308"/>
                    <a:pt x="48898" y="307216"/>
                  </a:cubicBezTo>
                  <a:cubicBezTo>
                    <a:pt x="75792" y="215124"/>
                    <a:pt x="128766" y="98583"/>
                    <a:pt x="161365" y="48054"/>
                  </a:cubicBezTo>
                  <a:cubicBezTo>
                    <a:pt x="193964" y="-2475"/>
                    <a:pt x="217598" y="-4920"/>
                    <a:pt x="244492" y="4045"/>
                  </a:cubicBezTo>
                  <a:cubicBezTo>
                    <a:pt x="271386" y="13010"/>
                    <a:pt x="295020" y="51314"/>
                    <a:pt x="322729" y="101842"/>
                  </a:cubicBezTo>
                  <a:cubicBezTo>
                    <a:pt x="350438" y="152370"/>
                    <a:pt x="389558" y="224089"/>
                    <a:pt x="410747" y="307216"/>
                  </a:cubicBezTo>
                  <a:cubicBezTo>
                    <a:pt x="431936" y="390343"/>
                    <a:pt x="440085" y="464505"/>
                    <a:pt x="449865" y="600606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prstDash val="sysDash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7" name="Straight Arrow Connector 426">
              <a:extLst>
                <a:ext uri="{FF2B5EF4-FFF2-40B4-BE49-F238E27FC236}">
                  <a16:creationId xmlns:a16="http://schemas.microsoft.com/office/drawing/2014/main" id="{2B932747-13B7-EC5D-7685-5BA60D5ED6C2}"/>
                </a:ext>
              </a:extLst>
            </p:cNvPr>
            <p:cNvCxnSpPr/>
            <p:nvPr/>
          </p:nvCxnSpPr>
          <p:spPr>
            <a:xfrm>
              <a:off x="2676094" y="1977896"/>
              <a:ext cx="616874" cy="6911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1B55E87A-FC77-7DF3-CBE9-FAD72EC9D35B}"/>
                </a:ext>
              </a:extLst>
            </p:cNvPr>
            <p:cNvCxnSpPr/>
            <p:nvPr/>
          </p:nvCxnSpPr>
          <p:spPr>
            <a:xfrm>
              <a:off x="2249119" y="1986809"/>
              <a:ext cx="616874" cy="6911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43516527-F1AF-64AA-EC3F-20FB6233504D}"/>
                </a:ext>
              </a:extLst>
            </p:cNvPr>
            <p:cNvGrpSpPr/>
            <p:nvPr/>
          </p:nvGrpSpPr>
          <p:grpSpPr>
            <a:xfrm rot="16200000">
              <a:off x="1423524" y="1561547"/>
              <a:ext cx="621359" cy="181542"/>
              <a:chOff x="11902457" y="13729729"/>
              <a:chExt cx="2578121" cy="1423884"/>
            </a:xfrm>
          </p:grpSpPr>
          <p:cxnSp>
            <p:nvCxnSpPr>
              <p:cNvPr id="434" name="Straight Connector 433">
                <a:extLst>
                  <a:ext uri="{FF2B5EF4-FFF2-40B4-BE49-F238E27FC236}">
                    <a16:creationId xmlns:a16="http://schemas.microsoft.com/office/drawing/2014/main" id="{D7B9ACDB-C3FF-5C9F-69A6-F134FCE536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902457" y="14448445"/>
                <a:ext cx="2454976" cy="705168"/>
              </a:xfrm>
              <a:prstGeom prst="line">
                <a:avLst/>
              </a:prstGeom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5" name="Freeform 434">
                <a:extLst>
                  <a:ext uri="{FF2B5EF4-FFF2-40B4-BE49-F238E27FC236}">
                    <a16:creationId xmlns:a16="http://schemas.microsoft.com/office/drawing/2014/main" id="{22464984-DF34-85D5-7B97-A200D4C33BF8}"/>
                  </a:ext>
                </a:extLst>
              </p:cNvPr>
              <p:cNvSpPr/>
              <p:nvPr/>
            </p:nvSpPr>
            <p:spPr>
              <a:xfrm>
                <a:off x="11919012" y="13729729"/>
                <a:ext cx="2561566" cy="765299"/>
              </a:xfrm>
              <a:custGeom>
                <a:avLst/>
                <a:gdLst>
                  <a:gd name="connsiteX0" fmla="*/ 0 w 2561563"/>
                  <a:gd name="connsiteY0" fmla="*/ 0 h 492980"/>
                  <a:gd name="connsiteX1" fmla="*/ 1280160 w 2561563"/>
                  <a:gd name="connsiteY1" fmla="*/ 55659 h 492980"/>
                  <a:gd name="connsiteX2" fmla="*/ 2210463 w 2561563"/>
                  <a:gd name="connsiteY2" fmla="*/ 166977 h 492980"/>
                  <a:gd name="connsiteX3" fmla="*/ 2552369 w 2561563"/>
                  <a:gd name="connsiteY3" fmla="*/ 286247 h 492980"/>
                  <a:gd name="connsiteX4" fmla="*/ 2449002 w 2561563"/>
                  <a:gd name="connsiteY4" fmla="*/ 437321 h 492980"/>
                  <a:gd name="connsiteX5" fmla="*/ 2289976 w 2561563"/>
                  <a:gd name="connsiteY5" fmla="*/ 492980 h 49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1563" h="492980">
                    <a:moveTo>
                      <a:pt x="0" y="0"/>
                    </a:moveTo>
                    <a:cubicBezTo>
                      <a:pt x="455875" y="13915"/>
                      <a:pt x="911750" y="27830"/>
                      <a:pt x="1280160" y="55659"/>
                    </a:cubicBezTo>
                    <a:cubicBezTo>
                      <a:pt x="1648571" y="83489"/>
                      <a:pt x="1998428" y="128546"/>
                      <a:pt x="2210463" y="166977"/>
                    </a:cubicBezTo>
                    <a:cubicBezTo>
                      <a:pt x="2422498" y="205408"/>
                      <a:pt x="2512612" y="241190"/>
                      <a:pt x="2552369" y="286247"/>
                    </a:cubicBezTo>
                    <a:cubicBezTo>
                      <a:pt x="2592126" y="331304"/>
                      <a:pt x="2492734" y="402866"/>
                      <a:pt x="2449002" y="437321"/>
                    </a:cubicBezTo>
                    <a:cubicBezTo>
                      <a:pt x="2405270" y="471776"/>
                      <a:pt x="2319131" y="459850"/>
                      <a:pt x="2289976" y="492980"/>
                    </a:cubicBezTo>
                  </a:path>
                </a:pathLst>
              </a:custGeom>
              <a:noFill/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prstDash val="sysDash"/>
                <a:tailEnd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CA7E2790-E5B1-F078-5CDA-66D8733F674E}"/>
                </a:ext>
              </a:extLst>
            </p:cNvPr>
            <p:cNvSpPr/>
            <p:nvPr/>
          </p:nvSpPr>
          <p:spPr>
            <a:xfrm>
              <a:off x="1444521" y="1342933"/>
              <a:ext cx="111149" cy="311612"/>
            </a:xfrm>
            <a:custGeom>
              <a:avLst/>
              <a:gdLst>
                <a:gd name="connsiteX0" fmla="*/ 0 w 449865"/>
                <a:gd name="connsiteY0" fmla="*/ 600606 h 600606"/>
                <a:gd name="connsiteX1" fmla="*/ 48898 w 449865"/>
                <a:gd name="connsiteY1" fmla="*/ 307216 h 600606"/>
                <a:gd name="connsiteX2" fmla="*/ 161365 w 449865"/>
                <a:gd name="connsiteY2" fmla="*/ 48054 h 600606"/>
                <a:gd name="connsiteX3" fmla="*/ 244492 w 449865"/>
                <a:gd name="connsiteY3" fmla="*/ 4045 h 600606"/>
                <a:gd name="connsiteX4" fmla="*/ 322729 w 449865"/>
                <a:gd name="connsiteY4" fmla="*/ 101842 h 600606"/>
                <a:gd name="connsiteX5" fmla="*/ 410747 w 449865"/>
                <a:gd name="connsiteY5" fmla="*/ 307216 h 600606"/>
                <a:gd name="connsiteX6" fmla="*/ 449865 w 449865"/>
                <a:gd name="connsiteY6" fmla="*/ 600606 h 60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9865" h="600606">
                  <a:moveTo>
                    <a:pt x="0" y="600606"/>
                  </a:moveTo>
                  <a:cubicBezTo>
                    <a:pt x="11002" y="499957"/>
                    <a:pt x="22004" y="399308"/>
                    <a:pt x="48898" y="307216"/>
                  </a:cubicBezTo>
                  <a:cubicBezTo>
                    <a:pt x="75792" y="215124"/>
                    <a:pt x="128766" y="98583"/>
                    <a:pt x="161365" y="48054"/>
                  </a:cubicBezTo>
                  <a:cubicBezTo>
                    <a:pt x="193964" y="-2475"/>
                    <a:pt x="217598" y="-4920"/>
                    <a:pt x="244492" y="4045"/>
                  </a:cubicBezTo>
                  <a:cubicBezTo>
                    <a:pt x="271386" y="13010"/>
                    <a:pt x="295020" y="51314"/>
                    <a:pt x="322729" y="101842"/>
                  </a:cubicBezTo>
                  <a:cubicBezTo>
                    <a:pt x="350438" y="152370"/>
                    <a:pt x="389558" y="224089"/>
                    <a:pt x="410747" y="307216"/>
                  </a:cubicBezTo>
                  <a:cubicBezTo>
                    <a:pt x="431936" y="390343"/>
                    <a:pt x="440085" y="464505"/>
                    <a:pt x="449865" y="600606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prstDash val="sysDash"/>
              <a:tailEnd type="stealth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1C2A3AAD-BD60-957B-F9F1-B9435F01FB2F}"/>
                </a:ext>
              </a:extLst>
            </p:cNvPr>
            <p:cNvCxnSpPr>
              <a:cxnSpLocks/>
            </p:cNvCxnSpPr>
            <p:nvPr/>
          </p:nvCxnSpPr>
          <p:spPr>
            <a:xfrm>
              <a:off x="1561048" y="1663132"/>
              <a:ext cx="90302" cy="30431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B0E1C086-52D9-1543-0B26-66B4B51B5BD7}"/>
                </a:ext>
              </a:extLst>
            </p:cNvPr>
            <p:cNvSpPr txBox="1"/>
            <p:nvPr/>
          </p:nvSpPr>
          <p:spPr>
            <a:xfrm>
              <a:off x="1321709" y="943272"/>
              <a:ext cx="626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o</a:t>
              </a:r>
              <a:r>
                <a:rPr lang="en-US" baseline="-25000" dirty="0" err="1"/>
                <a:t>s</a:t>
              </a:r>
              <a:endParaRPr lang="en-US" baseline="-25000" dirty="0"/>
            </a:p>
          </p:txBody>
        </p: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42142147-4556-FC22-E9AC-A278A5154E90}"/>
                </a:ext>
              </a:extLst>
            </p:cNvPr>
            <p:cNvCxnSpPr>
              <a:cxnSpLocks/>
            </p:cNvCxnSpPr>
            <p:nvPr/>
          </p:nvCxnSpPr>
          <p:spPr>
            <a:xfrm>
              <a:off x="1444521" y="1199515"/>
              <a:ext cx="0" cy="45503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EE224565-149E-6E4B-195C-1A9731DA3D80}"/>
                </a:ext>
              </a:extLst>
            </p:cNvPr>
            <p:cNvCxnSpPr>
              <a:cxnSpLocks/>
            </p:cNvCxnSpPr>
            <p:nvPr/>
          </p:nvCxnSpPr>
          <p:spPr>
            <a:xfrm>
              <a:off x="1444521" y="1269319"/>
              <a:ext cx="3804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5839CEA8-9D1C-FA9B-499F-72610E96FD9F}"/>
                </a:ext>
              </a:extLst>
            </p:cNvPr>
            <p:cNvCxnSpPr>
              <a:cxnSpLocks/>
            </p:cNvCxnSpPr>
            <p:nvPr/>
          </p:nvCxnSpPr>
          <p:spPr>
            <a:xfrm>
              <a:off x="1825848" y="1199515"/>
              <a:ext cx="0" cy="69113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BEB41C47-B6D1-F67B-B451-74FC348FA915}"/>
                </a:ext>
              </a:extLst>
            </p:cNvPr>
            <p:cNvCxnSpPr>
              <a:cxnSpLocks/>
            </p:cNvCxnSpPr>
            <p:nvPr/>
          </p:nvCxnSpPr>
          <p:spPr>
            <a:xfrm>
              <a:off x="3532543" y="1199515"/>
              <a:ext cx="0" cy="45503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5CD73FE-DA87-A81B-997E-1E2DDDC58EE7}"/>
                </a:ext>
              </a:extLst>
            </p:cNvPr>
            <p:cNvCxnSpPr>
              <a:cxnSpLocks/>
            </p:cNvCxnSpPr>
            <p:nvPr/>
          </p:nvCxnSpPr>
          <p:spPr>
            <a:xfrm>
              <a:off x="3292968" y="1199515"/>
              <a:ext cx="0" cy="1478397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7FB4B28D-3690-45F3-1C3C-2E485EC60581}"/>
                </a:ext>
              </a:extLst>
            </p:cNvPr>
            <p:cNvCxnSpPr>
              <a:cxnSpLocks/>
            </p:cNvCxnSpPr>
            <p:nvPr/>
          </p:nvCxnSpPr>
          <p:spPr>
            <a:xfrm>
              <a:off x="3289830" y="1269319"/>
              <a:ext cx="24271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BA317184-9601-BACA-0412-24286E7CDD55}"/>
                </a:ext>
              </a:extLst>
            </p:cNvPr>
            <p:cNvSpPr txBox="1"/>
            <p:nvPr/>
          </p:nvSpPr>
          <p:spPr>
            <a:xfrm>
              <a:off x="3097921" y="942140"/>
              <a:ext cx="626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</a:t>
              </a:r>
              <a:r>
                <a:rPr lang="en-US" baseline="-25000" dirty="0"/>
                <a:t>r</a:t>
              </a: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0B0010F0-C1AD-EBC4-66E3-22C7845C70E9}"/>
                </a:ext>
              </a:extLst>
            </p:cNvPr>
            <p:cNvCxnSpPr>
              <a:cxnSpLocks/>
            </p:cNvCxnSpPr>
            <p:nvPr/>
          </p:nvCxnSpPr>
          <p:spPr>
            <a:xfrm>
              <a:off x="2676094" y="1828948"/>
              <a:ext cx="0" cy="148948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E13C7314-DB84-B45C-87A5-96B6343AE656}"/>
                </a:ext>
              </a:extLst>
            </p:cNvPr>
            <p:cNvCxnSpPr>
              <a:cxnSpLocks/>
            </p:cNvCxnSpPr>
            <p:nvPr/>
          </p:nvCxnSpPr>
          <p:spPr>
            <a:xfrm>
              <a:off x="1824973" y="1900128"/>
              <a:ext cx="85112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576658EC-4B96-F44A-A62F-8C37CF162975}"/>
                </a:ext>
              </a:extLst>
            </p:cNvPr>
            <p:cNvSpPr txBox="1"/>
            <p:nvPr/>
          </p:nvSpPr>
          <p:spPr>
            <a:xfrm>
              <a:off x="1938321" y="1640322"/>
              <a:ext cx="626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G*s</a:t>
              </a:r>
              <a:endParaRPr lang="en-US" baseline="-25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336</Words>
  <Application>Microsoft Macintosh PowerPoint</Application>
  <PresentationFormat>On-screen Show (16:9)</PresentationFormat>
  <Paragraphs>57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Roboto</vt:lpstr>
      <vt:lpstr>Calibri</vt:lpstr>
      <vt:lpstr>1_Office Theme</vt:lpstr>
      <vt:lpstr>PowerPoint Presentation</vt:lpstr>
      <vt:lpstr>PowerPoint Presentation</vt:lpstr>
      <vt:lpstr>LogGP Parameters in NCCL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Dai, Liuyao</cp:lastModifiedBy>
  <cp:revision>37</cp:revision>
  <dcterms:modified xsi:type="dcterms:W3CDTF">2025-07-31T21:11:41Z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2025-07-31T21:11:41Z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bb2d244a-8286-458c-b8f3-cbc45b0155ef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