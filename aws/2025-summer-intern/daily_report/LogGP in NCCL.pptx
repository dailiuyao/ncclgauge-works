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23"/>
  </p:notesMasterIdLst>
  <p:sldIdLst>
    <p:sldId id="256" r:id="rId2"/>
    <p:sldId id="257" r:id="rId3"/>
    <p:sldId id="265" r:id="rId4"/>
    <p:sldId id="374" r:id="rId5"/>
    <p:sldId id="266" r:id="rId6"/>
    <p:sldId id="379" r:id="rId7"/>
    <p:sldId id="260" r:id="rId8"/>
    <p:sldId id="377" r:id="rId9"/>
    <p:sldId id="258" r:id="rId10"/>
    <p:sldId id="259" r:id="rId11"/>
    <p:sldId id="261" r:id="rId12"/>
    <p:sldId id="378" r:id="rId13"/>
    <p:sldId id="262" r:id="rId14"/>
    <p:sldId id="373" r:id="rId15"/>
    <p:sldId id="263" r:id="rId16"/>
    <p:sldId id="376" r:id="rId17"/>
    <p:sldId id="264" r:id="rId18"/>
    <p:sldId id="277" r:id="rId19"/>
    <p:sldId id="371" r:id="rId20"/>
    <p:sldId id="372" r:id="rId21"/>
    <p:sldId id="274" r:id="rId22"/>
  </p:sldIdLst>
  <p:sldSz cx="36576000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C5EE130-67BA-9C48-8F7B-D6E4E1FD4EE0}">
          <p14:sldIdLst>
            <p14:sldId id="256"/>
            <p14:sldId id="257"/>
          </p14:sldIdLst>
        </p14:section>
        <p14:section name="Ring" id="{682DC800-7DBC-8E42-A4D6-12C820271B98}">
          <p14:sldIdLst>
            <p14:sldId id="265"/>
            <p14:sldId id="374"/>
            <p14:sldId id="266"/>
            <p14:sldId id="379"/>
            <p14:sldId id="260"/>
            <p14:sldId id="377"/>
            <p14:sldId id="258"/>
            <p14:sldId id="259"/>
          </p14:sldIdLst>
        </p14:section>
        <p14:section name="Tree" id="{D3B73121-DFFE-AF45-835D-B732DFA2A0B9}">
          <p14:sldIdLst>
            <p14:sldId id="261"/>
            <p14:sldId id="378"/>
            <p14:sldId id="262"/>
            <p14:sldId id="373"/>
            <p14:sldId id="263"/>
            <p14:sldId id="376"/>
            <p14:sldId id="264"/>
            <p14:sldId id="277"/>
            <p14:sldId id="371"/>
            <p14:sldId id="372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1AD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93"/>
    <p:restoredTop sz="94669"/>
  </p:normalViewPr>
  <p:slideViewPr>
    <p:cSldViewPr snapToGrid="0">
      <p:cViewPr varScale="1">
        <p:scale>
          <a:sx n="38" d="100"/>
          <a:sy n="38" d="100"/>
        </p:scale>
        <p:origin x="320" y="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2D3BBF9-8FAC-5849-B7C8-68C2D8AD5F6E}" type="doc">
      <dgm:prSet loTypeId="urn:microsoft.com/office/officeart/2005/8/layout/process1" loCatId="" qsTypeId="urn:microsoft.com/office/officeart/2005/8/quickstyle/simple1" qsCatId="simple" csTypeId="urn:microsoft.com/office/officeart/2005/8/colors/colorful5" csCatId="colorful" phldr="1"/>
      <dgm:spPr/>
    </dgm:pt>
    <dgm:pt modelId="{86BB9398-9FE8-0E49-AEEE-B4A13C173204}">
      <dgm:prSet phldrT="[Text]"/>
      <dgm:spPr/>
      <dgm:t>
        <a:bodyPr/>
        <a:lstStyle/>
        <a:p>
          <a:r>
            <a:rPr lang="en-US" dirty="0"/>
            <a:t>P2P</a:t>
          </a:r>
        </a:p>
      </dgm:t>
    </dgm:pt>
    <dgm:pt modelId="{0AB71137-44C9-4448-9229-94DD3D74618B}" type="parTrans" cxnId="{D8DC896D-B278-E44E-B78F-F5A53F70DBE2}">
      <dgm:prSet/>
      <dgm:spPr/>
      <dgm:t>
        <a:bodyPr/>
        <a:lstStyle/>
        <a:p>
          <a:endParaRPr lang="en-US"/>
        </a:p>
      </dgm:t>
    </dgm:pt>
    <dgm:pt modelId="{FEB46A42-7D6B-D04B-8216-495F1F548AC9}" type="sibTrans" cxnId="{D8DC896D-B278-E44E-B78F-F5A53F70DBE2}">
      <dgm:prSet/>
      <dgm:spPr/>
      <dgm:t>
        <a:bodyPr/>
        <a:lstStyle/>
        <a:p>
          <a:endParaRPr lang="en-US"/>
        </a:p>
      </dgm:t>
    </dgm:pt>
    <dgm:pt modelId="{16D02CA9-95B0-894B-8C9E-8E9DC2E57551}">
      <dgm:prSet phldrT="[Text]"/>
      <dgm:spPr/>
      <dgm:t>
        <a:bodyPr/>
        <a:lstStyle/>
        <a:p>
          <a:r>
            <a:rPr lang="en-US" dirty="0"/>
            <a:t>Single-chunk Collective</a:t>
          </a:r>
        </a:p>
      </dgm:t>
    </dgm:pt>
    <dgm:pt modelId="{C2D4F6AE-C881-2043-9997-F8FEDBBF5DD9}" type="parTrans" cxnId="{075CC27D-358E-EC44-9C32-49B915AE25B9}">
      <dgm:prSet/>
      <dgm:spPr/>
      <dgm:t>
        <a:bodyPr/>
        <a:lstStyle/>
        <a:p>
          <a:endParaRPr lang="en-US"/>
        </a:p>
      </dgm:t>
    </dgm:pt>
    <dgm:pt modelId="{43260C62-CE90-AE44-9A61-53379564756A}" type="sibTrans" cxnId="{075CC27D-358E-EC44-9C32-49B915AE25B9}">
      <dgm:prSet/>
      <dgm:spPr/>
      <dgm:t>
        <a:bodyPr/>
        <a:lstStyle/>
        <a:p>
          <a:endParaRPr lang="en-US"/>
        </a:p>
      </dgm:t>
    </dgm:pt>
    <dgm:pt modelId="{8DEA4C69-ABD1-FF41-897C-EEEF535E4D14}">
      <dgm:prSet phldrT="[Text]"/>
      <dgm:spPr/>
      <dgm:t>
        <a:bodyPr/>
        <a:lstStyle/>
        <a:p>
          <a:r>
            <a:rPr lang="en-US" dirty="0"/>
            <a:t>Multi-chunk Collective</a:t>
          </a:r>
        </a:p>
      </dgm:t>
    </dgm:pt>
    <dgm:pt modelId="{87789638-0703-CC43-B6D8-4DB358A85563}" type="parTrans" cxnId="{8CFB81FD-4794-464F-B3B5-3A07D1A5DFB5}">
      <dgm:prSet/>
      <dgm:spPr/>
      <dgm:t>
        <a:bodyPr/>
        <a:lstStyle/>
        <a:p>
          <a:endParaRPr lang="en-US"/>
        </a:p>
      </dgm:t>
    </dgm:pt>
    <dgm:pt modelId="{0547AE67-C91B-EF47-B496-37D898F6D015}" type="sibTrans" cxnId="{8CFB81FD-4794-464F-B3B5-3A07D1A5DFB5}">
      <dgm:prSet/>
      <dgm:spPr/>
      <dgm:t>
        <a:bodyPr/>
        <a:lstStyle/>
        <a:p>
          <a:endParaRPr lang="en-US"/>
        </a:p>
      </dgm:t>
    </dgm:pt>
    <dgm:pt modelId="{11BC67F9-0199-F24E-A38F-1CCA4A4A0C9D}">
      <dgm:prSet/>
      <dgm:spPr/>
      <dgm:t>
        <a:bodyPr/>
        <a:lstStyle/>
        <a:p>
          <a:pPr>
            <a:buNone/>
          </a:pPr>
          <a:r>
            <a:rPr lang="en-US" b="0" i="0" u="none"/>
            <a:t>Parameter Measurements</a:t>
          </a:r>
          <a:endParaRPr lang="en-US"/>
        </a:p>
      </dgm:t>
    </dgm:pt>
    <dgm:pt modelId="{C1FA1757-D3B2-6F44-86A2-DBC288570ABB}" type="parTrans" cxnId="{BB42F21A-47DB-C94A-8CC4-F26E56FC2740}">
      <dgm:prSet/>
      <dgm:spPr/>
      <dgm:t>
        <a:bodyPr/>
        <a:lstStyle/>
        <a:p>
          <a:endParaRPr lang="en-US"/>
        </a:p>
      </dgm:t>
    </dgm:pt>
    <dgm:pt modelId="{BEE22983-4F05-344A-8B24-9A771BC80819}" type="sibTrans" cxnId="{BB42F21A-47DB-C94A-8CC4-F26E56FC2740}">
      <dgm:prSet/>
      <dgm:spPr/>
      <dgm:t>
        <a:bodyPr/>
        <a:lstStyle/>
        <a:p>
          <a:endParaRPr lang="en-US"/>
        </a:p>
      </dgm:t>
    </dgm:pt>
    <dgm:pt modelId="{651B54A4-1C44-A741-A54A-833A447D9C3D}" type="pres">
      <dgm:prSet presAssocID="{02D3BBF9-8FAC-5849-B7C8-68C2D8AD5F6E}" presName="Name0" presStyleCnt="0">
        <dgm:presLayoutVars>
          <dgm:dir/>
          <dgm:resizeHandles val="exact"/>
        </dgm:presLayoutVars>
      </dgm:prSet>
      <dgm:spPr/>
    </dgm:pt>
    <dgm:pt modelId="{53385181-B734-B748-A085-53B860EF5E95}" type="pres">
      <dgm:prSet presAssocID="{86BB9398-9FE8-0E49-AEEE-B4A13C173204}" presName="node" presStyleLbl="node1" presStyleIdx="0" presStyleCnt="4">
        <dgm:presLayoutVars>
          <dgm:bulletEnabled val="1"/>
        </dgm:presLayoutVars>
      </dgm:prSet>
      <dgm:spPr/>
    </dgm:pt>
    <dgm:pt modelId="{82ED9B9E-DADF-6748-BA7C-A2A49F5CE0E1}" type="pres">
      <dgm:prSet presAssocID="{FEB46A42-7D6B-D04B-8216-495F1F548AC9}" presName="sibTrans" presStyleLbl="sibTrans2D1" presStyleIdx="0" presStyleCnt="3"/>
      <dgm:spPr/>
    </dgm:pt>
    <dgm:pt modelId="{64EDC76F-E246-5748-9D74-241195AE17D3}" type="pres">
      <dgm:prSet presAssocID="{FEB46A42-7D6B-D04B-8216-495F1F548AC9}" presName="connectorText" presStyleLbl="sibTrans2D1" presStyleIdx="0" presStyleCnt="3"/>
      <dgm:spPr/>
    </dgm:pt>
    <dgm:pt modelId="{9485A4C4-A33E-F641-A31E-B64B9FCC8F5B}" type="pres">
      <dgm:prSet presAssocID="{16D02CA9-95B0-894B-8C9E-8E9DC2E57551}" presName="node" presStyleLbl="node1" presStyleIdx="1" presStyleCnt="4">
        <dgm:presLayoutVars>
          <dgm:bulletEnabled val="1"/>
        </dgm:presLayoutVars>
      </dgm:prSet>
      <dgm:spPr/>
    </dgm:pt>
    <dgm:pt modelId="{08AD2B8F-8DFD-7A40-BD05-CC7C8EA8EDD7}" type="pres">
      <dgm:prSet presAssocID="{43260C62-CE90-AE44-9A61-53379564756A}" presName="sibTrans" presStyleLbl="sibTrans2D1" presStyleIdx="1" presStyleCnt="3"/>
      <dgm:spPr/>
    </dgm:pt>
    <dgm:pt modelId="{E4B873C4-2E61-954D-8389-41C0E4844B90}" type="pres">
      <dgm:prSet presAssocID="{43260C62-CE90-AE44-9A61-53379564756A}" presName="connectorText" presStyleLbl="sibTrans2D1" presStyleIdx="1" presStyleCnt="3"/>
      <dgm:spPr/>
    </dgm:pt>
    <dgm:pt modelId="{856D9CB4-BABB-EF49-9EFF-AF86AFAF2B41}" type="pres">
      <dgm:prSet presAssocID="{8DEA4C69-ABD1-FF41-897C-EEEF535E4D14}" presName="node" presStyleLbl="node1" presStyleIdx="2" presStyleCnt="4">
        <dgm:presLayoutVars>
          <dgm:bulletEnabled val="1"/>
        </dgm:presLayoutVars>
      </dgm:prSet>
      <dgm:spPr/>
    </dgm:pt>
    <dgm:pt modelId="{ADDA028C-33FD-3C47-AD61-7D92ED2A6DA2}" type="pres">
      <dgm:prSet presAssocID="{0547AE67-C91B-EF47-B496-37D898F6D015}" presName="sibTrans" presStyleLbl="sibTrans2D1" presStyleIdx="2" presStyleCnt="3"/>
      <dgm:spPr/>
    </dgm:pt>
    <dgm:pt modelId="{1EDDC202-B7FC-E248-B498-C3CA8B641CCB}" type="pres">
      <dgm:prSet presAssocID="{0547AE67-C91B-EF47-B496-37D898F6D015}" presName="connectorText" presStyleLbl="sibTrans2D1" presStyleIdx="2" presStyleCnt="3"/>
      <dgm:spPr/>
    </dgm:pt>
    <dgm:pt modelId="{EBBA027E-69CA-114A-AFEB-7C8D9257A7C8}" type="pres">
      <dgm:prSet presAssocID="{11BC67F9-0199-F24E-A38F-1CCA4A4A0C9D}" presName="node" presStyleLbl="node1" presStyleIdx="3" presStyleCnt="4">
        <dgm:presLayoutVars>
          <dgm:bulletEnabled val="1"/>
        </dgm:presLayoutVars>
      </dgm:prSet>
      <dgm:spPr/>
    </dgm:pt>
  </dgm:ptLst>
  <dgm:cxnLst>
    <dgm:cxn modelId="{67DF590E-2D5C-224C-87D4-347230528901}" type="presOf" srcId="{FEB46A42-7D6B-D04B-8216-495F1F548AC9}" destId="{64EDC76F-E246-5748-9D74-241195AE17D3}" srcOrd="1" destOrd="0" presId="urn:microsoft.com/office/officeart/2005/8/layout/process1"/>
    <dgm:cxn modelId="{34C60414-2809-0449-A8A3-39864A5B3B71}" type="presOf" srcId="{FEB46A42-7D6B-D04B-8216-495F1F548AC9}" destId="{82ED9B9E-DADF-6748-BA7C-A2A49F5CE0E1}" srcOrd="0" destOrd="0" presId="urn:microsoft.com/office/officeart/2005/8/layout/process1"/>
    <dgm:cxn modelId="{BB42F21A-47DB-C94A-8CC4-F26E56FC2740}" srcId="{02D3BBF9-8FAC-5849-B7C8-68C2D8AD5F6E}" destId="{11BC67F9-0199-F24E-A38F-1CCA4A4A0C9D}" srcOrd="3" destOrd="0" parTransId="{C1FA1757-D3B2-6F44-86A2-DBC288570ABB}" sibTransId="{BEE22983-4F05-344A-8B24-9A771BC80819}"/>
    <dgm:cxn modelId="{C43AEF1D-5C61-BE4D-8547-726A6E75CA79}" type="presOf" srcId="{0547AE67-C91B-EF47-B496-37D898F6D015}" destId="{ADDA028C-33FD-3C47-AD61-7D92ED2A6DA2}" srcOrd="0" destOrd="0" presId="urn:microsoft.com/office/officeart/2005/8/layout/process1"/>
    <dgm:cxn modelId="{E8BAC843-EDFF-8C4B-9B9B-B5329CE23DD1}" type="presOf" srcId="{02D3BBF9-8FAC-5849-B7C8-68C2D8AD5F6E}" destId="{651B54A4-1C44-A741-A54A-833A447D9C3D}" srcOrd="0" destOrd="0" presId="urn:microsoft.com/office/officeart/2005/8/layout/process1"/>
    <dgm:cxn modelId="{EC5A004A-56E7-564F-BB38-2646443BEADA}" type="presOf" srcId="{43260C62-CE90-AE44-9A61-53379564756A}" destId="{08AD2B8F-8DFD-7A40-BD05-CC7C8EA8EDD7}" srcOrd="0" destOrd="0" presId="urn:microsoft.com/office/officeart/2005/8/layout/process1"/>
    <dgm:cxn modelId="{B245FA62-9FDA-E948-9B2E-255135C8FA54}" type="presOf" srcId="{11BC67F9-0199-F24E-A38F-1CCA4A4A0C9D}" destId="{EBBA027E-69CA-114A-AFEB-7C8D9257A7C8}" srcOrd="0" destOrd="0" presId="urn:microsoft.com/office/officeart/2005/8/layout/process1"/>
    <dgm:cxn modelId="{3050B863-3ADA-B646-832B-0056AC855D28}" type="presOf" srcId="{16D02CA9-95B0-894B-8C9E-8E9DC2E57551}" destId="{9485A4C4-A33E-F641-A31E-B64B9FCC8F5B}" srcOrd="0" destOrd="0" presId="urn:microsoft.com/office/officeart/2005/8/layout/process1"/>
    <dgm:cxn modelId="{D8DC896D-B278-E44E-B78F-F5A53F70DBE2}" srcId="{02D3BBF9-8FAC-5849-B7C8-68C2D8AD5F6E}" destId="{86BB9398-9FE8-0E49-AEEE-B4A13C173204}" srcOrd="0" destOrd="0" parTransId="{0AB71137-44C9-4448-9229-94DD3D74618B}" sibTransId="{FEB46A42-7D6B-D04B-8216-495F1F548AC9}"/>
    <dgm:cxn modelId="{075CC27D-358E-EC44-9C32-49B915AE25B9}" srcId="{02D3BBF9-8FAC-5849-B7C8-68C2D8AD5F6E}" destId="{16D02CA9-95B0-894B-8C9E-8E9DC2E57551}" srcOrd="1" destOrd="0" parTransId="{C2D4F6AE-C881-2043-9997-F8FEDBBF5DD9}" sibTransId="{43260C62-CE90-AE44-9A61-53379564756A}"/>
    <dgm:cxn modelId="{8408BEA7-F798-474E-A00E-189041315BA2}" type="presOf" srcId="{0547AE67-C91B-EF47-B496-37D898F6D015}" destId="{1EDDC202-B7FC-E248-B498-C3CA8B641CCB}" srcOrd="1" destOrd="0" presId="urn:microsoft.com/office/officeart/2005/8/layout/process1"/>
    <dgm:cxn modelId="{4694FAC2-B0AB-E94C-92B6-4CC1F609D728}" type="presOf" srcId="{8DEA4C69-ABD1-FF41-897C-EEEF535E4D14}" destId="{856D9CB4-BABB-EF49-9EFF-AF86AFAF2B41}" srcOrd="0" destOrd="0" presId="urn:microsoft.com/office/officeart/2005/8/layout/process1"/>
    <dgm:cxn modelId="{65A8A6CA-622F-A34D-A647-5B5A1440D59E}" type="presOf" srcId="{43260C62-CE90-AE44-9A61-53379564756A}" destId="{E4B873C4-2E61-954D-8389-41C0E4844B90}" srcOrd="1" destOrd="0" presId="urn:microsoft.com/office/officeart/2005/8/layout/process1"/>
    <dgm:cxn modelId="{16DE8AF5-DD26-1E4F-AF3B-3A97C758B5A1}" type="presOf" srcId="{86BB9398-9FE8-0E49-AEEE-B4A13C173204}" destId="{53385181-B734-B748-A085-53B860EF5E95}" srcOrd="0" destOrd="0" presId="urn:microsoft.com/office/officeart/2005/8/layout/process1"/>
    <dgm:cxn modelId="{8CFB81FD-4794-464F-B3B5-3A07D1A5DFB5}" srcId="{02D3BBF9-8FAC-5849-B7C8-68C2D8AD5F6E}" destId="{8DEA4C69-ABD1-FF41-897C-EEEF535E4D14}" srcOrd="2" destOrd="0" parTransId="{87789638-0703-CC43-B6D8-4DB358A85563}" sibTransId="{0547AE67-C91B-EF47-B496-37D898F6D015}"/>
    <dgm:cxn modelId="{9340F0FC-40E3-E745-BBA9-B76575DAFAFD}" type="presParOf" srcId="{651B54A4-1C44-A741-A54A-833A447D9C3D}" destId="{53385181-B734-B748-A085-53B860EF5E95}" srcOrd="0" destOrd="0" presId="urn:microsoft.com/office/officeart/2005/8/layout/process1"/>
    <dgm:cxn modelId="{5C2A5277-0D52-2340-B911-8B4B9E1B192E}" type="presParOf" srcId="{651B54A4-1C44-A741-A54A-833A447D9C3D}" destId="{82ED9B9E-DADF-6748-BA7C-A2A49F5CE0E1}" srcOrd="1" destOrd="0" presId="urn:microsoft.com/office/officeart/2005/8/layout/process1"/>
    <dgm:cxn modelId="{5D111131-0397-5C44-AE67-E7E4C73B6E60}" type="presParOf" srcId="{82ED9B9E-DADF-6748-BA7C-A2A49F5CE0E1}" destId="{64EDC76F-E246-5748-9D74-241195AE17D3}" srcOrd="0" destOrd="0" presId="urn:microsoft.com/office/officeart/2005/8/layout/process1"/>
    <dgm:cxn modelId="{2ED11BE2-F1F0-8246-8285-7D4BB3A66C59}" type="presParOf" srcId="{651B54A4-1C44-A741-A54A-833A447D9C3D}" destId="{9485A4C4-A33E-F641-A31E-B64B9FCC8F5B}" srcOrd="2" destOrd="0" presId="urn:microsoft.com/office/officeart/2005/8/layout/process1"/>
    <dgm:cxn modelId="{B879B4DE-BB18-6E43-9A2D-D69977CD1DA4}" type="presParOf" srcId="{651B54A4-1C44-A741-A54A-833A447D9C3D}" destId="{08AD2B8F-8DFD-7A40-BD05-CC7C8EA8EDD7}" srcOrd="3" destOrd="0" presId="urn:microsoft.com/office/officeart/2005/8/layout/process1"/>
    <dgm:cxn modelId="{5E41DCA6-81AF-1B48-94D2-22E05BA378E2}" type="presParOf" srcId="{08AD2B8F-8DFD-7A40-BD05-CC7C8EA8EDD7}" destId="{E4B873C4-2E61-954D-8389-41C0E4844B90}" srcOrd="0" destOrd="0" presId="urn:microsoft.com/office/officeart/2005/8/layout/process1"/>
    <dgm:cxn modelId="{08081F8F-64C6-A847-BDF6-741BFA7DEB87}" type="presParOf" srcId="{651B54A4-1C44-A741-A54A-833A447D9C3D}" destId="{856D9CB4-BABB-EF49-9EFF-AF86AFAF2B41}" srcOrd="4" destOrd="0" presId="urn:microsoft.com/office/officeart/2005/8/layout/process1"/>
    <dgm:cxn modelId="{0B5D4486-676E-8146-8C81-09292BE692CA}" type="presParOf" srcId="{651B54A4-1C44-A741-A54A-833A447D9C3D}" destId="{ADDA028C-33FD-3C47-AD61-7D92ED2A6DA2}" srcOrd="5" destOrd="0" presId="urn:microsoft.com/office/officeart/2005/8/layout/process1"/>
    <dgm:cxn modelId="{C5B73EB0-87CA-404D-97A7-8B2E3E3932FE}" type="presParOf" srcId="{ADDA028C-33FD-3C47-AD61-7D92ED2A6DA2}" destId="{1EDDC202-B7FC-E248-B498-C3CA8B641CCB}" srcOrd="0" destOrd="0" presId="urn:microsoft.com/office/officeart/2005/8/layout/process1"/>
    <dgm:cxn modelId="{B950393C-7EA3-844E-83AD-1876C364C206}" type="presParOf" srcId="{651B54A4-1C44-A741-A54A-833A447D9C3D}" destId="{EBBA027E-69CA-114A-AFEB-7C8D9257A7C8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385181-B734-B748-A085-53B860EF5E95}">
      <dsp:nvSpPr>
        <dsp:cNvPr id="0" name=""/>
        <dsp:cNvSpPr/>
      </dsp:nvSpPr>
      <dsp:spPr>
        <a:xfrm>
          <a:off x="10715" y="1642467"/>
          <a:ext cx="4685109" cy="281106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 dirty="0"/>
            <a:t>P2P</a:t>
          </a:r>
        </a:p>
      </dsp:txBody>
      <dsp:txXfrm>
        <a:off x="93048" y="1724800"/>
        <a:ext cx="4520443" cy="2646399"/>
      </dsp:txXfrm>
    </dsp:sp>
    <dsp:sp modelId="{82ED9B9E-DADF-6748-BA7C-A2A49F5CE0E1}">
      <dsp:nvSpPr>
        <dsp:cNvPr id="0" name=""/>
        <dsp:cNvSpPr/>
      </dsp:nvSpPr>
      <dsp:spPr>
        <a:xfrm>
          <a:off x="5164335" y="2467046"/>
          <a:ext cx="993243" cy="116190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100" kern="1200"/>
        </a:p>
      </dsp:txBody>
      <dsp:txXfrm>
        <a:off x="5164335" y="2699427"/>
        <a:ext cx="695270" cy="697145"/>
      </dsp:txXfrm>
    </dsp:sp>
    <dsp:sp modelId="{9485A4C4-A33E-F641-A31E-B64B9FCC8F5B}">
      <dsp:nvSpPr>
        <dsp:cNvPr id="0" name=""/>
        <dsp:cNvSpPr/>
      </dsp:nvSpPr>
      <dsp:spPr>
        <a:xfrm>
          <a:off x="6569868" y="1642467"/>
          <a:ext cx="4685109" cy="2811065"/>
        </a:xfrm>
        <a:prstGeom prst="roundRect">
          <a:avLst>
            <a:gd name="adj" fmla="val 10000"/>
          </a:avLst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 dirty="0"/>
            <a:t>Single-chunk Collective</a:t>
          </a:r>
        </a:p>
      </dsp:txBody>
      <dsp:txXfrm>
        <a:off x="6652201" y="1724800"/>
        <a:ext cx="4520443" cy="2646399"/>
      </dsp:txXfrm>
    </dsp:sp>
    <dsp:sp modelId="{08AD2B8F-8DFD-7A40-BD05-CC7C8EA8EDD7}">
      <dsp:nvSpPr>
        <dsp:cNvPr id="0" name=""/>
        <dsp:cNvSpPr/>
      </dsp:nvSpPr>
      <dsp:spPr>
        <a:xfrm>
          <a:off x="11723489" y="2467046"/>
          <a:ext cx="993243" cy="116190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100" kern="1200"/>
        </a:p>
      </dsp:txBody>
      <dsp:txXfrm>
        <a:off x="11723489" y="2699427"/>
        <a:ext cx="695270" cy="697145"/>
      </dsp:txXfrm>
    </dsp:sp>
    <dsp:sp modelId="{856D9CB4-BABB-EF49-9EFF-AF86AFAF2B41}">
      <dsp:nvSpPr>
        <dsp:cNvPr id="0" name=""/>
        <dsp:cNvSpPr/>
      </dsp:nvSpPr>
      <dsp:spPr>
        <a:xfrm>
          <a:off x="13129021" y="1642467"/>
          <a:ext cx="4685109" cy="2811065"/>
        </a:xfrm>
        <a:prstGeom prst="roundRect">
          <a:avLst>
            <a:gd name="adj" fmla="val 10000"/>
          </a:avLst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 dirty="0"/>
            <a:t>Multi-chunk Collective</a:t>
          </a:r>
        </a:p>
      </dsp:txBody>
      <dsp:txXfrm>
        <a:off x="13211354" y="1724800"/>
        <a:ext cx="4520443" cy="2646399"/>
      </dsp:txXfrm>
    </dsp:sp>
    <dsp:sp modelId="{ADDA028C-33FD-3C47-AD61-7D92ED2A6DA2}">
      <dsp:nvSpPr>
        <dsp:cNvPr id="0" name=""/>
        <dsp:cNvSpPr/>
      </dsp:nvSpPr>
      <dsp:spPr>
        <a:xfrm>
          <a:off x="18282642" y="2467046"/>
          <a:ext cx="993243" cy="116190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100" kern="1200"/>
        </a:p>
      </dsp:txBody>
      <dsp:txXfrm>
        <a:off x="18282642" y="2699427"/>
        <a:ext cx="695270" cy="697145"/>
      </dsp:txXfrm>
    </dsp:sp>
    <dsp:sp modelId="{EBBA027E-69CA-114A-AFEB-7C8D9257A7C8}">
      <dsp:nvSpPr>
        <dsp:cNvPr id="0" name=""/>
        <dsp:cNvSpPr/>
      </dsp:nvSpPr>
      <dsp:spPr>
        <a:xfrm>
          <a:off x="19688174" y="1642467"/>
          <a:ext cx="4685109" cy="2811065"/>
        </a:xfrm>
        <a:prstGeom prst="roundRect">
          <a:avLst>
            <a:gd name="adj" fmla="val 1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b="0" i="0" u="none" kern="1200"/>
            <a:t>Parameter Measurements</a:t>
          </a:r>
          <a:endParaRPr lang="en-US" sz="5200" kern="1200"/>
        </a:p>
      </dsp:txBody>
      <dsp:txXfrm>
        <a:off x="19770507" y="1724800"/>
        <a:ext cx="4520443" cy="26463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BD35A-5501-3E4B-AB26-27C982BC9728}" type="datetimeFigureOut">
              <a:rPr lang="en-US" smtClean="0"/>
              <a:t>8/6/25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85800" y="1143000"/>
            <a:ext cx="82296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889341-405A-0C4E-9CCD-FF07102A7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291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69a8aeeed4_4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85800" y="1143000"/>
            <a:ext cx="8229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4" name="Google Shape;584;g369a8aeeed4_4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g369a8aeeed4_4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/>
              <a:t>18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>
          <a:extLst>
            <a:ext uri="{FF2B5EF4-FFF2-40B4-BE49-F238E27FC236}">
              <a16:creationId xmlns:a16="http://schemas.microsoft.com/office/drawing/2014/main" id="{5FF36C29-757C-E186-91FD-3D06F4E24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69a8aeeed4_4_394:notes">
            <a:extLst>
              <a:ext uri="{FF2B5EF4-FFF2-40B4-BE49-F238E27FC236}">
                <a16:creationId xmlns:a16="http://schemas.microsoft.com/office/drawing/2014/main" id="{DCE5EA88-CC02-8E36-4591-34C718A163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685800" y="1143000"/>
            <a:ext cx="8229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5" name="Google Shape;605;g369a8aeeed4_4_394:notes">
            <a:extLst>
              <a:ext uri="{FF2B5EF4-FFF2-40B4-BE49-F238E27FC236}">
                <a16:creationId xmlns:a16="http://schemas.microsoft.com/office/drawing/2014/main" id="{8C70F9CE-79FD-5CC7-73FA-063FA06B9B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g369a8aeeed4_4_394:notes">
            <a:extLst>
              <a:ext uri="{FF2B5EF4-FFF2-40B4-BE49-F238E27FC236}">
                <a16:creationId xmlns:a16="http://schemas.microsoft.com/office/drawing/2014/main" id="{89FE189F-BC7F-94E4-AA09-AA8014C4289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89696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699c8b4adf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85800" y="1143000"/>
            <a:ext cx="8229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6" name="Google Shape;396;g3699c8b4adf_0_1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700">
                <a:solidFill>
                  <a:srgbClr val="0A0A0A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Nvidia: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sz="1700">
              <a:solidFill>
                <a:srgbClr val="0A0A0A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700">
                <a:solidFill>
                  <a:srgbClr val="0A0A0A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https://</a:t>
            </a:r>
            <a:r>
              <a:rPr lang="en-US" sz="1700" err="1">
                <a:solidFill>
                  <a:srgbClr val="0A0A0A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developer.nvidia.com</a:t>
            </a:r>
            <a:r>
              <a:rPr lang="en-US" sz="1700">
                <a:solidFill>
                  <a:srgbClr val="0A0A0A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/blog/accelerating-hpc-applications-with-nsight-compute-roofline-analysis/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sz="1700">
              <a:solidFill>
                <a:srgbClr val="0A0A0A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2400"/>
              <a:t>HPL (High Performance LINPACK): https://</a:t>
            </a:r>
            <a:r>
              <a:rPr lang="en-US" sz="2400" err="1"/>
              <a:t>arxiv.org</a:t>
            </a:r>
            <a:r>
              <a:rPr lang="en-US" sz="2400"/>
              <a:t>/pdf/2011.02617</a:t>
            </a: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br>
              <a:rPr lang="en" sz="1700">
                <a:solidFill>
                  <a:srgbClr val="0A0A0A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</a:br>
            <a:br>
              <a:rPr lang="en" sz="1700">
                <a:solidFill>
                  <a:srgbClr val="0A0A0A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</a:br>
            <a:r>
              <a:rPr lang="en" sz="1700">
                <a:solidFill>
                  <a:srgbClr val="0A0A0A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Simulation:</a:t>
            </a:r>
            <a:br>
              <a:rPr lang="en" sz="1700">
                <a:solidFill>
                  <a:srgbClr val="0A0A0A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</a:br>
            <a:r>
              <a:rPr lang="en-US" sz="1700">
                <a:solidFill>
                  <a:srgbClr val="0A0A0A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https://</a:t>
            </a:r>
            <a:r>
              <a:rPr lang="en-US" sz="1700" err="1">
                <a:solidFill>
                  <a:srgbClr val="0A0A0A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arxiv.org</a:t>
            </a:r>
            <a:r>
              <a:rPr lang="en-US" sz="1700">
                <a:solidFill>
                  <a:srgbClr val="0A0A0A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/html/2503.19050v1</a:t>
            </a:r>
            <a:br>
              <a:rPr lang="en" sz="1700">
                <a:solidFill>
                  <a:srgbClr val="0A0A0A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</a:br>
            <a:r>
              <a:rPr lang="en" sz="1700">
                <a:solidFill>
                  <a:srgbClr val="0A0A0A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https://1week.tistory.com/82</a:t>
            </a:r>
            <a:endParaRPr sz="1700">
              <a:solidFill>
                <a:srgbClr val="0A0A0A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700">
              <a:solidFill>
                <a:srgbClr val="0A0A0A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>
              <a:solidFill>
                <a:srgbClr val="0A0A0A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g3699c8b4adf_0_1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/>
              <a:t>21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0" y="2244726"/>
            <a:ext cx="27432000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7204076"/>
            <a:ext cx="2743200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3844-8107-594B-988D-52EAA47C335B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CA9F6-E8EE-FD45-AEA8-CA3DE1658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686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3844-8107-594B-988D-52EAA47C335B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CA9F6-E8EE-FD45-AEA8-CA3DE1658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55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5550" y="3419477"/>
            <a:ext cx="31546800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95550" y="9178927"/>
            <a:ext cx="31546800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3844-8107-594B-988D-52EAA47C335B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CA9F6-E8EE-FD45-AEA8-CA3DE1658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912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4600" y="3651250"/>
            <a:ext cx="155448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16600" y="3651250"/>
            <a:ext cx="155448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3844-8107-594B-988D-52EAA47C335B}" type="datetimeFigureOut">
              <a:rPr lang="en-US" smtClean="0"/>
              <a:t>8/6/25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CA9F6-E8EE-FD45-AEA8-CA3DE1658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50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730251"/>
            <a:ext cx="31546800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9366" y="3362326"/>
            <a:ext cx="15473361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9366" y="5010150"/>
            <a:ext cx="15473361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16600" y="3362326"/>
            <a:ext cx="15549564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16600" y="5010150"/>
            <a:ext cx="15549564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3844-8107-594B-988D-52EAA47C335B}" type="datetimeFigureOut">
              <a:rPr lang="en-US" smtClean="0"/>
              <a:t>8/6/25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CA9F6-E8EE-FD45-AEA8-CA3DE1658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546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3844-8107-594B-988D-52EAA47C335B}" type="datetimeFigureOut">
              <a:rPr lang="en-US" smtClean="0"/>
              <a:t>8/6/25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CA9F6-E8EE-FD45-AEA8-CA3DE1658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190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3844-8107-594B-988D-52EAA47C335B}" type="datetimeFigureOut">
              <a:rPr lang="en-US" smtClean="0"/>
              <a:t>8/6/25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CA9F6-E8EE-FD45-AEA8-CA3DE1658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2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6" y="914400"/>
            <a:ext cx="11796711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49564" y="1974851"/>
            <a:ext cx="18516600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6" y="4114800"/>
            <a:ext cx="11796711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3844-8107-594B-988D-52EAA47C335B}" type="datetimeFigureOut">
              <a:rPr lang="en-US" smtClean="0"/>
              <a:t>8/6/25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CA9F6-E8EE-FD45-AEA8-CA3DE1658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830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6" y="914400"/>
            <a:ext cx="11796711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549564" y="1974851"/>
            <a:ext cx="18516600" cy="9747250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6" y="4114800"/>
            <a:ext cx="11796711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3844-8107-594B-988D-52EAA47C335B}" type="datetimeFigureOut">
              <a:rPr lang="en-US" smtClean="0"/>
              <a:t>8/6/25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CA9F6-E8EE-FD45-AEA8-CA3DE1658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796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3844-8107-594B-988D-52EAA47C335B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CA9F6-E8EE-FD45-AEA8-CA3DE1658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593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174700" y="730250"/>
            <a:ext cx="7886700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14600" y="730250"/>
            <a:ext cx="23202900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3844-8107-594B-988D-52EAA47C335B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CA9F6-E8EE-FD45-AEA8-CA3DE1658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7393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userDrawn="1">
  <p:cSld name="1_Two Content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 txBox="1">
            <a:spLocks noGrp="1"/>
          </p:cNvSpPr>
          <p:nvPr>
            <p:ph type="body" idx="1"/>
          </p:nvPr>
        </p:nvSpPr>
        <p:spPr>
          <a:xfrm>
            <a:off x="1844710" y="2395992"/>
            <a:ext cx="16214692" cy="9957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1219215" lvl="0" indent="-846677" algn="l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2438430" lvl="1" indent="-846677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3657646" lvl="2" indent="-846677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❖"/>
              <a:defRPr/>
            </a:lvl3pPr>
            <a:lvl4pPr marL="4876861" lvl="3" indent="-846677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⮚"/>
              <a:defRPr/>
            </a:lvl4pPr>
            <a:lvl5pPr marL="6096076" lvl="4" indent="-846677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✔"/>
              <a:defRPr/>
            </a:lvl5pPr>
            <a:lvl6pPr marL="7315291" lvl="5" indent="-846677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8534507" lvl="6" indent="-846677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9753722" lvl="7" indent="-846677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10972937" lvl="8" indent="-846677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7" name="Google Shape;157;p27"/>
          <p:cNvSpPr txBox="1">
            <a:spLocks noGrp="1"/>
          </p:cNvSpPr>
          <p:nvPr>
            <p:ph type="body" idx="2"/>
          </p:nvPr>
        </p:nvSpPr>
        <p:spPr>
          <a:xfrm>
            <a:off x="18516598" y="2395992"/>
            <a:ext cx="16214668" cy="9957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1219215" lvl="0" indent="-846677" algn="l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2438430" lvl="1" indent="-846677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2pPr>
            <a:lvl3pPr marL="3657646" lvl="2" indent="-846677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❖"/>
              <a:defRPr/>
            </a:lvl3pPr>
            <a:lvl4pPr marL="4876861" lvl="3" indent="-846677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⮚"/>
              <a:defRPr/>
            </a:lvl4pPr>
            <a:lvl5pPr marL="6096076" lvl="4" indent="-846677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✔"/>
              <a:defRPr/>
            </a:lvl5pPr>
            <a:lvl6pPr marL="7315291" lvl="5" indent="-846677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8534507" lvl="6" indent="-846677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9753722" lvl="7" indent="-846677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10972937" lvl="8" indent="-846677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27"/>
          <p:cNvSpPr/>
          <p:nvPr/>
        </p:nvSpPr>
        <p:spPr>
          <a:xfrm>
            <a:off x="0" y="12985749"/>
            <a:ext cx="36576000" cy="730251"/>
          </a:xfrm>
          <a:prstGeom prst="rect">
            <a:avLst/>
          </a:prstGeom>
          <a:solidFill>
            <a:srgbClr val="0B2B50"/>
          </a:solidFill>
          <a:ln w="12700" cap="flat" cmpd="sng">
            <a:solidFill>
              <a:srgbClr val="0B2B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67" tIns="91400" rIns="182867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32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27"/>
          <p:cNvSpPr txBox="1">
            <a:spLocks noGrp="1"/>
          </p:cNvSpPr>
          <p:nvPr>
            <p:ph type="ftr" idx="11"/>
          </p:nvPr>
        </p:nvSpPr>
        <p:spPr>
          <a:xfrm>
            <a:off x="13972034" y="12985746"/>
            <a:ext cx="12148004" cy="730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None/>
              <a:defRPr sz="24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37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37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37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37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37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37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37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37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0" name="Google Shape;160;p27"/>
          <p:cNvSpPr txBox="1">
            <a:spLocks noGrp="1"/>
          </p:cNvSpPr>
          <p:nvPr>
            <p:ph type="sldNum" idx="12"/>
          </p:nvPr>
        </p:nvSpPr>
        <p:spPr>
          <a:xfrm>
            <a:off x="28227134" y="12985744"/>
            <a:ext cx="8348868" cy="730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2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2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2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2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2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2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2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2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spcBef>
                <a:spcPts val="0"/>
              </a:spcBef>
              <a:buClr>
                <a:schemeClr val="lt1"/>
              </a:buClr>
              <a:buSzPts val="900"/>
              <a:buFont typeface="Roboto"/>
              <a:buNone/>
              <a:defRPr sz="2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61" name="Google Shape;161;p27"/>
          <p:cNvSpPr txBox="1"/>
          <p:nvPr/>
        </p:nvSpPr>
        <p:spPr>
          <a:xfrm>
            <a:off x="109334" y="12985749"/>
            <a:ext cx="12940748" cy="730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67" tIns="91400" rIns="182867" bIns="91400" anchor="ctr" anchorCtr="0">
            <a:noAutofit/>
          </a:bodyPr>
          <a:lstStyle/>
          <a:p>
            <a:pPr marL="0" marR="0" lvl="0" indent="0" algn="l" defTabSz="24384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None/>
              <a:tabLst/>
              <a:defRPr/>
            </a:pPr>
            <a:r>
              <a:rPr lang="en" sz="2400" b="1" i="0" u="none" strike="noStrike" cap="none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AWS, </a:t>
            </a:r>
            <a:r>
              <a:rPr lang="en-US" sz="2400" b="1" i="0" u="none" strike="noStrike" cap="none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Annapurna Labs</a:t>
            </a:r>
          </a:p>
        </p:txBody>
      </p:sp>
      <p:sp>
        <p:nvSpPr>
          <p:cNvPr id="2" name="Google Shape;148;p26">
            <a:extLst>
              <a:ext uri="{FF2B5EF4-FFF2-40B4-BE49-F238E27FC236}">
                <a16:creationId xmlns:a16="http://schemas.microsoft.com/office/drawing/2014/main" id="{AFC616C8-FC12-D861-9CD3-DAEEBECDC4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44708" y="730253"/>
            <a:ext cx="3288656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2B50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93352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0" y="730251"/>
            <a:ext cx="315468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0" y="3651250"/>
            <a:ext cx="315468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46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723844-8107-594B-988D-52EAA47C335B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15800" y="12712701"/>
            <a:ext cx="12344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8318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7CA9F6-E8EE-FD45-AEA8-CA3DE1658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296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4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svg"/><Relationship Id="rId3" Type="http://schemas.openxmlformats.org/officeDocument/2006/relationships/image" Target="../media/image19.png"/><Relationship Id="rId7" Type="http://schemas.openxmlformats.org/officeDocument/2006/relationships/image" Target="../media/image23.svg"/><Relationship Id="rId12" Type="http://schemas.openxmlformats.org/officeDocument/2006/relationships/image" Target="../media/image28.png"/><Relationship Id="rId17" Type="http://schemas.openxmlformats.org/officeDocument/2006/relationships/image" Target="../media/image33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svg"/><Relationship Id="rId5" Type="http://schemas.openxmlformats.org/officeDocument/2006/relationships/image" Target="../media/image21.svg"/><Relationship Id="rId15" Type="http://schemas.openxmlformats.org/officeDocument/2006/relationships/image" Target="../media/image31.sv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svg"/><Relationship Id="rId1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svg"/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12" Type="http://schemas.openxmlformats.org/officeDocument/2006/relationships/image" Target="../media/image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11" Type="http://schemas.openxmlformats.org/officeDocument/2006/relationships/image" Target="../media/image29.svg"/><Relationship Id="rId5" Type="http://schemas.openxmlformats.org/officeDocument/2006/relationships/image" Target="../media/image23.svg"/><Relationship Id="rId15" Type="http://schemas.openxmlformats.org/officeDocument/2006/relationships/image" Target="../media/image33.sv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svg"/><Relationship Id="rId1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diagramColors" Target="../diagrams/colors1.xml"/><Relationship Id="rId3" Type="http://schemas.openxmlformats.org/officeDocument/2006/relationships/image" Target="../media/image240.png"/><Relationship Id="rId7" Type="http://schemas.openxmlformats.org/officeDocument/2006/relationships/image" Target="../media/image280.png"/><Relationship Id="rId12" Type="http://schemas.openxmlformats.org/officeDocument/2006/relationships/diagramQuickStyle" Target="../diagrams/quickStyle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diagramLayout" Target="../diagrams/layout1.xml"/><Relationship Id="rId5" Type="http://schemas.openxmlformats.org/officeDocument/2006/relationships/image" Target="../media/image260.png"/><Relationship Id="rId10" Type="http://schemas.openxmlformats.org/officeDocument/2006/relationships/diagramData" Target="../diagrams/data1.xml"/><Relationship Id="rId4" Type="http://schemas.openxmlformats.org/officeDocument/2006/relationships/image" Target="../media/image25.png"/><Relationship Id="rId9" Type="http://schemas.openxmlformats.org/officeDocument/2006/relationships/image" Target="../media/image35.png"/><Relationship Id="rId14" Type="http://schemas.microsoft.com/office/2007/relationships/diagramDrawing" Target="../diagrams/drawin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CAC5995-FF30-DB07-E209-322B31E9F74A}"/>
              </a:ext>
            </a:extLst>
          </p:cNvPr>
          <p:cNvCxnSpPr>
            <a:cxnSpLocks/>
          </p:cNvCxnSpPr>
          <p:nvPr/>
        </p:nvCxnSpPr>
        <p:spPr>
          <a:xfrm>
            <a:off x="13305262" y="4867507"/>
            <a:ext cx="100584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E0114B-9EF1-606D-A97A-DF39ED872D90}"/>
              </a:ext>
            </a:extLst>
          </p:cNvPr>
          <p:cNvCxnSpPr>
            <a:cxnSpLocks/>
          </p:cNvCxnSpPr>
          <p:nvPr/>
        </p:nvCxnSpPr>
        <p:spPr>
          <a:xfrm>
            <a:off x="13305262" y="5180415"/>
            <a:ext cx="100584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4DE8539-AC74-D062-3A20-48046329E487}"/>
              </a:ext>
            </a:extLst>
          </p:cNvPr>
          <p:cNvCxnSpPr>
            <a:cxnSpLocks/>
          </p:cNvCxnSpPr>
          <p:nvPr/>
        </p:nvCxnSpPr>
        <p:spPr>
          <a:xfrm>
            <a:off x="13305262" y="5493323"/>
            <a:ext cx="100584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87FAB2B-A307-3624-9320-C3CD9F96AF83}"/>
              </a:ext>
            </a:extLst>
          </p:cNvPr>
          <p:cNvSpPr txBox="1"/>
          <p:nvPr/>
        </p:nvSpPr>
        <p:spPr>
          <a:xfrm>
            <a:off x="12723236" y="4997351"/>
            <a:ext cx="626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CPU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501870-BA32-6DE5-0CB2-576EB17201BF}"/>
              </a:ext>
            </a:extLst>
          </p:cNvPr>
          <p:cNvSpPr txBox="1"/>
          <p:nvPr/>
        </p:nvSpPr>
        <p:spPr>
          <a:xfrm>
            <a:off x="12723236" y="4682841"/>
            <a:ext cx="626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GPU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D588FD-7470-6629-723E-BF48EB4FB01B}"/>
              </a:ext>
            </a:extLst>
          </p:cNvPr>
          <p:cNvSpPr txBox="1"/>
          <p:nvPr/>
        </p:nvSpPr>
        <p:spPr>
          <a:xfrm>
            <a:off x="12772663" y="5308657"/>
            <a:ext cx="527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NIC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A8AF62-7FFD-EB1E-E369-12B009C71622}"/>
              </a:ext>
            </a:extLst>
          </p:cNvPr>
          <p:cNvSpPr/>
          <p:nvPr/>
        </p:nvSpPr>
        <p:spPr>
          <a:xfrm>
            <a:off x="13403542" y="5046940"/>
            <a:ext cx="374006" cy="2841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  <a:r>
              <a:rPr lang="en-US" baseline="-25000" dirty="0"/>
              <a:t>i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D2846C2-BB92-DD1B-7A9C-3C3169981964}"/>
              </a:ext>
            </a:extLst>
          </p:cNvPr>
          <p:cNvCxnSpPr>
            <a:cxnSpLocks/>
          </p:cNvCxnSpPr>
          <p:nvPr/>
        </p:nvCxnSpPr>
        <p:spPr>
          <a:xfrm>
            <a:off x="13271807" y="6306015"/>
            <a:ext cx="100584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A4C1572-D728-5C11-4B57-901A874E5A2D}"/>
              </a:ext>
            </a:extLst>
          </p:cNvPr>
          <p:cNvCxnSpPr>
            <a:cxnSpLocks/>
          </p:cNvCxnSpPr>
          <p:nvPr/>
        </p:nvCxnSpPr>
        <p:spPr>
          <a:xfrm>
            <a:off x="13271807" y="6618923"/>
            <a:ext cx="100584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3273FD9-EEBF-EF6D-4D60-08540B6060DF}"/>
              </a:ext>
            </a:extLst>
          </p:cNvPr>
          <p:cNvCxnSpPr>
            <a:cxnSpLocks/>
          </p:cNvCxnSpPr>
          <p:nvPr/>
        </p:nvCxnSpPr>
        <p:spPr>
          <a:xfrm>
            <a:off x="13271807" y="6931831"/>
            <a:ext cx="100584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9CC6192-E692-AF4A-F5D8-6C3341E35200}"/>
              </a:ext>
            </a:extLst>
          </p:cNvPr>
          <p:cNvSpPr txBox="1"/>
          <p:nvPr/>
        </p:nvSpPr>
        <p:spPr>
          <a:xfrm>
            <a:off x="12723236" y="6435859"/>
            <a:ext cx="626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CPU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4E30EBC-66F2-39B3-5A7F-AE467205180D}"/>
              </a:ext>
            </a:extLst>
          </p:cNvPr>
          <p:cNvSpPr txBox="1"/>
          <p:nvPr/>
        </p:nvSpPr>
        <p:spPr>
          <a:xfrm>
            <a:off x="12723236" y="6121349"/>
            <a:ext cx="626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NIC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1DB7174-A0A4-BF88-F368-8E6C6AA86E86}"/>
              </a:ext>
            </a:extLst>
          </p:cNvPr>
          <p:cNvSpPr txBox="1"/>
          <p:nvPr/>
        </p:nvSpPr>
        <p:spPr>
          <a:xfrm>
            <a:off x="12723236" y="6747165"/>
            <a:ext cx="626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GPU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C15421E-03E7-9F5E-1638-B84BFCBEDDE3}"/>
              </a:ext>
            </a:extLst>
          </p:cNvPr>
          <p:cNvSpPr/>
          <p:nvPr/>
        </p:nvSpPr>
        <p:spPr>
          <a:xfrm>
            <a:off x="13370087" y="6479639"/>
            <a:ext cx="374006" cy="2841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  <a:r>
              <a:rPr lang="en-US" baseline="-25000" dirty="0"/>
              <a:t>i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53B708D-CDBA-EFE2-2398-21E26CE68A16}"/>
              </a:ext>
            </a:extLst>
          </p:cNvPr>
          <p:cNvSpPr/>
          <p:nvPr/>
        </p:nvSpPr>
        <p:spPr>
          <a:xfrm>
            <a:off x="13777548" y="5046940"/>
            <a:ext cx="374006" cy="2841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  <a:r>
              <a:rPr lang="en-US" baseline="-25000" dirty="0"/>
              <a:t>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A636C9D-50C1-867B-804D-35CD7B898C0B}"/>
              </a:ext>
            </a:extLst>
          </p:cNvPr>
          <p:cNvSpPr/>
          <p:nvPr/>
        </p:nvSpPr>
        <p:spPr>
          <a:xfrm>
            <a:off x="14151557" y="5046940"/>
            <a:ext cx="491237" cy="2841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O</a:t>
            </a:r>
            <a:r>
              <a:rPr lang="en-US" baseline="-25000" dirty="0" err="1"/>
              <a:t>sc</a:t>
            </a:r>
            <a:endParaRPr lang="en-US" baseline="-250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E96AECB-53C4-905C-A5DE-FEB28BD65FD4}"/>
              </a:ext>
            </a:extLst>
          </p:cNvPr>
          <p:cNvSpPr/>
          <p:nvPr/>
        </p:nvSpPr>
        <p:spPr>
          <a:xfrm>
            <a:off x="14648168" y="5330792"/>
            <a:ext cx="848572" cy="2841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G*s</a:t>
            </a:r>
            <a:endParaRPr lang="en-US" baseline="-250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D62032E-3A08-F81C-FC86-F531EFA86CAD}"/>
              </a:ext>
            </a:extLst>
          </p:cNvPr>
          <p:cNvSpPr/>
          <p:nvPr/>
        </p:nvSpPr>
        <p:spPr>
          <a:xfrm>
            <a:off x="14645619" y="5046940"/>
            <a:ext cx="492244" cy="2841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O</a:t>
            </a:r>
            <a:r>
              <a:rPr lang="en-US" baseline="-25000" dirty="0" err="1"/>
              <a:t>sc</a:t>
            </a:r>
            <a:endParaRPr lang="en-US" baseline="-250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CE9B5FF-A745-BAE6-AA1F-DC5CED974111}"/>
              </a:ext>
            </a:extLst>
          </p:cNvPr>
          <p:cNvSpPr/>
          <p:nvPr/>
        </p:nvSpPr>
        <p:spPr>
          <a:xfrm>
            <a:off x="15140691" y="5046940"/>
            <a:ext cx="492244" cy="2841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O</a:t>
            </a:r>
            <a:r>
              <a:rPr lang="en-US" baseline="-25000" dirty="0" err="1"/>
              <a:t>sc</a:t>
            </a:r>
            <a:endParaRPr lang="en-US" baseline="-250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C83098A-C5CB-4CD6-138F-CA572590A9F5}"/>
              </a:ext>
            </a:extLst>
          </p:cNvPr>
          <p:cNvSpPr/>
          <p:nvPr/>
        </p:nvSpPr>
        <p:spPr>
          <a:xfrm>
            <a:off x="15635763" y="5046940"/>
            <a:ext cx="492244" cy="2841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O</a:t>
            </a:r>
            <a:r>
              <a:rPr lang="en-US" baseline="-25000" dirty="0" err="1"/>
              <a:t>sc</a:t>
            </a:r>
            <a:endParaRPr lang="en-US" baseline="-250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54DEA30-5306-0751-2486-6DA4A39827B3}"/>
              </a:ext>
            </a:extLst>
          </p:cNvPr>
          <p:cNvSpPr/>
          <p:nvPr/>
        </p:nvSpPr>
        <p:spPr>
          <a:xfrm>
            <a:off x="16130835" y="5046940"/>
            <a:ext cx="492244" cy="2841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O</a:t>
            </a:r>
            <a:r>
              <a:rPr lang="en-US" baseline="-25000" dirty="0" err="1"/>
              <a:t>sc</a:t>
            </a:r>
            <a:endParaRPr lang="en-US" baseline="-250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D132FBB-FC66-DC30-9B44-E216606BADBA}"/>
              </a:ext>
            </a:extLst>
          </p:cNvPr>
          <p:cNvSpPr/>
          <p:nvPr/>
        </p:nvSpPr>
        <p:spPr>
          <a:xfrm>
            <a:off x="16625907" y="5046940"/>
            <a:ext cx="492244" cy="2841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O</a:t>
            </a:r>
            <a:r>
              <a:rPr lang="en-US" baseline="-25000" dirty="0" err="1"/>
              <a:t>sc</a:t>
            </a:r>
            <a:endParaRPr lang="en-US" baseline="-250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1A9951E-45BF-C932-569E-2B62728F4FD3}"/>
              </a:ext>
            </a:extLst>
          </p:cNvPr>
          <p:cNvSpPr/>
          <p:nvPr/>
        </p:nvSpPr>
        <p:spPr>
          <a:xfrm>
            <a:off x="17120979" y="5046940"/>
            <a:ext cx="492244" cy="2841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O</a:t>
            </a:r>
            <a:r>
              <a:rPr lang="en-US" baseline="-25000" dirty="0" err="1"/>
              <a:t>sc</a:t>
            </a:r>
            <a:endParaRPr lang="en-US" baseline="-250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78400FC-9008-B705-C084-8C87D73563E7}"/>
              </a:ext>
            </a:extLst>
          </p:cNvPr>
          <p:cNvSpPr/>
          <p:nvPr/>
        </p:nvSpPr>
        <p:spPr>
          <a:xfrm>
            <a:off x="17616054" y="5046940"/>
            <a:ext cx="492244" cy="2841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O</a:t>
            </a:r>
            <a:r>
              <a:rPr lang="en-US" baseline="-25000" dirty="0" err="1"/>
              <a:t>sc</a:t>
            </a:r>
            <a:endParaRPr lang="en-US" baseline="-250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4DF807E-719F-7725-D3F0-05699563B75D}"/>
              </a:ext>
            </a:extLst>
          </p:cNvPr>
          <p:cNvSpPr/>
          <p:nvPr/>
        </p:nvSpPr>
        <p:spPr>
          <a:xfrm>
            <a:off x="15494742" y="5330792"/>
            <a:ext cx="848572" cy="2841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G*s</a:t>
            </a:r>
            <a:endParaRPr lang="en-US" baseline="-250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7065393-1559-D3B0-FB6E-432B1F76B2DD}"/>
              </a:ext>
            </a:extLst>
          </p:cNvPr>
          <p:cNvSpPr/>
          <p:nvPr/>
        </p:nvSpPr>
        <p:spPr>
          <a:xfrm>
            <a:off x="16341316" y="5330792"/>
            <a:ext cx="848572" cy="2841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G*s</a:t>
            </a:r>
            <a:endParaRPr lang="en-US" baseline="-250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536F717-D04C-E7EF-E92F-65E770295E27}"/>
              </a:ext>
            </a:extLst>
          </p:cNvPr>
          <p:cNvSpPr/>
          <p:nvPr/>
        </p:nvSpPr>
        <p:spPr>
          <a:xfrm>
            <a:off x="17187890" y="5330792"/>
            <a:ext cx="848572" cy="2841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G*s</a:t>
            </a:r>
            <a:endParaRPr lang="en-US" baseline="-2500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8EAA346-4625-2737-D1B1-65B656160D9B}"/>
              </a:ext>
            </a:extLst>
          </p:cNvPr>
          <p:cNvSpPr/>
          <p:nvPr/>
        </p:nvSpPr>
        <p:spPr>
          <a:xfrm>
            <a:off x="18034464" y="5330792"/>
            <a:ext cx="848572" cy="2841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G*s</a:t>
            </a:r>
            <a:endParaRPr lang="en-US" baseline="-2500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D326811-783D-E213-FA72-280122D8D57E}"/>
              </a:ext>
            </a:extLst>
          </p:cNvPr>
          <p:cNvSpPr/>
          <p:nvPr/>
        </p:nvSpPr>
        <p:spPr>
          <a:xfrm>
            <a:off x="18881038" y="5330792"/>
            <a:ext cx="848572" cy="2841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G*s</a:t>
            </a:r>
            <a:endParaRPr lang="en-US" baseline="-2500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06931F5-547F-8417-6835-EF12AFB76FD1}"/>
              </a:ext>
            </a:extLst>
          </p:cNvPr>
          <p:cNvSpPr/>
          <p:nvPr/>
        </p:nvSpPr>
        <p:spPr>
          <a:xfrm>
            <a:off x="19727612" y="5330792"/>
            <a:ext cx="848572" cy="2841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G*s</a:t>
            </a:r>
            <a:endParaRPr lang="en-US" baseline="-2500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1AD9CA3-5427-5E00-02F7-91C88CED87ED}"/>
              </a:ext>
            </a:extLst>
          </p:cNvPr>
          <p:cNvSpPr/>
          <p:nvPr/>
        </p:nvSpPr>
        <p:spPr>
          <a:xfrm>
            <a:off x="20574184" y="5330792"/>
            <a:ext cx="848572" cy="2841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G*s</a:t>
            </a:r>
            <a:endParaRPr lang="en-US" baseline="-25000" dirty="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C7BAFAB-5D97-3C87-D054-44E6999ADD58}"/>
              </a:ext>
            </a:extLst>
          </p:cNvPr>
          <p:cNvCxnSpPr/>
          <p:nvPr/>
        </p:nvCxnSpPr>
        <p:spPr>
          <a:xfrm>
            <a:off x="14642791" y="5614915"/>
            <a:ext cx="616874" cy="69110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19676E6F-9624-11B9-4506-31EAA7080C8B}"/>
              </a:ext>
            </a:extLst>
          </p:cNvPr>
          <p:cNvSpPr txBox="1"/>
          <p:nvPr/>
        </p:nvSpPr>
        <p:spPr>
          <a:xfrm>
            <a:off x="14627144" y="6314513"/>
            <a:ext cx="626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8F14748-A625-B1E1-0D43-2CA2BED4215B}"/>
              </a:ext>
            </a:extLst>
          </p:cNvPr>
          <p:cNvCxnSpPr>
            <a:cxnSpLocks/>
          </p:cNvCxnSpPr>
          <p:nvPr/>
        </p:nvCxnSpPr>
        <p:spPr>
          <a:xfrm>
            <a:off x="14642791" y="5614912"/>
            <a:ext cx="2828" cy="864724"/>
          </a:xfrm>
          <a:prstGeom prst="line">
            <a:avLst/>
          </a:prstGeom>
          <a:ln w="254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3AE8648-B0F7-A926-2076-9E2E581BFCC9}"/>
              </a:ext>
            </a:extLst>
          </p:cNvPr>
          <p:cNvCxnSpPr>
            <a:cxnSpLocks/>
          </p:cNvCxnSpPr>
          <p:nvPr/>
        </p:nvCxnSpPr>
        <p:spPr>
          <a:xfrm>
            <a:off x="15258597" y="6301724"/>
            <a:ext cx="0" cy="177912"/>
          </a:xfrm>
          <a:prstGeom prst="line">
            <a:avLst/>
          </a:prstGeom>
          <a:ln w="254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B1938DF-7B44-8D34-6708-4DFBC34405A1}"/>
              </a:ext>
            </a:extLst>
          </p:cNvPr>
          <p:cNvCxnSpPr>
            <a:cxnSpLocks/>
          </p:cNvCxnSpPr>
          <p:nvPr/>
        </p:nvCxnSpPr>
        <p:spPr>
          <a:xfrm>
            <a:off x="14639174" y="6397719"/>
            <a:ext cx="614046" cy="1263"/>
          </a:xfrm>
          <a:prstGeom prst="straightConnector1">
            <a:avLst/>
          </a:prstGeom>
          <a:ln w="25400"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470D83E0-B11A-774A-AF66-62FF77A17E23}"/>
              </a:ext>
            </a:extLst>
          </p:cNvPr>
          <p:cNvSpPr/>
          <p:nvPr/>
        </p:nvSpPr>
        <p:spPr>
          <a:xfrm>
            <a:off x="13744093" y="6479639"/>
            <a:ext cx="374006" cy="2841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  <a:r>
              <a:rPr lang="en-US" baseline="-25000" dirty="0"/>
              <a:t>l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740AE97-9CEB-823C-DC48-D7A02ADCEFA3}"/>
              </a:ext>
            </a:extLst>
          </p:cNvPr>
          <p:cNvCxnSpPr/>
          <p:nvPr/>
        </p:nvCxnSpPr>
        <p:spPr>
          <a:xfrm>
            <a:off x="15499799" y="5610624"/>
            <a:ext cx="616874" cy="69110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EB694B1-2B46-7A11-775F-C0CD49E472E9}"/>
              </a:ext>
            </a:extLst>
          </p:cNvPr>
          <p:cNvCxnSpPr/>
          <p:nvPr/>
        </p:nvCxnSpPr>
        <p:spPr>
          <a:xfrm>
            <a:off x="16344373" y="5614733"/>
            <a:ext cx="616874" cy="69110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5A508CEF-B338-86EA-C769-84654BF98118}"/>
              </a:ext>
            </a:extLst>
          </p:cNvPr>
          <p:cNvCxnSpPr/>
          <p:nvPr/>
        </p:nvCxnSpPr>
        <p:spPr>
          <a:xfrm>
            <a:off x="17188947" y="5619967"/>
            <a:ext cx="616874" cy="69110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F3C9E78-13E1-F6B0-8FFC-2AF403D77D6A}"/>
              </a:ext>
            </a:extLst>
          </p:cNvPr>
          <p:cNvCxnSpPr/>
          <p:nvPr/>
        </p:nvCxnSpPr>
        <p:spPr>
          <a:xfrm>
            <a:off x="18034818" y="5614733"/>
            <a:ext cx="616874" cy="69110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39FB9D82-ADAF-D91F-8159-81B62A64E80A}"/>
              </a:ext>
            </a:extLst>
          </p:cNvPr>
          <p:cNvCxnSpPr/>
          <p:nvPr/>
        </p:nvCxnSpPr>
        <p:spPr>
          <a:xfrm>
            <a:off x="18878007" y="5617441"/>
            <a:ext cx="616874" cy="69110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31756070-24DA-F53C-E0CA-CC42EE3C64B4}"/>
              </a:ext>
            </a:extLst>
          </p:cNvPr>
          <p:cNvCxnSpPr/>
          <p:nvPr/>
        </p:nvCxnSpPr>
        <p:spPr>
          <a:xfrm>
            <a:off x="19724581" y="5617441"/>
            <a:ext cx="616874" cy="69110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55EAE10C-5587-7E9B-A208-D885BED03D24}"/>
              </a:ext>
            </a:extLst>
          </p:cNvPr>
          <p:cNvCxnSpPr/>
          <p:nvPr/>
        </p:nvCxnSpPr>
        <p:spPr>
          <a:xfrm>
            <a:off x="20569155" y="5617440"/>
            <a:ext cx="616874" cy="69110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9D09E602-FB56-9C80-E0E0-D5A29068AE9C}"/>
              </a:ext>
            </a:extLst>
          </p:cNvPr>
          <p:cNvCxnSpPr/>
          <p:nvPr/>
        </p:nvCxnSpPr>
        <p:spPr>
          <a:xfrm>
            <a:off x="21415727" y="5610624"/>
            <a:ext cx="616874" cy="69110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C9A3D193-8768-E4D2-E7FF-9D0EC24AADF4}"/>
              </a:ext>
            </a:extLst>
          </p:cNvPr>
          <p:cNvCxnSpPr>
            <a:cxnSpLocks/>
          </p:cNvCxnSpPr>
          <p:nvPr/>
        </p:nvCxnSpPr>
        <p:spPr>
          <a:xfrm flipV="1">
            <a:off x="22032604" y="5175367"/>
            <a:ext cx="226317" cy="1139149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260ED6C7-7022-A522-C866-675F47015AFE}"/>
              </a:ext>
            </a:extLst>
          </p:cNvPr>
          <p:cNvSpPr/>
          <p:nvPr/>
        </p:nvSpPr>
        <p:spPr>
          <a:xfrm>
            <a:off x="22267330" y="5041980"/>
            <a:ext cx="492244" cy="2841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  <a:r>
              <a:rPr lang="en-US" baseline="-25000" dirty="0"/>
              <a:t>f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6AF6821-63DF-350B-4436-560B117A77F8}"/>
              </a:ext>
            </a:extLst>
          </p:cNvPr>
          <p:cNvSpPr txBox="1"/>
          <p:nvPr/>
        </p:nvSpPr>
        <p:spPr>
          <a:xfrm>
            <a:off x="22025572" y="5741310"/>
            <a:ext cx="626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FIN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B22A00EC-4703-7ACB-4277-55167BBA1002}"/>
              </a:ext>
            </a:extLst>
          </p:cNvPr>
          <p:cNvSpPr/>
          <p:nvPr/>
        </p:nvSpPr>
        <p:spPr>
          <a:xfrm>
            <a:off x="14213044" y="4701869"/>
            <a:ext cx="368261" cy="284123"/>
          </a:xfrm>
          <a:prstGeom prst="rect">
            <a:avLst/>
          </a:prstGeom>
          <a:pattFill prst="wdUpDiag">
            <a:fgClr>
              <a:srgbClr val="92D050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98BBDC3-D4A3-7AC3-59E8-7FBFF0CEF3B4}"/>
              </a:ext>
            </a:extLst>
          </p:cNvPr>
          <p:cNvSpPr/>
          <p:nvPr/>
        </p:nvSpPr>
        <p:spPr>
          <a:xfrm>
            <a:off x="14707574" y="4701869"/>
            <a:ext cx="368261" cy="284123"/>
          </a:xfrm>
          <a:prstGeom prst="rect">
            <a:avLst/>
          </a:prstGeom>
          <a:pattFill prst="wdUpDiag">
            <a:fgClr>
              <a:srgbClr val="92D050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16C48EE9-842D-2BCF-6462-C6B5F92D56AD}"/>
              </a:ext>
            </a:extLst>
          </p:cNvPr>
          <p:cNvSpPr/>
          <p:nvPr/>
        </p:nvSpPr>
        <p:spPr>
          <a:xfrm>
            <a:off x="15202104" y="4701869"/>
            <a:ext cx="368261" cy="284123"/>
          </a:xfrm>
          <a:prstGeom prst="rect">
            <a:avLst/>
          </a:prstGeom>
          <a:pattFill prst="wdUpDiag">
            <a:fgClr>
              <a:srgbClr val="92D050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E697A4CC-0714-0933-A643-4234A6747CEE}"/>
              </a:ext>
            </a:extLst>
          </p:cNvPr>
          <p:cNvSpPr/>
          <p:nvPr/>
        </p:nvSpPr>
        <p:spPr>
          <a:xfrm>
            <a:off x="15696634" y="4701869"/>
            <a:ext cx="368261" cy="284123"/>
          </a:xfrm>
          <a:prstGeom prst="rect">
            <a:avLst/>
          </a:prstGeom>
          <a:pattFill prst="wdUpDiag">
            <a:fgClr>
              <a:srgbClr val="92D050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4A3BEA07-DE25-EA8E-660E-2799CD25516A}"/>
              </a:ext>
            </a:extLst>
          </p:cNvPr>
          <p:cNvSpPr/>
          <p:nvPr/>
        </p:nvSpPr>
        <p:spPr>
          <a:xfrm>
            <a:off x="16191164" y="4701869"/>
            <a:ext cx="368261" cy="284123"/>
          </a:xfrm>
          <a:prstGeom prst="rect">
            <a:avLst/>
          </a:prstGeom>
          <a:pattFill prst="wdUpDiag">
            <a:fgClr>
              <a:srgbClr val="92D050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F33D5AB-C120-1489-33A6-1AEFCA36FFC7}"/>
              </a:ext>
            </a:extLst>
          </p:cNvPr>
          <p:cNvSpPr/>
          <p:nvPr/>
        </p:nvSpPr>
        <p:spPr>
          <a:xfrm>
            <a:off x="16685694" y="4701869"/>
            <a:ext cx="368261" cy="284123"/>
          </a:xfrm>
          <a:prstGeom prst="rect">
            <a:avLst/>
          </a:prstGeom>
          <a:pattFill prst="wdUpDiag">
            <a:fgClr>
              <a:srgbClr val="92D050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5D1DD97-A722-0675-2BF8-8375DFDB87D2}"/>
              </a:ext>
            </a:extLst>
          </p:cNvPr>
          <p:cNvSpPr/>
          <p:nvPr/>
        </p:nvSpPr>
        <p:spPr>
          <a:xfrm>
            <a:off x="17180224" y="4701869"/>
            <a:ext cx="368261" cy="284123"/>
          </a:xfrm>
          <a:prstGeom prst="rect">
            <a:avLst/>
          </a:prstGeom>
          <a:pattFill prst="wdUpDiag">
            <a:fgClr>
              <a:srgbClr val="92D050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BFF0C28-7C64-3664-4652-DCCF6718C2F5}"/>
              </a:ext>
            </a:extLst>
          </p:cNvPr>
          <p:cNvSpPr/>
          <p:nvPr/>
        </p:nvSpPr>
        <p:spPr>
          <a:xfrm>
            <a:off x="17674757" y="4701869"/>
            <a:ext cx="368261" cy="284123"/>
          </a:xfrm>
          <a:prstGeom prst="rect">
            <a:avLst/>
          </a:prstGeom>
          <a:pattFill prst="wdUpDiag">
            <a:fgClr>
              <a:srgbClr val="92D050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D2B8F82-9128-87D5-4B62-9566D086C0AE}"/>
              </a:ext>
            </a:extLst>
          </p:cNvPr>
          <p:cNvSpPr/>
          <p:nvPr/>
        </p:nvSpPr>
        <p:spPr>
          <a:xfrm>
            <a:off x="12792104" y="4245311"/>
            <a:ext cx="368261" cy="284123"/>
          </a:xfrm>
          <a:prstGeom prst="rect">
            <a:avLst/>
          </a:prstGeom>
          <a:pattFill prst="wdUpDiag">
            <a:fgClr>
              <a:srgbClr val="92D050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9F10709-9A40-50A5-DF6F-78DB43D76ED6}"/>
              </a:ext>
            </a:extLst>
          </p:cNvPr>
          <p:cNvSpPr txBox="1"/>
          <p:nvPr/>
        </p:nvSpPr>
        <p:spPr>
          <a:xfrm>
            <a:off x="13178789" y="4178606"/>
            <a:ext cx="338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GPU Prepare data: reduce or copy 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1C0BC20-4208-78DA-CA77-D40512BF4F82}"/>
              </a:ext>
            </a:extLst>
          </p:cNvPr>
          <p:cNvSpPr/>
          <p:nvPr/>
        </p:nvSpPr>
        <p:spPr>
          <a:xfrm>
            <a:off x="16685691" y="4217122"/>
            <a:ext cx="374006" cy="2841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  <a:r>
              <a:rPr lang="en-US" baseline="-25000" dirty="0"/>
              <a:t>i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06B2C93-BDF5-E556-D1DE-A9119D350DC7}"/>
              </a:ext>
            </a:extLst>
          </p:cNvPr>
          <p:cNvSpPr txBox="1"/>
          <p:nvPr/>
        </p:nvSpPr>
        <p:spPr>
          <a:xfrm>
            <a:off x="17053952" y="4171649"/>
            <a:ext cx="3883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NCCL initialization: </a:t>
            </a:r>
            <a:r>
              <a:rPr lang="en-US" dirty="0" err="1"/>
              <a:t>ncclCommInitRank</a:t>
            </a:r>
            <a:r>
              <a:rPr lang="en-US" dirty="0"/>
              <a:t>()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A375E5C-556A-4BE8-7AE3-2221073B6161}"/>
              </a:ext>
            </a:extLst>
          </p:cNvPr>
          <p:cNvSpPr/>
          <p:nvPr/>
        </p:nvSpPr>
        <p:spPr>
          <a:xfrm>
            <a:off x="12792101" y="7368025"/>
            <a:ext cx="374006" cy="2841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  <a:r>
              <a:rPr lang="en-US" baseline="-25000" dirty="0"/>
              <a:t>l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EFBCDE0-DF5B-8562-158D-2C0D879ADBB0}"/>
              </a:ext>
            </a:extLst>
          </p:cNvPr>
          <p:cNvSpPr txBox="1"/>
          <p:nvPr/>
        </p:nvSpPr>
        <p:spPr>
          <a:xfrm>
            <a:off x="12974832" y="7328926"/>
            <a:ext cx="3883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NCCL launch </a:t>
            </a:r>
            <a:r>
              <a:rPr lang="en-US" dirty="0" err="1"/>
              <a:t>cuda</a:t>
            </a:r>
            <a:r>
              <a:rPr lang="en-US" dirty="0"/>
              <a:t> kernel and proxy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4DAE452-6CBD-2773-F826-4A1F3F53D904}"/>
              </a:ext>
            </a:extLst>
          </p:cNvPr>
          <p:cNvSpPr/>
          <p:nvPr/>
        </p:nvSpPr>
        <p:spPr>
          <a:xfrm>
            <a:off x="16803760" y="7368025"/>
            <a:ext cx="505669" cy="2841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O</a:t>
            </a:r>
            <a:r>
              <a:rPr lang="en-US" baseline="-25000" dirty="0" err="1"/>
              <a:t>sc</a:t>
            </a:r>
            <a:endParaRPr lang="en-US" baseline="-25000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2CF7C36-F309-45FB-86BF-70DDD50DCC0E}"/>
              </a:ext>
            </a:extLst>
          </p:cNvPr>
          <p:cNvSpPr txBox="1"/>
          <p:nvPr/>
        </p:nvSpPr>
        <p:spPr>
          <a:xfrm>
            <a:off x="17349636" y="7328926"/>
            <a:ext cx="3169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Proxy overhead in sending data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1F02EAE-1258-F78C-2543-9FB86D38C78B}"/>
              </a:ext>
            </a:extLst>
          </p:cNvPr>
          <p:cNvSpPr/>
          <p:nvPr/>
        </p:nvSpPr>
        <p:spPr>
          <a:xfrm>
            <a:off x="20584898" y="7368025"/>
            <a:ext cx="505669" cy="2841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  <a:r>
              <a:rPr lang="en-US" baseline="-25000" dirty="0"/>
              <a:t>f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19C3725-1D16-1856-2FCF-EC8B6DEBCD5E}"/>
              </a:ext>
            </a:extLst>
          </p:cNvPr>
          <p:cNvSpPr txBox="1"/>
          <p:nvPr/>
        </p:nvSpPr>
        <p:spPr>
          <a:xfrm>
            <a:off x="21130772" y="7328926"/>
            <a:ext cx="2199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NCCL finish overhead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233A441-E33B-5892-A1A6-EEFE41077C55}"/>
              </a:ext>
            </a:extLst>
          </p:cNvPr>
          <p:cNvSpPr txBox="1"/>
          <p:nvPr/>
        </p:nvSpPr>
        <p:spPr>
          <a:xfrm>
            <a:off x="12594781" y="7903669"/>
            <a:ext cx="4366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L: Upper bound on inter-processor latency</a:t>
            </a:r>
          </a:p>
        </p:txBody>
      </p:sp>
    </p:spTree>
    <p:extLst>
      <p:ext uri="{BB962C8B-B14F-4D97-AF65-F5344CB8AC3E}">
        <p14:creationId xmlns:p14="http://schemas.microsoft.com/office/powerpoint/2010/main" val="570054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2F8A1-5340-0D15-4ACD-BBE59AA3F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CA449E-6797-8720-1F5E-75B8B3D4D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6382" y="3799966"/>
            <a:ext cx="5053263" cy="44060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AC1CE7E-F89A-06BB-B9D5-02D4AFF16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3922" y="3867272"/>
            <a:ext cx="4930609" cy="429910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5070D84-D4EE-AF8C-8EE5-4E483B4D6049}"/>
              </a:ext>
            </a:extLst>
          </p:cNvPr>
          <p:cNvSpPr txBox="1"/>
          <p:nvPr/>
        </p:nvSpPr>
        <p:spPr>
          <a:xfrm>
            <a:off x="12336382" y="8184250"/>
            <a:ext cx="569494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/>
              <a:t>O</a:t>
            </a:r>
            <a:r>
              <a:rPr lang="en-US" sz="2800" baseline="-25000" dirty="0" err="1"/>
              <a:t>sc</a:t>
            </a:r>
            <a:r>
              <a:rPr lang="en-US" sz="2800" dirty="0"/>
              <a:t> &gt; G*s: data preparation time in GPU is longer than the time sending data to network</a:t>
            </a:r>
          </a:p>
          <a:p>
            <a:pPr algn="ctr"/>
            <a:r>
              <a:rPr lang="en-US" sz="2800" dirty="0"/>
              <a:t>Hardware: A30 + 200 Gbps InfiniBand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75D121-09E8-3005-A095-4145306F1120}"/>
              </a:ext>
            </a:extLst>
          </p:cNvPr>
          <p:cNvSpPr txBox="1"/>
          <p:nvPr/>
        </p:nvSpPr>
        <p:spPr>
          <a:xfrm>
            <a:off x="18031326" y="8206009"/>
            <a:ext cx="635267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G*s &gt; </a:t>
            </a:r>
            <a:r>
              <a:rPr lang="en-US" sz="2800" dirty="0" err="1"/>
              <a:t>O</a:t>
            </a:r>
            <a:r>
              <a:rPr lang="en-US" sz="2800" baseline="-25000" dirty="0" err="1"/>
              <a:t>sc</a:t>
            </a:r>
            <a:r>
              <a:rPr lang="en-US" sz="2800" dirty="0"/>
              <a:t> : the time sending data to network is longer than data preparation time in GPU </a:t>
            </a:r>
          </a:p>
          <a:p>
            <a:pPr algn="ctr"/>
            <a:r>
              <a:rPr lang="en-US" sz="2800" dirty="0"/>
              <a:t>Hardware: A100 + 25 Gbps RoCE</a:t>
            </a:r>
          </a:p>
        </p:txBody>
      </p:sp>
    </p:spTree>
    <p:extLst>
      <p:ext uri="{BB962C8B-B14F-4D97-AF65-F5344CB8AC3E}">
        <p14:creationId xmlns:p14="http://schemas.microsoft.com/office/powerpoint/2010/main" val="2872989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FA6DB-5F14-B698-048B-01E36555F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72">
            <a:extLst>
              <a:ext uri="{FF2B5EF4-FFF2-40B4-BE49-F238E27FC236}">
                <a16:creationId xmlns:a16="http://schemas.microsoft.com/office/drawing/2014/main" id="{F8B55863-3C21-650B-5C8A-7D57BA365835}"/>
              </a:ext>
            </a:extLst>
          </p:cNvPr>
          <p:cNvSpPr txBox="1"/>
          <p:nvPr/>
        </p:nvSpPr>
        <p:spPr>
          <a:xfrm>
            <a:off x="10077372" y="-3799087"/>
            <a:ext cx="1790066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000" b="1" dirty="0"/>
              <a:t>If Msg size is small: # Total steps = 2 * (#ranks - 1)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000" b="1" dirty="0"/>
              <a:t>If Msg size is large: # Total steps = 2 * (#ranks - 1) * (Msg size / (# channels * Max chunk size))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DB1DF5D-8BAA-FFBB-C94C-F85E0872C46B}"/>
              </a:ext>
            </a:extLst>
          </p:cNvPr>
          <p:cNvGrpSpPr/>
          <p:nvPr/>
        </p:nvGrpSpPr>
        <p:grpSpPr>
          <a:xfrm>
            <a:off x="8656118" y="2955798"/>
            <a:ext cx="21344901" cy="7159030"/>
            <a:chOff x="8656118" y="2955798"/>
            <a:chExt cx="21344901" cy="7159030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11FD6D1F-1723-6394-0978-2068D8EC4A34}"/>
                </a:ext>
              </a:extLst>
            </p:cNvPr>
            <p:cNvSpPr txBox="1"/>
            <p:nvPr/>
          </p:nvSpPr>
          <p:spPr>
            <a:xfrm>
              <a:off x="12726312" y="7011452"/>
              <a:ext cx="261174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b="1" dirty="0"/>
                <a:t>Reduce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3F27E8C9-41BE-05A0-F0A0-B029AA6AC560}"/>
                </a:ext>
              </a:extLst>
            </p:cNvPr>
            <p:cNvSpPr txBox="1"/>
            <p:nvPr/>
          </p:nvSpPr>
          <p:spPr>
            <a:xfrm>
              <a:off x="23498019" y="7004372"/>
              <a:ext cx="370139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b="1" dirty="0"/>
                <a:t>Broadcast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6D3178E0-3A7A-EA83-13B1-BFE576DFA243}"/>
                </a:ext>
              </a:extLst>
            </p:cNvPr>
            <p:cNvSpPr txBox="1"/>
            <p:nvPr/>
          </p:nvSpPr>
          <p:spPr>
            <a:xfrm>
              <a:off x="10957179" y="8028241"/>
              <a:ext cx="603354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b="1" dirty="0"/>
                <a:t># steps = #ranks -1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DBBF789B-CF31-021D-0D92-F14021EA0D33}"/>
                </a:ext>
              </a:extLst>
            </p:cNvPr>
            <p:cNvSpPr txBox="1"/>
            <p:nvPr/>
          </p:nvSpPr>
          <p:spPr>
            <a:xfrm>
              <a:off x="21926808" y="8028241"/>
              <a:ext cx="650245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b="1" dirty="0"/>
                <a:t># steps = #ranks - 1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819CFB7-7739-48C4-EB70-30CAB6BE63BF}"/>
                </a:ext>
              </a:extLst>
            </p:cNvPr>
            <p:cNvSpPr txBox="1"/>
            <p:nvPr/>
          </p:nvSpPr>
          <p:spPr>
            <a:xfrm>
              <a:off x="14669669" y="9099165"/>
              <a:ext cx="939311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/>
                <a:t>Total Steps = 2 * (#ranks – 1) 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C1D10EC-C13E-5B34-C5A2-14D7968962BE}"/>
                </a:ext>
              </a:extLst>
            </p:cNvPr>
            <p:cNvSpPr txBox="1"/>
            <p:nvPr/>
          </p:nvSpPr>
          <p:spPr>
            <a:xfrm>
              <a:off x="12712206" y="2955798"/>
              <a:ext cx="939311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i="1" dirty="0"/>
                <a:t>Single-Chunk Collective: Ring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5566A4E-7F47-455A-525B-F999745590BC}"/>
                </a:ext>
              </a:extLst>
            </p:cNvPr>
            <p:cNvSpPr/>
            <p:nvPr/>
          </p:nvSpPr>
          <p:spPr>
            <a:xfrm>
              <a:off x="10238117" y="4539457"/>
              <a:ext cx="1488559" cy="139286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/>
                <a:t>P</a:t>
              </a:r>
              <a:r>
                <a:rPr lang="en-US" sz="4000" baseline="-25000" dirty="0"/>
                <a:t>0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617EEB1-B680-47FD-2296-EC1A89E302DC}"/>
                </a:ext>
              </a:extLst>
            </p:cNvPr>
            <p:cNvSpPr/>
            <p:nvPr/>
          </p:nvSpPr>
          <p:spPr>
            <a:xfrm>
              <a:off x="16246445" y="4539457"/>
              <a:ext cx="1488559" cy="139286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/>
                <a:t>P</a:t>
              </a:r>
              <a:r>
                <a:rPr lang="en-US" sz="4000" baseline="-25000" dirty="0"/>
                <a:t>2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90C7111-F387-3256-3266-CFD1EE23A50D}"/>
                </a:ext>
              </a:extLst>
            </p:cNvPr>
            <p:cNvSpPr/>
            <p:nvPr/>
          </p:nvSpPr>
          <p:spPr>
            <a:xfrm>
              <a:off x="13242281" y="4539457"/>
              <a:ext cx="1488559" cy="139286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/>
                <a:t>P</a:t>
              </a:r>
              <a:r>
                <a:rPr lang="en-US" sz="4000" baseline="-25000" dirty="0"/>
                <a:t>1</a:t>
              </a:r>
            </a:p>
          </p:txBody>
        </p:sp>
        <p:sp>
          <p:nvSpPr>
            <p:cNvPr id="10" name="Up Arrow 9">
              <a:extLst>
                <a:ext uri="{FF2B5EF4-FFF2-40B4-BE49-F238E27FC236}">
                  <a16:creationId xmlns:a16="http://schemas.microsoft.com/office/drawing/2014/main" id="{DC59ADC8-B54B-F812-7A0A-45E85D74FEC2}"/>
                </a:ext>
              </a:extLst>
            </p:cNvPr>
            <p:cNvSpPr/>
            <p:nvPr/>
          </p:nvSpPr>
          <p:spPr>
            <a:xfrm rot="5400000">
              <a:off x="12061849" y="4753880"/>
              <a:ext cx="893135" cy="964018"/>
            </a:xfrm>
            <a:prstGeom prst="upArrow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Up Arrow 10">
              <a:extLst>
                <a:ext uri="{FF2B5EF4-FFF2-40B4-BE49-F238E27FC236}">
                  <a16:creationId xmlns:a16="http://schemas.microsoft.com/office/drawing/2014/main" id="{866DCFB8-A233-313D-FE41-63352EB4E1D9}"/>
                </a:ext>
              </a:extLst>
            </p:cNvPr>
            <p:cNvSpPr/>
            <p:nvPr/>
          </p:nvSpPr>
          <p:spPr>
            <a:xfrm rot="5400000">
              <a:off x="15106434" y="4753880"/>
              <a:ext cx="893135" cy="964018"/>
            </a:xfrm>
            <a:prstGeom prst="upArrow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4F7736F-6F9B-361E-655B-B38B72D5FCE1}"/>
                </a:ext>
              </a:extLst>
            </p:cNvPr>
            <p:cNvSpPr txBox="1"/>
            <p:nvPr/>
          </p:nvSpPr>
          <p:spPr>
            <a:xfrm>
              <a:off x="11609792" y="4076589"/>
              <a:ext cx="205819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/>
                <a:t>Step 0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3C5354D-6164-18FC-00C8-F94178B1DE14}"/>
                </a:ext>
              </a:extLst>
            </p:cNvPr>
            <p:cNvSpPr txBox="1"/>
            <p:nvPr/>
          </p:nvSpPr>
          <p:spPr>
            <a:xfrm>
              <a:off x="14730840" y="3984407"/>
              <a:ext cx="205819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/>
                <a:t>Step 1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226D4FFE-64BE-7D21-66FC-EF5C09638F2D}"/>
                </a:ext>
              </a:extLst>
            </p:cNvPr>
            <p:cNvSpPr/>
            <p:nvPr/>
          </p:nvSpPr>
          <p:spPr>
            <a:xfrm>
              <a:off x="21310474" y="4537223"/>
              <a:ext cx="1488559" cy="139286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/>
                <a:t>P</a:t>
              </a:r>
              <a:r>
                <a:rPr lang="en-US" sz="4000" baseline="-25000" dirty="0"/>
                <a:t>0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3389F48-2F7A-C5A0-3F91-FD9AE0DBD844}"/>
                </a:ext>
              </a:extLst>
            </p:cNvPr>
            <p:cNvSpPr/>
            <p:nvPr/>
          </p:nvSpPr>
          <p:spPr>
            <a:xfrm>
              <a:off x="27318802" y="4537223"/>
              <a:ext cx="1488559" cy="139286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/>
                <a:t>P</a:t>
              </a:r>
              <a:r>
                <a:rPr lang="en-US" sz="4000" baseline="-25000" dirty="0"/>
                <a:t>2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5CB0528-B0F4-58A1-5271-8D4A8E0C8659}"/>
                </a:ext>
              </a:extLst>
            </p:cNvPr>
            <p:cNvSpPr/>
            <p:nvPr/>
          </p:nvSpPr>
          <p:spPr>
            <a:xfrm>
              <a:off x="24314638" y="4537223"/>
              <a:ext cx="1488559" cy="139286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/>
                <a:t>P</a:t>
              </a:r>
              <a:r>
                <a:rPr lang="en-US" sz="4000" baseline="-25000" dirty="0"/>
                <a:t>1</a:t>
              </a:r>
            </a:p>
          </p:txBody>
        </p:sp>
        <p:sp>
          <p:nvSpPr>
            <p:cNvPr id="30" name="Up Arrow 29">
              <a:extLst>
                <a:ext uri="{FF2B5EF4-FFF2-40B4-BE49-F238E27FC236}">
                  <a16:creationId xmlns:a16="http://schemas.microsoft.com/office/drawing/2014/main" id="{C4E46949-5B97-93DE-4861-B85BC604FDC9}"/>
                </a:ext>
              </a:extLst>
            </p:cNvPr>
            <p:cNvSpPr/>
            <p:nvPr/>
          </p:nvSpPr>
          <p:spPr>
            <a:xfrm rot="5400000">
              <a:off x="23134206" y="4751646"/>
              <a:ext cx="893135" cy="964018"/>
            </a:xfrm>
            <a:prstGeom prst="upArrow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U-Turn Arrow 31">
              <a:extLst>
                <a:ext uri="{FF2B5EF4-FFF2-40B4-BE49-F238E27FC236}">
                  <a16:creationId xmlns:a16="http://schemas.microsoft.com/office/drawing/2014/main" id="{7D770A29-27EE-C7AA-F29F-424AF5A2A377}"/>
                </a:ext>
              </a:extLst>
            </p:cNvPr>
            <p:cNvSpPr/>
            <p:nvPr/>
          </p:nvSpPr>
          <p:spPr>
            <a:xfrm rot="5400000">
              <a:off x="28448613" y="5547348"/>
              <a:ext cx="2019843" cy="1084968"/>
            </a:xfrm>
            <a:prstGeom prst="uturnArrow">
              <a:avLst>
                <a:gd name="adj1" fmla="val 39214"/>
                <a:gd name="adj2" fmla="val 20295"/>
                <a:gd name="adj3" fmla="val 36649"/>
                <a:gd name="adj4" fmla="val 57203"/>
                <a:gd name="adj5" fmla="val 10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3" name="U-Turn Arrow 32">
              <a:extLst>
                <a:ext uri="{FF2B5EF4-FFF2-40B4-BE49-F238E27FC236}">
                  <a16:creationId xmlns:a16="http://schemas.microsoft.com/office/drawing/2014/main" id="{1A10FA72-7702-D405-E314-DEBCE73FA2AE}"/>
                </a:ext>
              </a:extLst>
            </p:cNvPr>
            <p:cNvSpPr/>
            <p:nvPr/>
          </p:nvSpPr>
          <p:spPr>
            <a:xfrm rot="16200000">
              <a:off x="19460179" y="5055383"/>
              <a:ext cx="2312665" cy="1776073"/>
            </a:xfrm>
            <a:prstGeom prst="uturnArrow">
              <a:avLst>
                <a:gd name="adj1" fmla="val 24587"/>
                <a:gd name="adj2" fmla="val 25000"/>
                <a:gd name="adj3" fmla="val 30987"/>
                <a:gd name="adj4" fmla="val 43750"/>
                <a:gd name="adj5" fmla="val 82226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4" name="Up Arrow 33">
              <a:extLst>
                <a:ext uri="{FF2B5EF4-FFF2-40B4-BE49-F238E27FC236}">
                  <a16:creationId xmlns:a16="http://schemas.microsoft.com/office/drawing/2014/main" id="{33FBDD78-0BAC-D089-F91D-D3166B78F510}"/>
                </a:ext>
              </a:extLst>
            </p:cNvPr>
            <p:cNvSpPr/>
            <p:nvPr/>
          </p:nvSpPr>
          <p:spPr>
            <a:xfrm rot="16200000">
              <a:off x="24751783" y="2492365"/>
              <a:ext cx="438912" cy="8778236"/>
            </a:xfrm>
            <a:prstGeom prst="upArrow">
              <a:avLst>
                <a:gd name="adj1" fmla="val 100000"/>
                <a:gd name="adj2" fmla="val 49321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3F543C3-43A4-DA49-B5CC-00816A81794D}"/>
                </a:ext>
              </a:extLst>
            </p:cNvPr>
            <p:cNvSpPr txBox="1"/>
            <p:nvPr/>
          </p:nvSpPr>
          <p:spPr>
            <a:xfrm>
              <a:off x="22682149" y="4074355"/>
              <a:ext cx="205819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/>
                <a:t>Step 1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6E37458-683C-5154-63F3-39F0F7FF7144}"/>
                </a:ext>
              </a:extLst>
            </p:cNvPr>
            <p:cNvSpPr txBox="1"/>
            <p:nvPr/>
          </p:nvSpPr>
          <p:spPr>
            <a:xfrm>
              <a:off x="24666107" y="5918232"/>
              <a:ext cx="205819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/>
                <a:t>Step 0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601F1A1-7286-81C0-1B63-157F258F07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56118" y="3091715"/>
              <a:ext cx="4056088" cy="7438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03704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1E9EE-057E-B011-ABB7-893FF0500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68">
            <a:extLst>
              <a:ext uri="{FF2B5EF4-FFF2-40B4-BE49-F238E27FC236}">
                <a16:creationId xmlns:a16="http://schemas.microsoft.com/office/drawing/2014/main" id="{ABDE5941-054C-C885-8D36-E0DC499137C4}"/>
              </a:ext>
            </a:extLst>
          </p:cNvPr>
          <p:cNvSpPr txBox="1"/>
          <p:nvPr/>
        </p:nvSpPr>
        <p:spPr>
          <a:xfrm>
            <a:off x="4409485" y="12370581"/>
            <a:ext cx="4876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ReduceScatter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1BDB3A9-7EE4-F639-6CA1-063D283FE197}"/>
              </a:ext>
            </a:extLst>
          </p:cNvPr>
          <p:cNvSpPr txBox="1"/>
          <p:nvPr/>
        </p:nvSpPr>
        <p:spPr>
          <a:xfrm>
            <a:off x="14659177" y="12381444"/>
            <a:ext cx="33240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AllGather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AF20320-6C7A-1E5C-0D43-8A35FF354BA6}"/>
              </a:ext>
            </a:extLst>
          </p:cNvPr>
          <p:cNvSpPr txBox="1"/>
          <p:nvPr/>
        </p:nvSpPr>
        <p:spPr>
          <a:xfrm>
            <a:off x="25403230" y="7715312"/>
            <a:ext cx="853892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# steps = ⌈</a:t>
            </a:r>
            <a:r>
              <a:rPr lang="en-US" sz="6000" b="1" dirty="0" err="1"/>
              <a:t>message_size</a:t>
            </a:r>
            <a:r>
              <a:rPr lang="en-US" sz="6000" b="1" dirty="0"/>
              <a:t> / (</a:t>
            </a:r>
            <a:r>
              <a:rPr lang="en-US" sz="6000" b="1" dirty="0" err="1"/>
              <a:t>max_chunk_size</a:t>
            </a:r>
            <a:r>
              <a:rPr lang="en-US" sz="6000" b="1" dirty="0"/>
              <a:t> × #channels × #ranks)⌉ × (#ranks - 1)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28F72C5-00B8-6018-A7BF-72740AC4C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0203" y="9223907"/>
            <a:ext cx="7772400" cy="315753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1F45E82-DDD7-9E28-6B37-00BE0B571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842" y="9223907"/>
            <a:ext cx="7772400" cy="31575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3EB535-2511-E526-BB49-2D99C5E7D209}"/>
              </a:ext>
            </a:extLst>
          </p:cNvPr>
          <p:cNvSpPr txBox="1"/>
          <p:nvPr/>
        </p:nvSpPr>
        <p:spPr>
          <a:xfrm>
            <a:off x="12806542" y="-1766811"/>
            <a:ext cx="111958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i="1" dirty="0"/>
              <a:t>Multi-Chunk Collective: Ring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7E1FCD-D806-56F5-FFC0-5DA99E7C4F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91084" y="-1618369"/>
            <a:ext cx="4056088" cy="71615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D535D86-201B-2869-600E-55BB3FE1F1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90203" y="-471131"/>
            <a:ext cx="3049806" cy="41670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4A23385-40CD-083B-0D91-7CB717FF19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30432" y="-471131"/>
            <a:ext cx="2975041" cy="4167061"/>
          </a:xfrm>
          <a:prstGeom prst="rect">
            <a:avLst/>
          </a:prstGeom>
        </p:spPr>
      </p:pic>
      <p:sp>
        <p:nvSpPr>
          <p:cNvPr id="6" name="Down Arrow 5">
            <a:extLst>
              <a:ext uri="{FF2B5EF4-FFF2-40B4-BE49-F238E27FC236}">
                <a16:creationId xmlns:a16="http://schemas.microsoft.com/office/drawing/2014/main" id="{3E703981-7B4B-1AA0-9359-A7C7A55EF731}"/>
              </a:ext>
            </a:extLst>
          </p:cNvPr>
          <p:cNvSpPr/>
          <p:nvPr/>
        </p:nvSpPr>
        <p:spPr>
          <a:xfrm rot="16200000">
            <a:off x="17338066" y="-1172137"/>
            <a:ext cx="1015663" cy="55690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54E714-4C27-7B94-B991-1CABDA2D0A8A}"/>
              </a:ext>
            </a:extLst>
          </p:cNvPr>
          <p:cNvSpPr txBox="1"/>
          <p:nvPr/>
        </p:nvSpPr>
        <p:spPr>
          <a:xfrm>
            <a:off x="15175893" y="181238"/>
            <a:ext cx="5259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/>
              <a:t>Split data into </a:t>
            </a:r>
          </a:p>
          <a:p>
            <a:pPr algn="ctr"/>
            <a:endParaRPr lang="en-US" sz="6000" b="1" dirty="0"/>
          </a:p>
          <a:p>
            <a:pPr algn="ctr"/>
            <a:r>
              <a:rPr lang="en-US" sz="6000" b="1" dirty="0"/>
              <a:t>multiple chunks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A7D7BF-B3D6-29C6-EE2A-4F93FD809C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0901" y="4519287"/>
            <a:ext cx="9393114" cy="36998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EF93EDB-19AF-82A9-1884-3A87A08691A3}"/>
              </a:ext>
            </a:extLst>
          </p:cNvPr>
          <p:cNvSpPr txBox="1"/>
          <p:nvPr/>
        </p:nvSpPr>
        <p:spPr>
          <a:xfrm>
            <a:off x="18780410" y="4433023"/>
            <a:ext cx="675254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/>
              <a:t>Send and receive happen concurrently on different chunks in each GPU.</a:t>
            </a:r>
          </a:p>
        </p:txBody>
      </p:sp>
    </p:spTree>
    <p:extLst>
      <p:ext uri="{BB962C8B-B14F-4D97-AF65-F5344CB8AC3E}">
        <p14:creationId xmlns:p14="http://schemas.microsoft.com/office/powerpoint/2010/main" val="2564308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93F20-3721-0415-CCB5-FEACCE77A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66AB37C8-085F-164C-9F9A-482B3EFEA18E}"/>
              </a:ext>
            </a:extLst>
          </p:cNvPr>
          <p:cNvGrpSpPr/>
          <p:nvPr/>
        </p:nvGrpSpPr>
        <p:grpSpPr>
          <a:xfrm>
            <a:off x="9923655" y="2735127"/>
            <a:ext cx="16646479" cy="6609281"/>
            <a:chOff x="9923655" y="2735127"/>
            <a:chExt cx="16646479" cy="6609281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86B58AB-4702-8426-8AF6-ABB23249C6AC}"/>
                </a:ext>
              </a:extLst>
            </p:cNvPr>
            <p:cNvCxnSpPr>
              <a:cxnSpLocks/>
              <a:stCxn id="4" idx="3"/>
            </p:cNvCxnSpPr>
            <p:nvPr/>
          </p:nvCxnSpPr>
          <p:spPr>
            <a:xfrm>
              <a:off x="11304130" y="4836180"/>
              <a:ext cx="0" cy="2448370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C3A4ABD-500C-E0AE-99D9-287D28E9209C}"/>
                </a:ext>
              </a:extLst>
            </p:cNvPr>
            <p:cNvSpPr/>
            <p:nvPr/>
          </p:nvSpPr>
          <p:spPr>
            <a:xfrm>
              <a:off x="10351385" y="4641033"/>
              <a:ext cx="952745" cy="39029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Chunk 0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4BBB6A3-54C8-6063-BCD1-97977870A9DD}"/>
                </a:ext>
              </a:extLst>
            </p:cNvPr>
            <p:cNvSpPr txBox="1"/>
            <p:nvPr/>
          </p:nvSpPr>
          <p:spPr>
            <a:xfrm>
              <a:off x="14858267" y="4660735"/>
              <a:ext cx="11711867" cy="4524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/>
                <a:t>Proxy Send Process, Ring, Simple</a:t>
              </a:r>
            </a:p>
            <a:p>
              <a:r>
                <a:rPr lang="en-US" sz="3600" b="1" dirty="0"/>
                <a:t>FIFO Depth = 4</a:t>
              </a:r>
            </a:p>
            <a:p>
              <a:endParaRPr lang="en-US" sz="3600" b="1" dirty="0"/>
            </a:p>
            <a:p>
              <a:r>
                <a:rPr lang="en-US" sz="3600" dirty="0"/>
                <a:t>T</a:t>
              </a:r>
              <a:r>
                <a:rPr lang="en-US" sz="3600" baseline="-25000" dirty="0"/>
                <a:t>0</a:t>
              </a:r>
              <a:r>
                <a:rPr lang="en-US" sz="3600" dirty="0"/>
                <a:t> is the time of Chunk 0</a:t>
              </a:r>
              <a:endParaRPr lang="en-US" sz="3600" baseline="-25000" dirty="0"/>
            </a:p>
            <a:p>
              <a:r>
                <a:rPr lang="en-US" sz="3600" dirty="0"/>
                <a:t>T</a:t>
              </a:r>
              <a:r>
                <a:rPr lang="en-US" sz="3600" baseline="-25000" dirty="0"/>
                <a:t>0 </a:t>
              </a:r>
              <a:r>
                <a:rPr lang="en-US" sz="3600" dirty="0"/>
                <a:t>= G × S + L’</a:t>
              </a:r>
            </a:p>
            <a:p>
              <a:r>
                <a:rPr lang="en-US" sz="3600" dirty="0"/>
                <a:t>If we get G through linear regression on T</a:t>
              </a:r>
              <a:r>
                <a:rPr lang="en-US" sz="3600" baseline="-25000" dirty="0"/>
                <a:t>0 </a:t>
              </a:r>
              <a:r>
                <a:rPr lang="en-US" sz="3600" dirty="0"/>
                <a:t>= G × S + L’</a:t>
              </a:r>
            </a:p>
            <a:p>
              <a:r>
                <a:rPr lang="en-US" sz="3600" dirty="0"/>
                <a:t>So, the total time T</a:t>
              </a:r>
              <a:r>
                <a:rPr lang="en-US" sz="3600" baseline="-25000" dirty="0"/>
                <a:t>total</a:t>
              </a:r>
              <a:r>
                <a:rPr lang="en-US" sz="3600" dirty="0"/>
                <a:t> = </a:t>
              </a:r>
              <a:r>
                <a:rPr lang="en-US" sz="3600" b="1" dirty="0"/>
                <a:t># Total steps * </a:t>
              </a:r>
              <a:r>
                <a:rPr lang="en-US" sz="3600" dirty="0"/>
                <a:t>T</a:t>
              </a:r>
              <a:r>
                <a:rPr lang="en-US" sz="3600" baseline="-25000" dirty="0"/>
                <a:t>0 </a:t>
              </a:r>
              <a:r>
                <a:rPr lang="en-US" sz="3600" dirty="0"/>
                <a:t>? </a:t>
              </a:r>
              <a:r>
                <a:rPr lang="en-US" sz="3600" b="1" dirty="0">
                  <a:solidFill>
                    <a:srgbClr val="FF0000"/>
                  </a:solidFill>
                </a:rPr>
                <a:t>Wrong!</a:t>
              </a:r>
            </a:p>
            <a:p>
              <a:r>
                <a:rPr lang="en-US" sz="3600" b="1" dirty="0">
                  <a:solidFill>
                    <a:srgbClr val="FF0000"/>
                  </a:solidFill>
                </a:rPr>
                <a:t>	- Chunk 1 overlap with Chunk 0 </a:t>
              </a:r>
              <a:endParaRPr lang="en-US" sz="3600" b="1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9E55AC5-8E57-608A-1C37-A15EA7300E1E}"/>
                </a:ext>
              </a:extLst>
            </p:cNvPr>
            <p:cNvSpPr/>
            <p:nvPr/>
          </p:nvSpPr>
          <p:spPr>
            <a:xfrm>
              <a:off x="10461182" y="5180548"/>
              <a:ext cx="1240981" cy="39029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Chunk 1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AC804A4-2A23-3BC2-4F99-A7D5D8E9E0B4}"/>
                </a:ext>
              </a:extLst>
            </p:cNvPr>
            <p:cNvSpPr/>
            <p:nvPr/>
          </p:nvSpPr>
          <p:spPr>
            <a:xfrm>
              <a:off x="10570979" y="5720063"/>
              <a:ext cx="1559007" cy="39029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Chunk 2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CE91F5C-9FDD-1F72-DD18-5E12D21FE959}"/>
                </a:ext>
              </a:extLst>
            </p:cNvPr>
            <p:cNvSpPr/>
            <p:nvPr/>
          </p:nvSpPr>
          <p:spPr>
            <a:xfrm>
              <a:off x="10680776" y="6259579"/>
              <a:ext cx="1828800" cy="39029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Chunk 3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E0BBAD0-67C6-F570-1161-E8902C9B99B8}"/>
                </a:ext>
              </a:extLst>
            </p:cNvPr>
            <p:cNvSpPr/>
            <p:nvPr/>
          </p:nvSpPr>
          <p:spPr>
            <a:xfrm>
              <a:off x="11305076" y="7172211"/>
              <a:ext cx="1828800" cy="39029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Chunk 4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70E2D91-5838-CB8F-2A38-35A64490425B}"/>
                </a:ext>
              </a:extLst>
            </p:cNvPr>
            <p:cNvSpPr/>
            <p:nvPr/>
          </p:nvSpPr>
          <p:spPr>
            <a:xfrm>
              <a:off x="11703692" y="7711726"/>
              <a:ext cx="1828800" cy="39029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Chunk 5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0A6DD81-2877-17E1-BF41-E4A3FF22D3B0}"/>
                </a:ext>
              </a:extLst>
            </p:cNvPr>
            <p:cNvSpPr/>
            <p:nvPr/>
          </p:nvSpPr>
          <p:spPr>
            <a:xfrm>
              <a:off x="12137477" y="8251241"/>
              <a:ext cx="1828800" cy="39029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Chunk 6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7952E64-561E-1C9D-EEF9-258CE7B5823A}"/>
                </a:ext>
              </a:extLst>
            </p:cNvPr>
            <p:cNvSpPr/>
            <p:nvPr/>
          </p:nvSpPr>
          <p:spPr>
            <a:xfrm>
              <a:off x="12500923" y="8790757"/>
              <a:ext cx="1828800" cy="39029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Chunk 7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D53A7C9-C038-4AC0-09B9-4BC4EC80B94B}"/>
                </a:ext>
              </a:extLst>
            </p:cNvPr>
            <p:cNvSpPr/>
            <p:nvPr/>
          </p:nvSpPr>
          <p:spPr>
            <a:xfrm>
              <a:off x="10074291" y="4533455"/>
              <a:ext cx="2655526" cy="2277662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F98D501-DD4C-A94E-5AD2-BB943617C856}"/>
                </a:ext>
              </a:extLst>
            </p:cNvPr>
            <p:cNvSpPr/>
            <p:nvPr/>
          </p:nvSpPr>
          <p:spPr>
            <a:xfrm>
              <a:off x="11037693" y="7066746"/>
              <a:ext cx="3554137" cy="2277662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FFC28165-C9A8-C949-F4ED-4BACF66F28E2}"/>
                </a:ext>
              </a:extLst>
            </p:cNvPr>
            <p:cNvCxnSpPr>
              <a:cxnSpLocks/>
            </p:cNvCxnSpPr>
            <p:nvPr/>
          </p:nvCxnSpPr>
          <p:spPr>
            <a:xfrm>
              <a:off x="11304130" y="4277826"/>
              <a:ext cx="0" cy="558354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692554B-CAC3-1D01-17DD-CE6B6D4742E0}"/>
                </a:ext>
              </a:extLst>
            </p:cNvPr>
            <p:cNvCxnSpPr>
              <a:cxnSpLocks/>
              <a:endCxn id="4" idx="1"/>
            </p:cNvCxnSpPr>
            <p:nvPr/>
          </p:nvCxnSpPr>
          <p:spPr>
            <a:xfrm>
              <a:off x="10350072" y="4277826"/>
              <a:ext cx="1313" cy="558354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652E9E7A-AD56-A069-8666-3909A96E8750}"/>
                </a:ext>
              </a:extLst>
            </p:cNvPr>
            <p:cNvCxnSpPr>
              <a:cxnSpLocks/>
            </p:cNvCxnSpPr>
            <p:nvPr/>
          </p:nvCxnSpPr>
          <p:spPr>
            <a:xfrm>
              <a:off x="10317695" y="4409984"/>
              <a:ext cx="986435" cy="0"/>
            </a:xfrm>
            <a:prstGeom prst="straightConnector1">
              <a:avLst/>
            </a:prstGeom>
            <a:ln w="762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15976B6-EDD0-A718-71CC-3309B62B23A4}"/>
                </a:ext>
              </a:extLst>
            </p:cNvPr>
            <p:cNvSpPr txBox="1"/>
            <p:nvPr/>
          </p:nvSpPr>
          <p:spPr>
            <a:xfrm>
              <a:off x="10535547" y="3691978"/>
              <a:ext cx="79286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/>
                <a:t>T</a:t>
              </a:r>
              <a:r>
                <a:rPr lang="en-US" sz="3600" b="1" baseline="-25000" dirty="0"/>
                <a:t>0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9D2B932-1B5C-41EA-628F-E47D33BADA97}"/>
                </a:ext>
              </a:extLst>
            </p:cNvPr>
            <p:cNvSpPr txBox="1"/>
            <p:nvPr/>
          </p:nvSpPr>
          <p:spPr>
            <a:xfrm>
              <a:off x="9923655" y="2735127"/>
              <a:ext cx="1079054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b="1" dirty="0"/>
                <a:t>Why Simple Multiplication Fails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13352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D496F-3577-DBB5-B324-C6AC45708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8F26142-2341-4779-EBBB-07089DA55756}"/>
              </a:ext>
            </a:extLst>
          </p:cNvPr>
          <p:cNvSpPr/>
          <p:nvPr/>
        </p:nvSpPr>
        <p:spPr>
          <a:xfrm>
            <a:off x="10351385" y="4641033"/>
            <a:ext cx="952745" cy="3902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Chunk 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8F5645-4ED1-CF82-82A8-33D582ECF349}"/>
              </a:ext>
            </a:extLst>
          </p:cNvPr>
          <p:cNvSpPr txBox="1"/>
          <p:nvPr/>
        </p:nvSpPr>
        <p:spPr>
          <a:xfrm>
            <a:off x="12654909" y="3750790"/>
            <a:ext cx="1213969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Ring, Simple; FIFO Depth = 4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/>
              <a:t>T</a:t>
            </a:r>
            <a:r>
              <a:rPr lang="en-US" sz="3600" baseline="-25000" dirty="0"/>
              <a:t>0</a:t>
            </a:r>
            <a:r>
              <a:rPr lang="en-US" sz="3600" dirty="0"/>
              <a:t> represents the transmission time for Chunk 0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/>
              <a:t>T</a:t>
            </a:r>
            <a:r>
              <a:rPr lang="en-US" sz="3600" baseline="-25000" dirty="0"/>
              <a:t>0 </a:t>
            </a:r>
            <a:r>
              <a:rPr lang="en-US" sz="3600" dirty="0"/>
              <a:t>= G × S</a:t>
            </a:r>
            <a:r>
              <a:rPr lang="en-US" sz="3600" baseline="-25000" dirty="0"/>
              <a:t>chunk</a:t>
            </a:r>
            <a:r>
              <a:rPr lang="en-US" sz="3600" dirty="0"/>
              <a:t> + L’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b="1" dirty="0"/>
              <a:t>Parameter extraction</a:t>
            </a:r>
            <a:r>
              <a:rPr lang="en-US" sz="3600" dirty="0"/>
              <a:t>: We obtain G through linear regression on the relationship T</a:t>
            </a:r>
            <a:r>
              <a:rPr lang="en-US" sz="3600" baseline="-25000" dirty="0"/>
              <a:t>0 </a:t>
            </a:r>
            <a:r>
              <a:rPr lang="en-US" sz="3600" dirty="0"/>
              <a:t>= G × S</a:t>
            </a:r>
            <a:r>
              <a:rPr lang="en-US" sz="3600" baseline="-25000" dirty="0"/>
              <a:t>chunk </a:t>
            </a:r>
            <a:r>
              <a:rPr lang="en-US" sz="3600" dirty="0"/>
              <a:t>+ L’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b="1" dirty="0"/>
              <a:t>Naive calculation</a:t>
            </a:r>
            <a:r>
              <a:rPr lang="en-US" sz="3600" dirty="0"/>
              <a:t>: T</a:t>
            </a:r>
            <a:r>
              <a:rPr lang="en-US" sz="3600" baseline="-25000" dirty="0"/>
              <a:t>total</a:t>
            </a:r>
            <a:r>
              <a:rPr lang="en-US" sz="3600" dirty="0"/>
              <a:t> = G × </a:t>
            </a:r>
            <a:r>
              <a:rPr lang="en-US" sz="3600" dirty="0" err="1"/>
              <a:t>S</a:t>
            </a:r>
            <a:r>
              <a:rPr lang="en-US" sz="3600" baseline="-25000" dirty="0" err="1"/>
              <a:t>msg</a:t>
            </a:r>
            <a:r>
              <a:rPr lang="en-US" sz="3600" dirty="0"/>
              <a:t> + L’ = #chunks × </a:t>
            </a:r>
            <a:r>
              <a:rPr lang="en-US" sz="3600" b="1" dirty="0"/>
              <a:t>(</a:t>
            </a:r>
            <a:r>
              <a:rPr lang="en-US" sz="3600" dirty="0"/>
              <a:t>T</a:t>
            </a:r>
            <a:r>
              <a:rPr lang="en-US" sz="3600" baseline="-25000" dirty="0"/>
              <a:t>0 </a:t>
            </a:r>
            <a:r>
              <a:rPr lang="en-US" sz="3600" dirty="0"/>
              <a:t>- L’) + L’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b="1" dirty="0"/>
              <a:t>This is incorrect!</a:t>
            </a:r>
            <a:r>
              <a:rPr lang="en-US" sz="3600" dirty="0"/>
              <a:t> ❌</a:t>
            </a:r>
            <a:r>
              <a:rPr lang="en-US" sz="3600" b="1" dirty="0">
                <a:solidFill>
                  <a:srgbClr val="FF0000"/>
                </a:solidFill>
              </a:rPr>
              <a:t> </a:t>
            </a:r>
          </a:p>
          <a:p>
            <a:r>
              <a:rPr lang="en-US" sz="3600" b="1" dirty="0">
                <a:solidFill>
                  <a:srgbClr val="FF0000"/>
                </a:solidFill>
              </a:rPr>
              <a:t>        </a:t>
            </a:r>
            <a:r>
              <a:rPr lang="en-US" sz="3600" b="1" dirty="0"/>
              <a:t>Reason</a:t>
            </a:r>
            <a:r>
              <a:rPr lang="en-US" sz="3600" dirty="0"/>
              <a:t>: </a:t>
            </a:r>
            <a:r>
              <a:rPr lang="en-US" sz="3600" b="1" dirty="0">
                <a:solidFill>
                  <a:srgbClr val="FF0000"/>
                </a:solidFill>
              </a:rPr>
              <a:t>Chunk 0 overlap with Chunk 1, 2, 3.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551728-0507-1EA6-28CC-CB4EB4386563}"/>
              </a:ext>
            </a:extLst>
          </p:cNvPr>
          <p:cNvSpPr/>
          <p:nvPr/>
        </p:nvSpPr>
        <p:spPr>
          <a:xfrm>
            <a:off x="10461182" y="5180548"/>
            <a:ext cx="1240981" cy="3902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Chunk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716794-7D71-47D9-312B-066347E6146B}"/>
              </a:ext>
            </a:extLst>
          </p:cNvPr>
          <p:cNvSpPr/>
          <p:nvPr/>
        </p:nvSpPr>
        <p:spPr>
          <a:xfrm>
            <a:off x="10570979" y="5720063"/>
            <a:ext cx="1559007" cy="3902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Chunk 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A0500D-A52A-CF70-AFE3-E3292587D828}"/>
              </a:ext>
            </a:extLst>
          </p:cNvPr>
          <p:cNvSpPr/>
          <p:nvPr/>
        </p:nvSpPr>
        <p:spPr>
          <a:xfrm>
            <a:off x="10680776" y="6259579"/>
            <a:ext cx="1828800" cy="3902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Chunk 3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E6E221A-FEF0-D626-7017-5EC2AEBC66DE}"/>
              </a:ext>
            </a:extLst>
          </p:cNvPr>
          <p:cNvCxnSpPr>
            <a:cxnSpLocks/>
          </p:cNvCxnSpPr>
          <p:nvPr/>
        </p:nvCxnSpPr>
        <p:spPr>
          <a:xfrm>
            <a:off x="11304130" y="4277826"/>
            <a:ext cx="0" cy="558354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4819CB0-459D-F532-D046-57371CF08322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10350072" y="4277826"/>
            <a:ext cx="1313" cy="558354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B897BAE-2D95-D823-E413-EF77557AFCA4}"/>
              </a:ext>
            </a:extLst>
          </p:cNvPr>
          <p:cNvCxnSpPr>
            <a:cxnSpLocks/>
          </p:cNvCxnSpPr>
          <p:nvPr/>
        </p:nvCxnSpPr>
        <p:spPr>
          <a:xfrm>
            <a:off x="10317695" y="4409984"/>
            <a:ext cx="986435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5C386AB2-C565-8E38-9232-B9B32DB1C7DF}"/>
              </a:ext>
            </a:extLst>
          </p:cNvPr>
          <p:cNvSpPr txBox="1"/>
          <p:nvPr/>
        </p:nvSpPr>
        <p:spPr>
          <a:xfrm>
            <a:off x="10535547" y="3691978"/>
            <a:ext cx="7928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T</a:t>
            </a:r>
            <a:r>
              <a:rPr lang="en-US" sz="3600" b="1" baseline="-25000" dirty="0"/>
              <a:t>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BE993A-F4FB-1ED1-0D47-0519444245E2}"/>
              </a:ext>
            </a:extLst>
          </p:cNvPr>
          <p:cNvSpPr txBox="1"/>
          <p:nvPr/>
        </p:nvSpPr>
        <p:spPr>
          <a:xfrm>
            <a:off x="9923655" y="2735127"/>
            <a:ext cx="107905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Why Simple Measurement Fails</a:t>
            </a:r>
          </a:p>
        </p:txBody>
      </p:sp>
    </p:spTree>
    <p:extLst>
      <p:ext uri="{BB962C8B-B14F-4D97-AF65-F5344CB8AC3E}">
        <p14:creationId xmlns:p14="http://schemas.microsoft.com/office/powerpoint/2010/main" val="2001247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75BFD-2841-402B-AFC8-BF0CB0876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139B0D9F-03C0-306D-1FB3-EC4BFB8B50C0}"/>
              </a:ext>
            </a:extLst>
          </p:cNvPr>
          <p:cNvGrpSpPr/>
          <p:nvPr/>
        </p:nvGrpSpPr>
        <p:grpSpPr>
          <a:xfrm>
            <a:off x="10074291" y="2691247"/>
            <a:ext cx="15462407" cy="9171496"/>
            <a:chOff x="10074291" y="2691247"/>
            <a:chExt cx="15462407" cy="9171496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473DFE9-B120-75FB-8B0C-6A8F416E19A1}"/>
                </a:ext>
              </a:extLst>
            </p:cNvPr>
            <p:cNvCxnSpPr>
              <a:cxnSpLocks/>
              <a:endCxn id="36" idx="3"/>
            </p:cNvCxnSpPr>
            <p:nvPr/>
          </p:nvCxnSpPr>
          <p:spPr>
            <a:xfrm>
              <a:off x="14962667" y="9344408"/>
              <a:ext cx="0" cy="541285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0AD7CD1-9E9D-7FCA-093A-56941541E9DD}"/>
                </a:ext>
              </a:extLst>
            </p:cNvPr>
            <p:cNvCxnSpPr>
              <a:cxnSpLocks/>
            </p:cNvCxnSpPr>
            <p:nvPr/>
          </p:nvCxnSpPr>
          <p:spPr>
            <a:xfrm>
              <a:off x="13132921" y="7354515"/>
              <a:ext cx="0" cy="2448370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CA53E4D-CAD2-9F2E-A484-534E42CCC0A8}"/>
                </a:ext>
              </a:extLst>
            </p:cNvPr>
            <p:cNvCxnSpPr>
              <a:cxnSpLocks/>
            </p:cNvCxnSpPr>
            <p:nvPr/>
          </p:nvCxnSpPr>
          <p:spPr>
            <a:xfrm>
              <a:off x="11304130" y="4277826"/>
              <a:ext cx="0" cy="3006724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123FF44-C9A5-D641-D68C-A4BC2E1317D2}"/>
                </a:ext>
              </a:extLst>
            </p:cNvPr>
            <p:cNvSpPr/>
            <p:nvPr/>
          </p:nvSpPr>
          <p:spPr>
            <a:xfrm>
              <a:off x="10351385" y="4641033"/>
              <a:ext cx="952745" cy="39029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Chunk 0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5CE668A-2DCF-A415-3B90-03F5505CBB15}"/>
                </a:ext>
              </a:extLst>
            </p:cNvPr>
            <p:cNvSpPr txBox="1"/>
            <p:nvPr/>
          </p:nvSpPr>
          <p:spPr>
            <a:xfrm>
              <a:off x="16784058" y="4315643"/>
              <a:ext cx="8752640" cy="72943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/>
                <a:t>Proxy Send Process, Ring, Simple</a:t>
              </a:r>
            </a:p>
            <a:p>
              <a:r>
                <a:rPr lang="en-US" sz="3600" b="1" dirty="0"/>
                <a:t>FIFO Depth = 4</a:t>
              </a:r>
            </a:p>
            <a:p>
              <a:endParaRPr lang="en-US" sz="3600" b="1" dirty="0"/>
            </a:p>
            <a:p>
              <a:r>
                <a:rPr lang="en-US" sz="3600" dirty="0"/>
                <a:t>1. Total time = T</a:t>
              </a:r>
              <a:r>
                <a:rPr lang="en-US" sz="3600" baseline="-25000" dirty="0"/>
                <a:t>0</a:t>
              </a:r>
              <a:r>
                <a:rPr lang="en-US" sz="3600" dirty="0"/>
                <a:t> + (number of chunks/ FIFO Depth -1) * T</a:t>
              </a:r>
              <a:r>
                <a:rPr lang="en-US" sz="3600" baseline="-25000" dirty="0"/>
                <a:t>1</a:t>
              </a:r>
            </a:p>
            <a:p>
              <a:endParaRPr lang="en-US" sz="3600" baseline="-25000" dirty="0"/>
            </a:p>
            <a:p>
              <a:r>
                <a:rPr lang="en-US" sz="3600" dirty="0"/>
                <a:t>2. number of chunks = </a:t>
              </a:r>
              <a:r>
                <a:rPr lang="en-US" sz="3600" b="1" dirty="0"/>
                <a:t>2 * (#ranks - 1) * (Msg size / (# channels * Max chunk size)) * 2</a:t>
              </a:r>
            </a:p>
            <a:p>
              <a:r>
                <a:rPr lang="en-US" sz="3600" baseline="-25000" dirty="0"/>
                <a:t>### the first 2 is from ring algorithm</a:t>
              </a:r>
            </a:p>
            <a:p>
              <a:r>
                <a:rPr lang="en-US" sz="3600" baseline="-25000" dirty="0"/>
                <a:t>### the second 2 is from NCCL proxy, proxy will split each chunk from CUDA kernel into 2 chunks when the chunk size &gt;= 16 KB.</a:t>
              </a:r>
            </a:p>
            <a:p>
              <a:endParaRPr lang="en-US" sz="3600" baseline="-25000" dirty="0"/>
            </a:p>
            <a:p>
              <a:r>
                <a:rPr lang="en-US" sz="3600" dirty="0"/>
                <a:t>3. T</a:t>
              </a:r>
              <a:r>
                <a:rPr lang="en-US" sz="3600" baseline="-25000" dirty="0"/>
                <a:t>1</a:t>
              </a:r>
              <a:r>
                <a:rPr lang="en-US" sz="3600" dirty="0"/>
                <a:t> = G*S + L + o</a:t>
              </a:r>
            </a:p>
            <a:p>
              <a:endParaRPr lang="en-US" sz="3600" b="1" baseline="-25000" dirty="0"/>
            </a:p>
            <a:p>
              <a:r>
                <a:rPr lang="en-US" sz="3600" dirty="0"/>
                <a:t>4. T</a:t>
              </a:r>
              <a:r>
                <a:rPr lang="en-US" sz="3600" baseline="-25000" dirty="0"/>
                <a:t>0</a:t>
              </a:r>
              <a:r>
                <a:rPr lang="en-US" sz="3600" dirty="0"/>
                <a:t> is close to T</a:t>
              </a:r>
              <a:r>
                <a:rPr lang="en-US" sz="3600" baseline="-25000" dirty="0"/>
                <a:t>1</a:t>
              </a:r>
              <a:endParaRPr lang="en-US" sz="3600" b="1" baseline="-25000" dirty="0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EC945C8-8258-7E82-EC36-41BFFDB2A4E6}"/>
                </a:ext>
              </a:extLst>
            </p:cNvPr>
            <p:cNvSpPr/>
            <p:nvPr/>
          </p:nvSpPr>
          <p:spPr>
            <a:xfrm>
              <a:off x="10461182" y="5180548"/>
              <a:ext cx="1240981" cy="39029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Chunk 1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E4B57BB-1646-DE9D-1291-29176FC62A12}"/>
                </a:ext>
              </a:extLst>
            </p:cNvPr>
            <p:cNvSpPr/>
            <p:nvPr/>
          </p:nvSpPr>
          <p:spPr>
            <a:xfrm>
              <a:off x="10570979" y="5720063"/>
              <a:ext cx="1559007" cy="39029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Chunk 2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1234D19-07C8-147C-D655-14FFD0794210}"/>
                </a:ext>
              </a:extLst>
            </p:cNvPr>
            <p:cNvSpPr/>
            <p:nvPr/>
          </p:nvSpPr>
          <p:spPr>
            <a:xfrm>
              <a:off x="10680776" y="6259579"/>
              <a:ext cx="1828800" cy="39029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Chunk 3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20790FC-86AB-F043-B36F-6FA1926A2895}"/>
                </a:ext>
              </a:extLst>
            </p:cNvPr>
            <p:cNvSpPr/>
            <p:nvPr/>
          </p:nvSpPr>
          <p:spPr>
            <a:xfrm>
              <a:off x="11305076" y="7172211"/>
              <a:ext cx="1828800" cy="39029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Chunk 4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00C9712-8236-CA03-0505-D03FB44FE3EC}"/>
                </a:ext>
              </a:extLst>
            </p:cNvPr>
            <p:cNvSpPr/>
            <p:nvPr/>
          </p:nvSpPr>
          <p:spPr>
            <a:xfrm>
              <a:off x="11703692" y="7711726"/>
              <a:ext cx="1828800" cy="39029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Chunk 5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C0E5BE2-5079-4BB1-9AAD-57D3176B16A4}"/>
                </a:ext>
              </a:extLst>
            </p:cNvPr>
            <p:cNvSpPr/>
            <p:nvPr/>
          </p:nvSpPr>
          <p:spPr>
            <a:xfrm>
              <a:off x="12137477" y="8251241"/>
              <a:ext cx="1828800" cy="39029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Chunk 6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CF0C970-FB4C-6628-4FD7-79709592EFF6}"/>
                </a:ext>
              </a:extLst>
            </p:cNvPr>
            <p:cNvSpPr/>
            <p:nvPr/>
          </p:nvSpPr>
          <p:spPr>
            <a:xfrm>
              <a:off x="12500923" y="8790757"/>
              <a:ext cx="1828800" cy="39029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Chunk 7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732888E-DF86-EE29-3BF5-C9B355D91701}"/>
                </a:ext>
              </a:extLst>
            </p:cNvPr>
            <p:cNvSpPr/>
            <p:nvPr/>
          </p:nvSpPr>
          <p:spPr>
            <a:xfrm>
              <a:off x="10074291" y="4533455"/>
              <a:ext cx="2655526" cy="2277662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E44D98E-A2A1-6DB4-958C-5668BACF4429}"/>
                </a:ext>
              </a:extLst>
            </p:cNvPr>
            <p:cNvSpPr/>
            <p:nvPr/>
          </p:nvSpPr>
          <p:spPr>
            <a:xfrm>
              <a:off x="11037693" y="7066746"/>
              <a:ext cx="3554137" cy="2277662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A4BB33D8-C755-DC85-8C94-8F12EFDDBEB6}"/>
                </a:ext>
              </a:extLst>
            </p:cNvPr>
            <p:cNvCxnSpPr>
              <a:cxnSpLocks/>
            </p:cNvCxnSpPr>
            <p:nvPr/>
          </p:nvCxnSpPr>
          <p:spPr>
            <a:xfrm>
              <a:off x="11312783" y="4409984"/>
              <a:ext cx="1820138" cy="0"/>
            </a:xfrm>
            <a:prstGeom prst="straightConnector1">
              <a:avLst/>
            </a:prstGeom>
            <a:ln w="762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29B9F5F-94A2-0968-CA5B-A29351695C86}"/>
                </a:ext>
              </a:extLst>
            </p:cNvPr>
            <p:cNvSpPr/>
            <p:nvPr/>
          </p:nvSpPr>
          <p:spPr>
            <a:xfrm>
              <a:off x="13133867" y="9690546"/>
              <a:ext cx="1828800" cy="39029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Chunk 8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7020F16-6B3B-D526-8FE5-5D819CA22FF0}"/>
                </a:ext>
              </a:extLst>
            </p:cNvPr>
            <p:cNvSpPr/>
            <p:nvPr/>
          </p:nvSpPr>
          <p:spPr>
            <a:xfrm>
              <a:off x="13532483" y="10230061"/>
              <a:ext cx="1828800" cy="39029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Chunk 9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F4F6EFC-B638-8EF9-6889-7AA22C42CF24}"/>
                </a:ext>
              </a:extLst>
            </p:cNvPr>
            <p:cNvSpPr/>
            <p:nvPr/>
          </p:nvSpPr>
          <p:spPr>
            <a:xfrm>
              <a:off x="13966268" y="10769576"/>
              <a:ext cx="1828800" cy="39029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Chunk 10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0645F0FC-61DB-B5D1-2AE1-947B5FE8B147}"/>
                </a:ext>
              </a:extLst>
            </p:cNvPr>
            <p:cNvSpPr/>
            <p:nvPr/>
          </p:nvSpPr>
          <p:spPr>
            <a:xfrm>
              <a:off x="14329714" y="11309092"/>
              <a:ext cx="1828800" cy="39029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Chunk 11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6D095C3-4980-9082-3E22-3732E3E5E0EE}"/>
                </a:ext>
              </a:extLst>
            </p:cNvPr>
            <p:cNvSpPr/>
            <p:nvPr/>
          </p:nvSpPr>
          <p:spPr>
            <a:xfrm>
              <a:off x="12866484" y="9585081"/>
              <a:ext cx="3554137" cy="2277662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91B83D61-B0A9-05F6-91B2-2EC98BA34CDC}"/>
                </a:ext>
              </a:extLst>
            </p:cNvPr>
            <p:cNvCxnSpPr>
              <a:cxnSpLocks/>
            </p:cNvCxnSpPr>
            <p:nvPr/>
          </p:nvCxnSpPr>
          <p:spPr>
            <a:xfrm>
              <a:off x="13142529" y="9476495"/>
              <a:ext cx="1820138" cy="0"/>
            </a:xfrm>
            <a:prstGeom prst="straightConnector1">
              <a:avLst/>
            </a:prstGeom>
            <a:ln w="762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854D3F6-4800-7D33-394B-0864F9E05E63}"/>
                </a:ext>
              </a:extLst>
            </p:cNvPr>
            <p:cNvSpPr txBox="1"/>
            <p:nvPr/>
          </p:nvSpPr>
          <p:spPr>
            <a:xfrm>
              <a:off x="14928717" y="8975450"/>
              <a:ext cx="79286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/>
                <a:t>T</a:t>
              </a:r>
              <a:r>
                <a:rPr lang="en-US" sz="3600" b="1" baseline="-25000" dirty="0"/>
                <a:t>1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DE901B05-4AEA-3292-B934-299DC2AA22D0}"/>
                </a:ext>
              </a:extLst>
            </p:cNvPr>
            <p:cNvSpPr txBox="1"/>
            <p:nvPr/>
          </p:nvSpPr>
          <p:spPr>
            <a:xfrm>
              <a:off x="11908881" y="3655287"/>
              <a:ext cx="79286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/>
                <a:t>T</a:t>
              </a:r>
              <a:r>
                <a:rPr lang="en-US" sz="3600" b="1" baseline="-25000" dirty="0"/>
                <a:t>1</a:t>
              </a: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51AC4450-BBB5-5562-7B56-708524918E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140997" y="4246626"/>
              <a:ext cx="1447" cy="3198976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8EEC15D4-492B-D479-8F82-B456D7C804FB}"/>
                </a:ext>
              </a:extLst>
            </p:cNvPr>
            <p:cNvCxnSpPr>
              <a:cxnSpLocks/>
              <a:endCxn id="4" idx="1"/>
            </p:cNvCxnSpPr>
            <p:nvPr/>
          </p:nvCxnSpPr>
          <p:spPr>
            <a:xfrm>
              <a:off x="10350072" y="4277826"/>
              <a:ext cx="1313" cy="558354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EB200C73-D146-6BFF-87CC-8991074DB109}"/>
                </a:ext>
              </a:extLst>
            </p:cNvPr>
            <p:cNvCxnSpPr>
              <a:cxnSpLocks/>
            </p:cNvCxnSpPr>
            <p:nvPr/>
          </p:nvCxnSpPr>
          <p:spPr>
            <a:xfrm>
              <a:off x="10317695" y="4409984"/>
              <a:ext cx="986435" cy="0"/>
            </a:xfrm>
            <a:prstGeom prst="straightConnector1">
              <a:avLst/>
            </a:prstGeom>
            <a:ln w="762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714D5252-66F5-959D-EFA0-6BB561D6BCB9}"/>
                </a:ext>
              </a:extLst>
            </p:cNvPr>
            <p:cNvSpPr txBox="1"/>
            <p:nvPr/>
          </p:nvSpPr>
          <p:spPr>
            <a:xfrm>
              <a:off x="10536931" y="3655288"/>
              <a:ext cx="79286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/>
                <a:t>T</a:t>
              </a:r>
              <a:r>
                <a:rPr lang="en-US" sz="3600" b="1" baseline="-25000" dirty="0"/>
                <a:t>0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6F426C3-382D-D78B-F0FB-093BA9D6CD2D}"/>
                </a:ext>
              </a:extLst>
            </p:cNvPr>
            <p:cNvSpPr txBox="1"/>
            <p:nvPr/>
          </p:nvSpPr>
          <p:spPr>
            <a:xfrm>
              <a:off x="11515343" y="2691247"/>
              <a:ext cx="1271191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b="1" dirty="0"/>
                <a:t>How to measure the time of each step?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10961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1AFD1-F90F-CFAE-F943-B00E8FBD0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B44A549-FEDC-E403-453C-C50ABD4DA24F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14962667" y="9344408"/>
            <a:ext cx="0" cy="171380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FA96390-3077-DE37-8F2C-23AA4A9212BF}"/>
              </a:ext>
            </a:extLst>
          </p:cNvPr>
          <p:cNvCxnSpPr>
            <a:cxnSpLocks/>
          </p:cNvCxnSpPr>
          <p:nvPr/>
        </p:nvCxnSpPr>
        <p:spPr>
          <a:xfrm>
            <a:off x="13132921" y="7354515"/>
            <a:ext cx="0" cy="244837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6EA4F3F-7CEC-FE85-EA47-04B5324F17D4}"/>
              </a:ext>
            </a:extLst>
          </p:cNvPr>
          <p:cNvCxnSpPr>
            <a:cxnSpLocks/>
          </p:cNvCxnSpPr>
          <p:nvPr/>
        </p:nvCxnSpPr>
        <p:spPr>
          <a:xfrm>
            <a:off x="11304130" y="4277826"/>
            <a:ext cx="0" cy="3006724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BA989153-6A37-F7F6-9603-3E26E625608C}"/>
              </a:ext>
            </a:extLst>
          </p:cNvPr>
          <p:cNvSpPr/>
          <p:nvPr/>
        </p:nvSpPr>
        <p:spPr>
          <a:xfrm>
            <a:off x="10351385" y="4641033"/>
            <a:ext cx="952745" cy="3902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Chunk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D5E9EC1-B69C-E2DE-456E-0B7C96C301D1}"/>
                  </a:ext>
                </a:extLst>
              </p:cNvPr>
              <p:cNvSpPr txBox="1"/>
              <p:nvPr/>
            </p:nvSpPr>
            <p:spPr>
              <a:xfrm>
                <a:off x="14858267" y="3948189"/>
                <a:ext cx="10232351" cy="50806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/>
                  <a:t>Ring, Simple; FIFO Depth = 4</a:t>
                </a:r>
              </a:p>
              <a:p>
                <a:pPr marL="742950" indent="-742950">
                  <a:buFont typeface="+mj-lt"/>
                  <a:buAutoNum type="arabicPeriod"/>
                </a:pPr>
                <a:r>
                  <a:rPr lang="en-US" sz="3600" dirty="0"/>
                  <a:t>Total time = T</a:t>
                </a:r>
                <a:r>
                  <a:rPr lang="en-US" sz="3600" baseline="-25000" dirty="0"/>
                  <a:t>0</a:t>
                </a:r>
                <a:r>
                  <a:rPr lang="en-US" sz="3600" dirty="0"/>
                  <a:t> + T</a:t>
                </a:r>
                <a:r>
                  <a:rPr lang="en-US" sz="3600" baseline="-25000" dirty="0"/>
                  <a:t>1</a:t>
                </a:r>
                <a:r>
                  <a:rPr lang="en-US" sz="3600" dirty="0"/>
                  <a:t> + T</a:t>
                </a:r>
                <a:r>
                  <a:rPr lang="en-US" sz="3600" baseline="-25000" dirty="0"/>
                  <a:t>2</a:t>
                </a:r>
                <a:r>
                  <a:rPr lang="en-US" sz="3600" dirty="0"/>
                  <a:t> + T</a:t>
                </a:r>
                <a:r>
                  <a:rPr lang="en-US" sz="3600" baseline="-25000" dirty="0"/>
                  <a:t>3</a:t>
                </a:r>
                <a:r>
                  <a:rPr lang="en-US" sz="3600" dirty="0"/>
                  <a:t> + … + T</a:t>
                </a:r>
                <a:r>
                  <a:rPr lang="en-US" sz="3600" baseline="-25000" dirty="0"/>
                  <a:t>n-1</a:t>
                </a:r>
              </a:p>
              <a:p>
                <a:pPr marL="742950" indent="-742950">
                  <a:buFont typeface="+mj-lt"/>
                  <a:buAutoNum type="arabicPeriod"/>
                </a:pPr>
                <a:r>
                  <a:rPr lang="en-US" sz="3600" dirty="0"/>
                  <a:t>n = ⌈number of chunks / FIFO Depth⌉</a:t>
                </a:r>
              </a:p>
              <a:p>
                <a:pPr marL="742950" indent="-742950">
                  <a:buFont typeface="+mj-lt"/>
                  <a:buAutoNum type="arabicPeriod"/>
                </a:pPr>
                <a:r>
                  <a:rPr lang="en-US" sz="3600" dirty="0"/>
                  <a:t>Per-chunk transmission time: T</a:t>
                </a:r>
                <a:r>
                  <a:rPr lang="en-US" sz="3600" baseline="-25000" dirty="0"/>
                  <a:t>i</a:t>
                </a:r>
                <a:r>
                  <a:rPr lang="en-US" sz="3600" dirty="0"/>
                  <a:t> = G × S + L’</a:t>
                </a:r>
              </a:p>
              <a:p>
                <a:pPr marL="742950" indent="-742950">
                  <a:buFont typeface="+mj-lt"/>
                  <a:buAutoNum type="arabicPeriod"/>
                </a:pPr>
                <a:r>
                  <a:rPr lang="en-US" sz="3600" dirty="0"/>
                  <a:t>Chunk size: S = min(message size / (#channels * #GPUs), max_chunk_size)</a:t>
                </a:r>
              </a:p>
              <a:p>
                <a:pPr marL="742950" indent="-742950">
                  <a:buFont typeface="+mj-lt"/>
                  <a:buAutoNum type="arabicPeriod"/>
                </a:pPr>
                <a:r>
                  <a:rPr lang="en-US" sz="3600" dirty="0"/>
                  <a:t>Mean transmission time: T</a:t>
                </a:r>
                <a:r>
                  <a:rPr lang="en-US" sz="3600" baseline="-25000" dirty="0"/>
                  <a:t>mean </a:t>
                </a:r>
                <a:r>
                  <a:rPr lang="en-US" sz="3600" dirty="0"/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3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3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3600" b="1" baseline="-25000" dirty="0"/>
                  <a:t> </a:t>
                </a:r>
                <a:r>
                  <a:rPr lang="en-US" sz="3600" dirty="0"/>
                  <a:t>/ n</a:t>
                </a:r>
              </a:p>
              <a:p>
                <a:pPr marL="742950" indent="-742950">
                  <a:buFont typeface="+mj-lt"/>
                  <a:buAutoNum type="arabicPeriod"/>
                </a:pPr>
                <a:r>
                  <a:rPr lang="en-US" sz="3600" dirty="0"/>
                  <a:t>Linear model: T</a:t>
                </a:r>
                <a:r>
                  <a:rPr lang="en-US" sz="3600" baseline="-25000" dirty="0"/>
                  <a:t>mean </a:t>
                </a:r>
                <a:r>
                  <a:rPr lang="en-US" sz="3600" dirty="0"/>
                  <a:t>= G × S + L’, we determine the G through linear regression.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D5E9EC1-B69C-E2DE-456E-0B7C96C301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58267" y="3948189"/>
                <a:ext cx="10232351" cy="5080686"/>
              </a:xfrm>
              <a:prstGeom prst="rect">
                <a:avLst/>
              </a:prstGeom>
              <a:blipFill>
                <a:blip r:embed="rId2"/>
                <a:stretch>
                  <a:fillRect l="-1859" t="-2000" r="-496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7520F857-463C-53FF-093E-FFBD5B62E96A}"/>
              </a:ext>
            </a:extLst>
          </p:cNvPr>
          <p:cNvSpPr/>
          <p:nvPr/>
        </p:nvSpPr>
        <p:spPr>
          <a:xfrm>
            <a:off x="10461182" y="5180548"/>
            <a:ext cx="1240981" cy="3902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Chunk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25E08A-89F9-2B59-30E4-09887A484B6E}"/>
              </a:ext>
            </a:extLst>
          </p:cNvPr>
          <p:cNvSpPr/>
          <p:nvPr/>
        </p:nvSpPr>
        <p:spPr>
          <a:xfrm>
            <a:off x="10570979" y="5720063"/>
            <a:ext cx="1559007" cy="3902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Chunk 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4476F9-D21D-7950-6999-8DB11039FFA9}"/>
              </a:ext>
            </a:extLst>
          </p:cNvPr>
          <p:cNvSpPr/>
          <p:nvPr/>
        </p:nvSpPr>
        <p:spPr>
          <a:xfrm>
            <a:off x="10680776" y="6259579"/>
            <a:ext cx="1828800" cy="3902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Chunk 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0BF8FE-611E-8445-BC87-374649266EC9}"/>
              </a:ext>
            </a:extLst>
          </p:cNvPr>
          <p:cNvSpPr/>
          <p:nvPr/>
        </p:nvSpPr>
        <p:spPr>
          <a:xfrm>
            <a:off x="11305076" y="7172211"/>
            <a:ext cx="1828800" cy="3902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Chunk 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F66FB5-E720-531D-2F34-11F64C4B849C}"/>
              </a:ext>
            </a:extLst>
          </p:cNvPr>
          <p:cNvSpPr/>
          <p:nvPr/>
        </p:nvSpPr>
        <p:spPr>
          <a:xfrm>
            <a:off x="11703692" y="7711726"/>
            <a:ext cx="1828800" cy="3902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Chunk 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2B3770-F758-161D-1DF2-3D0CCFF4A6F1}"/>
              </a:ext>
            </a:extLst>
          </p:cNvPr>
          <p:cNvSpPr/>
          <p:nvPr/>
        </p:nvSpPr>
        <p:spPr>
          <a:xfrm>
            <a:off x="12137477" y="8251241"/>
            <a:ext cx="1828800" cy="3902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Chunk 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1776F9-2378-E9F5-00F1-0B204D782BB9}"/>
              </a:ext>
            </a:extLst>
          </p:cNvPr>
          <p:cNvSpPr/>
          <p:nvPr/>
        </p:nvSpPr>
        <p:spPr>
          <a:xfrm>
            <a:off x="12500923" y="8790757"/>
            <a:ext cx="1828800" cy="3902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Chunk 7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4965D5-D64F-5FA0-B1E8-5C4F3CAD8FA8}"/>
              </a:ext>
            </a:extLst>
          </p:cNvPr>
          <p:cNvSpPr/>
          <p:nvPr/>
        </p:nvSpPr>
        <p:spPr>
          <a:xfrm>
            <a:off x="10074291" y="4533455"/>
            <a:ext cx="2655526" cy="2277662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6C7C9F-681A-0496-7921-4CD3F00EC803}"/>
              </a:ext>
            </a:extLst>
          </p:cNvPr>
          <p:cNvSpPr/>
          <p:nvPr/>
        </p:nvSpPr>
        <p:spPr>
          <a:xfrm>
            <a:off x="11037693" y="7066746"/>
            <a:ext cx="3554137" cy="2277662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B7512B9-DCF1-5B28-AA64-E7AC48C1A059}"/>
              </a:ext>
            </a:extLst>
          </p:cNvPr>
          <p:cNvCxnSpPr>
            <a:cxnSpLocks/>
          </p:cNvCxnSpPr>
          <p:nvPr/>
        </p:nvCxnSpPr>
        <p:spPr>
          <a:xfrm>
            <a:off x="11312783" y="6923316"/>
            <a:ext cx="1820138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76E3A852-F4D9-076C-AFEE-379F6ED4F99B}"/>
              </a:ext>
            </a:extLst>
          </p:cNvPr>
          <p:cNvSpPr/>
          <p:nvPr/>
        </p:nvSpPr>
        <p:spPr>
          <a:xfrm>
            <a:off x="13133867" y="9690546"/>
            <a:ext cx="1828800" cy="3902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Chunk 8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9C478D4-57ED-0651-69C0-86E60C381EB7}"/>
              </a:ext>
            </a:extLst>
          </p:cNvPr>
          <p:cNvSpPr/>
          <p:nvPr/>
        </p:nvSpPr>
        <p:spPr>
          <a:xfrm>
            <a:off x="14962667" y="10863061"/>
            <a:ext cx="1828800" cy="3902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Chunk 12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623B027-C1CF-ED18-3826-020AF4B11541}"/>
              </a:ext>
            </a:extLst>
          </p:cNvPr>
          <p:cNvCxnSpPr>
            <a:cxnSpLocks/>
          </p:cNvCxnSpPr>
          <p:nvPr/>
        </p:nvCxnSpPr>
        <p:spPr>
          <a:xfrm>
            <a:off x="13142529" y="9476495"/>
            <a:ext cx="1820138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E5F52A89-76B5-626B-688B-7CB561E9148C}"/>
              </a:ext>
            </a:extLst>
          </p:cNvPr>
          <p:cNvSpPr txBox="1"/>
          <p:nvPr/>
        </p:nvSpPr>
        <p:spPr>
          <a:xfrm>
            <a:off x="15018845" y="9153329"/>
            <a:ext cx="7928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T</a:t>
            </a:r>
            <a:r>
              <a:rPr lang="en-US" sz="3600" b="1" baseline="-250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F15B90A-EA4E-1F48-CDD6-97987EB6C335}"/>
              </a:ext>
            </a:extLst>
          </p:cNvPr>
          <p:cNvSpPr txBox="1"/>
          <p:nvPr/>
        </p:nvSpPr>
        <p:spPr>
          <a:xfrm>
            <a:off x="13151548" y="6452683"/>
            <a:ext cx="7928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T</a:t>
            </a:r>
            <a:r>
              <a:rPr lang="en-US" sz="3600" b="1" baseline="-25000" dirty="0"/>
              <a:t>1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BB59A39-FA20-6A61-05A4-6C610C612080}"/>
              </a:ext>
            </a:extLst>
          </p:cNvPr>
          <p:cNvCxnSpPr>
            <a:cxnSpLocks/>
          </p:cNvCxnSpPr>
          <p:nvPr/>
        </p:nvCxnSpPr>
        <p:spPr>
          <a:xfrm flipH="1">
            <a:off x="13124668" y="6720608"/>
            <a:ext cx="0" cy="724994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24A55F3-726A-6EE0-9FA0-779FA4A9DAF2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10350072" y="4277826"/>
            <a:ext cx="1313" cy="558354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D65F7B9-6EB2-9C76-4EC3-DF6F51336409}"/>
              </a:ext>
            </a:extLst>
          </p:cNvPr>
          <p:cNvCxnSpPr>
            <a:cxnSpLocks/>
          </p:cNvCxnSpPr>
          <p:nvPr/>
        </p:nvCxnSpPr>
        <p:spPr>
          <a:xfrm>
            <a:off x="10317695" y="4409984"/>
            <a:ext cx="986435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21E6AEA3-A983-D2A4-C823-3F992AB993D9}"/>
              </a:ext>
            </a:extLst>
          </p:cNvPr>
          <p:cNvSpPr txBox="1"/>
          <p:nvPr/>
        </p:nvSpPr>
        <p:spPr>
          <a:xfrm>
            <a:off x="10536931" y="3655288"/>
            <a:ext cx="7928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T</a:t>
            </a:r>
            <a:r>
              <a:rPr lang="en-US" sz="3600" b="1" baseline="-25000" dirty="0"/>
              <a:t>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DE5517-C528-1869-E7F2-AF9C30A1C028}"/>
              </a:ext>
            </a:extLst>
          </p:cNvPr>
          <p:cNvSpPr txBox="1"/>
          <p:nvPr/>
        </p:nvSpPr>
        <p:spPr>
          <a:xfrm>
            <a:off x="13547981" y="2732965"/>
            <a:ext cx="95797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Ring Measurement Method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F9D3DA1-ACE9-8588-C6D6-31580B0A2939}"/>
              </a:ext>
            </a:extLst>
          </p:cNvPr>
          <p:cNvCxnSpPr>
            <a:cxnSpLocks/>
          </p:cNvCxnSpPr>
          <p:nvPr/>
        </p:nvCxnSpPr>
        <p:spPr>
          <a:xfrm>
            <a:off x="14145755" y="10371736"/>
            <a:ext cx="1820138" cy="0"/>
          </a:xfrm>
          <a:prstGeom prst="straightConnector1">
            <a:avLst/>
          </a:prstGeom>
          <a:ln w="114300" cap="rnd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E91A891-F9DB-D612-B973-D203FE5B75A7}"/>
              </a:ext>
            </a:extLst>
          </p:cNvPr>
          <p:cNvCxnSpPr>
            <a:cxnSpLocks/>
          </p:cNvCxnSpPr>
          <p:nvPr/>
        </p:nvCxnSpPr>
        <p:spPr>
          <a:xfrm>
            <a:off x="16203992" y="11589675"/>
            <a:ext cx="1820138" cy="0"/>
          </a:xfrm>
          <a:prstGeom prst="straightConnector1">
            <a:avLst/>
          </a:prstGeom>
          <a:ln w="114300" cap="rnd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D49595-67FC-844B-52AE-DA2AD8A1A08C}"/>
              </a:ext>
            </a:extLst>
          </p:cNvPr>
          <p:cNvSpPr/>
          <p:nvPr/>
        </p:nvSpPr>
        <p:spPr>
          <a:xfrm>
            <a:off x="17527741" y="12183991"/>
            <a:ext cx="1828800" cy="3902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Chunk 4 × (n-1)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2A59185-992B-A490-6238-80F0923E0E2F}"/>
              </a:ext>
            </a:extLst>
          </p:cNvPr>
          <p:cNvCxnSpPr>
            <a:cxnSpLocks/>
          </p:cNvCxnSpPr>
          <p:nvPr/>
        </p:nvCxnSpPr>
        <p:spPr>
          <a:xfrm>
            <a:off x="14966998" y="10702345"/>
            <a:ext cx="1820138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732CBB-4DDA-0868-B668-B06F9F08406D}"/>
              </a:ext>
            </a:extLst>
          </p:cNvPr>
          <p:cNvCxnSpPr>
            <a:cxnSpLocks/>
            <a:endCxn id="39" idx="3"/>
          </p:cNvCxnSpPr>
          <p:nvPr/>
        </p:nvCxnSpPr>
        <p:spPr>
          <a:xfrm>
            <a:off x="16791467" y="10518693"/>
            <a:ext cx="0" cy="539515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2B2257C-399F-C3A9-C624-B1ADDCFE7633}"/>
              </a:ext>
            </a:extLst>
          </p:cNvPr>
          <p:cNvSpPr txBox="1"/>
          <p:nvPr/>
        </p:nvSpPr>
        <p:spPr>
          <a:xfrm>
            <a:off x="15877067" y="10025997"/>
            <a:ext cx="7928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T</a:t>
            </a:r>
            <a:r>
              <a:rPr lang="en-US" sz="3600" b="1" baseline="-25000" dirty="0"/>
              <a:t>3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A3A2182-2691-529A-FEB9-CC5B7591991C}"/>
              </a:ext>
            </a:extLst>
          </p:cNvPr>
          <p:cNvCxnSpPr>
            <a:cxnSpLocks/>
          </p:cNvCxnSpPr>
          <p:nvPr/>
        </p:nvCxnSpPr>
        <p:spPr>
          <a:xfrm>
            <a:off x="17521887" y="11968522"/>
            <a:ext cx="1820138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3F41712-41C7-8630-8330-5B42C315BF12}"/>
              </a:ext>
            </a:extLst>
          </p:cNvPr>
          <p:cNvCxnSpPr>
            <a:cxnSpLocks/>
          </p:cNvCxnSpPr>
          <p:nvPr/>
        </p:nvCxnSpPr>
        <p:spPr>
          <a:xfrm>
            <a:off x="19346356" y="11784870"/>
            <a:ext cx="0" cy="539515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3464724-EC89-9758-29E9-7409CC77689D}"/>
              </a:ext>
            </a:extLst>
          </p:cNvPr>
          <p:cNvSpPr txBox="1"/>
          <p:nvPr/>
        </p:nvSpPr>
        <p:spPr>
          <a:xfrm>
            <a:off x="18127353" y="11266509"/>
            <a:ext cx="10328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T</a:t>
            </a:r>
            <a:r>
              <a:rPr lang="en-US" sz="3600" b="1" baseline="-25000" dirty="0"/>
              <a:t>n-1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206D9B3-504D-70EF-CBDE-DFA67632D0B9}"/>
              </a:ext>
            </a:extLst>
          </p:cNvPr>
          <p:cNvCxnSpPr>
            <a:cxnSpLocks/>
          </p:cNvCxnSpPr>
          <p:nvPr/>
        </p:nvCxnSpPr>
        <p:spPr>
          <a:xfrm>
            <a:off x="17521887" y="11780409"/>
            <a:ext cx="0" cy="539515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83A76514-92B5-60DD-7CC4-12220F7A05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5852" y="2944087"/>
            <a:ext cx="4092404" cy="693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585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2C7FC5A-396F-391D-9557-847886B9EC69}"/>
              </a:ext>
            </a:extLst>
          </p:cNvPr>
          <p:cNvCxnSpPr>
            <a:stCxn id="4" idx="3"/>
          </p:cNvCxnSpPr>
          <p:nvPr/>
        </p:nvCxnSpPr>
        <p:spPr>
          <a:xfrm>
            <a:off x="18157902" y="5158906"/>
            <a:ext cx="0" cy="3070694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7E70C7C2-E49A-0FE2-9D87-02A8493912C9}"/>
              </a:ext>
            </a:extLst>
          </p:cNvPr>
          <p:cNvSpPr/>
          <p:nvPr/>
        </p:nvSpPr>
        <p:spPr>
          <a:xfrm>
            <a:off x="13418634" y="4963762"/>
            <a:ext cx="4739268" cy="3902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Chunk 0 (8 KB)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A81BF1-182F-A5AE-CCFC-42F746BDC34D}"/>
              </a:ext>
            </a:extLst>
          </p:cNvPr>
          <p:cNvSpPr/>
          <p:nvPr/>
        </p:nvSpPr>
        <p:spPr>
          <a:xfrm>
            <a:off x="15350328" y="6116954"/>
            <a:ext cx="4739268" cy="3902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Chunk 2 (8 KB)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6A2FCA-EEB3-A42A-A235-62DD5557D8B1}"/>
              </a:ext>
            </a:extLst>
          </p:cNvPr>
          <p:cNvSpPr txBox="1"/>
          <p:nvPr/>
        </p:nvSpPr>
        <p:spPr>
          <a:xfrm>
            <a:off x="12541010" y="4238002"/>
            <a:ext cx="7548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the chunk size in GPU Kernel&lt;= 16KB, for example, now chunk size = 8KB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3ECA4A-925C-106D-1B47-ED0CFB7FFC29}"/>
              </a:ext>
            </a:extLst>
          </p:cNvPr>
          <p:cNvSpPr/>
          <p:nvPr/>
        </p:nvSpPr>
        <p:spPr>
          <a:xfrm>
            <a:off x="14320749" y="5531514"/>
            <a:ext cx="3056867" cy="3902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Chunk 1 (0 KB)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0C3684-7C0C-D923-FB3F-CA96DE6BBE4F}"/>
              </a:ext>
            </a:extLst>
          </p:cNvPr>
          <p:cNvSpPr/>
          <p:nvPr/>
        </p:nvSpPr>
        <p:spPr>
          <a:xfrm>
            <a:off x="16408102" y="6662668"/>
            <a:ext cx="3056867" cy="3902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Chunk 3 (0 KB)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B1A8C81-CE86-40BD-7AAD-2499AD73728E}"/>
              </a:ext>
            </a:extLst>
          </p:cNvPr>
          <p:cNvSpPr/>
          <p:nvPr/>
        </p:nvSpPr>
        <p:spPr>
          <a:xfrm>
            <a:off x="18157902" y="7610392"/>
            <a:ext cx="4739268" cy="3902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Chunk 4 (8 KB)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723903-C543-7491-ED97-38598CD0B9C4}"/>
              </a:ext>
            </a:extLst>
          </p:cNvPr>
          <p:cNvSpPr txBox="1"/>
          <p:nvPr/>
        </p:nvSpPr>
        <p:spPr>
          <a:xfrm>
            <a:off x="10292967" y="7159207"/>
            <a:ext cx="47392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Proxy Send Process</a:t>
            </a:r>
          </a:p>
          <a:p>
            <a:r>
              <a:rPr lang="en-US" sz="3600" b="1" dirty="0"/>
              <a:t>FIFO Depth =4</a:t>
            </a:r>
          </a:p>
        </p:txBody>
      </p:sp>
    </p:spTree>
    <p:extLst>
      <p:ext uri="{BB962C8B-B14F-4D97-AF65-F5344CB8AC3E}">
        <p14:creationId xmlns:p14="http://schemas.microsoft.com/office/powerpoint/2010/main" val="1499917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81DC6-21F3-43C6-B7F8-4395EC85B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C9F0A15-048A-472A-CA46-1024BC2FA9AD}"/>
              </a:ext>
            </a:extLst>
          </p:cNvPr>
          <p:cNvSpPr txBox="1"/>
          <p:nvPr/>
        </p:nvSpPr>
        <p:spPr>
          <a:xfrm>
            <a:off x="12760875" y="4011313"/>
            <a:ext cx="482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16 KB &lt;= chunk size in GPU Kernel &lt; 32KB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4A6CC11-F0AB-5337-935B-64EFC7BD6A45}"/>
              </a:ext>
            </a:extLst>
          </p:cNvPr>
          <p:cNvCxnSpPr>
            <a:stCxn id="8" idx="3"/>
          </p:cNvCxnSpPr>
          <p:nvPr/>
        </p:nvCxnSpPr>
        <p:spPr>
          <a:xfrm>
            <a:off x="17147249" y="4870148"/>
            <a:ext cx="0" cy="3070694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9ED1C13A-7C94-1F62-974B-323C48B6A5BE}"/>
              </a:ext>
            </a:extLst>
          </p:cNvPr>
          <p:cNvSpPr/>
          <p:nvPr/>
        </p:nvSpPr>
        <p:spPr>
          <a:xfrm>
            <a:off x="12407981" y="4675004"/>
            <a:ext cx="4739268" cy="3902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Chunk 0 (16 KB)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36B980-5A62-42A9-0C2B-D640B880B9F8}"/>
              </a:ext>
            </a:extLst>
          </p:cNvPr>
          <p:cNvSpPr/>
          <p:nvPr/>
        </p:nvSpPr>
        <p:spPr>
          <a:xfrm>
            <a:off x="14339675" y="5828196"/>
            <a:ext cx="4739268" cy="3902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Chunk 2 (16 KB)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14A150-093D-3810-1187-838B45CFC0EF}"/>
              </a:ext>
            </a:extLst>
          </p:cNvPr>
          <p:cNvSpPr/>
          <p:nvPr/>
        </p:nvSpPr>
        <p:spPr>
          <a:xfrm>
            <a:off x="13310092" y="5242756"/>
            <a:ext cx="3749040" cy="3902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Chunk 1 (chunk size in GPU Kernel – 16KB)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A863B6-3D03-1A71-50AE-001F518D85F2}"/>
              </a:ext>
            </a:extLst>
          </p:cNvPr>
          <p:cNvSpPr/>
          <p:nvPr/>
        </p:nvSpPr>
        <p:spPr>
          <a:xfrm>
            <a:off x="15397445" y="6373910"/>
            <a:ext cx="3749040" cy="3902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Chunk 3 (chunk size in GPU Kernel – 16KB)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8A2B58-D763-506F-77B6-2CF4C577264F}"/>
              </a:ext>
            </a:extLst>
          </p:cNvPr>
          <p:cNvSpPr/>
          <p:nvPr/>
        </p:nvSpPr>
        <p:spPr>
          <a:xfrm>
            <a:off x="17147249" y="7321634"/>
            <a:ext cx="4739268" cy="3902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Chunk 4 (16 KB)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BAF8E04-3DDA-8979-B787-F0CB0529C0C4}"/>
              </a:ext>
            </a:extLst>
          </p:cNvPr>
          <p:cNvCxnSpPr/>
          <p:nvPr/>
        </p:nvCxnSpPr>
        <p:spPr>
          <a:xfrm>
            <a:off x="21886517" y="6858000"/>
            <a:ext cx="0" cy="3070694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CA45183D-6DE0-2FE1-7FAA-297460F79C34}"/>
              </a:ext>
            </a:extLst>
          </p:cNvPr>
          <p:cNvSpPr/>
          <p:nvPr/>
        </p:nvSpPr>
        <p:spPr>
          <a:xfrm>
            <a:off x="21886517" y="8836904"/>
            <a:ext cx="4739268" cy="3902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Chunk 8 (16 KB)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7715AA-59B5-EFDF-0865-59A3D112CDFA}"/>
              </a:ext>
            </a:extLst>
          </p:cNvPr>
          <p:cNvCxnSpPr>
            <a:cxnSpLocks/>
          </p:cNvCxnSpPr>
          <p:nvPr/>
        </p:nvCxnSpPr>
        <p:spPr>
          <a:xfrm>
            <a:off x="19658549" y="8413735"/>
            <a:ext cx="1954306" cy="0"/>
          </a:xfrm>
          <a:prstGeom prst="line">
            <a:avLst/>
          </a:prstGeom>
          <a:ln w="203200" cap="rnd">
            <a:solidFill>
              <a:schemeClr val="tx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ED081BC-0903-3B63-C948-1C4253C00DCD}"/>
              </a:ext>
            </a:extLst>
          </p:cNvPr>
          <p:cNvSpPr txBox="1"/>
          <p:nvPr/>
        </p:nvSpPr>
        <p:spPr>
          <a:xfrm>
            <a:off x="19658549" y="4488805"/>
            <a:ext cx="71088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The blue box is the bottleneck for the total communication, so the white box doesn’t matter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CBAB69-441F-161E-10F5-08CBEB244696}"/>
              </a:ext>
            </a:extLst>
          </p:cNvPr>
          <p:cNvSpPr txBox="1"/>
          <p:nvPr/>
        </p:nvSpPr>
        <p:spPr>
          <a:xfrm>
            <a:off x="9950244" y="7180123"/>
            <a:ext cx="45023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Proxy Send Process</a:t>
            </a:r>
          </a:p>
          <a:p>
            <a:r>
              <a:rPr lang="en-US" sz="3600" b="1" dirty="0"/>
              <a:t>FIFO Depth =4</a:t>
            </a:r>
          </a:p>
        </p:txBody>
      </p:sp>
    </p:spTree>
    <p:extLst>
      <p:ext uri="{BB962C8B-B14F-4D97-AF65-F5344CB8AC3E}">
        <p14:creationId xmlns:p14="http://schemas.microsoft.com/office/powerpoint/2010/main" val="3682117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4EB4C-CD16-B9BD-723D-E0165C00C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493D853-4814-4B1F-186A-C24E44CA7E43}"/>
              </a:ext>
            </a:extLst>
          </p:cNvPr>
          <p:cNvCxnSpPr>
            <a:cxnSpLocks/>
          </p:cNvCxnSpPr>
          <p:nvPr/>
        </p:nvCxnSpPr>
        <p:spPr>
          <a:xfrm>
            <a:off x="10705431" y="3533546"/>
            <a:ext cx="0" cy="75350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260224F-147B-72FF-4502-0A595AA50849}"/>
              </a:ext>
            </a:extLst>
          </p:cNvPr>
          <p:cNvCxnSpPr>
            <a:cxnSpLocks/>
          </p:cNvCxnSpPr>
          <p:nvPr/>
        </p:nvCxnSpPr>
        <p:spPr>
          <a:xfrm>
            <a:off x="13494427" y="6610235"/>
            <a:ext cx="0" cy="244837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B3A3C4E-E4F8-C164-6714-01CD979D68F8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11665636" y="4091900"/>
            <a:ext cx="0" cy="244837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C8E3D88-3322-1956-355C-BD71185E23AF}"/>
              </a:ext>
            </a:extLst>
          </p:cNvPr>
          <p:cNvSpPr/>
          <p:nvPr/>
        </p:nvSpPr>
        <p:spPr>
          <a:xfrm>
            <a:off x="10712892" y="3896754"/>
            <a:ext cx="952745" cy="3902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Chunk 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856332-587C-D559-D907-6E1B2805EFFD}"/>
              </a:ext>
            </a:extLst>
          </p:cNvPr>
          <p:cNvSpPr txBox="1"/>
          <p:nvPr/>
        </p:nvSpPr>
        <p:spPr>
          <a:xfrm>
            <a:off x="16869371" y="1216734"/>
            <a:ext cx="9717652" cy="11910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Proxy Send Process, Tree, Simple</a:t>
            </a:r>
          </a:p>
          <a:p>
            <a:r>
              <a:rPr lang="en-US" sz="3600" b="1" dirty="0"/>
              <a:t>If FIFO Depth = 4</a:t>
            </a:r>
          </a:p>
          <a:p>
            <a:endParaRPr lang="en-US" sz="3600" b="1" dirty="0"/>
          </a:p>
          <a:p>
            <a:r>
              <a:rPr lang="en-US" sz="3600" dirty="0"/>
              <a:t>1. Total time = T</a:t>
            </a:r>
            <a:r>
              <a:rPr lang="en-US" sz="3600" baseline="-25000" dirty="0"/>
              <a:t>0</a:t>
            </a:r>
            <a:r>
              <a:rPr lang="en-US" sz="3600" dirty="0"/>
              <a:t> * (2 * log</a:t>
            </a:r>
            <a:r>
              <a:rPr lang="en-US" sz="3600" baseline="-25000" dirty="0"/>
              <a:t>2</a:t>
            </a:r>
            <a:r>
              <a:rPr lang="en-US" sz="3600" dirty="0"/>
              <a:t>(# nodes))+ T</a:t>
            </a:r>
            <a:r>
              <a:rPr lang="en-US" sz="3600" baseline="-25000" dirty="0"/>
              <a:t>1</a:t>
            </a:r>
          </a:p>
          <a:p>
            <a:endParaRPr lang="en-US" sz="3600" baseline="-25000" dirty="0"/>
          </a:p>
          <a:p>
            <a:r>
              <a:rPr lang="en-US" sz="3600" dirty="0"/>
              <a:t>2. T</a:t>
            </a:r>
            <a:r>
              <a:rPr lang="en-US" sz="3600" baseline="-25000" dirty="0"/>
              <a:t>0</a:t>
            </a:r>
            <a:r>
              <a:rPr lang="en-US" sz="3600" dirty="0"/>
              <a:t> represents the preparation time for the first chunk, which involves intra-node reduction at each node. 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dirty="0"/>
              <a:t>Unlike the Ring algorithm where chunk size depends on the number of ranks (</a:t>
            </a:r>
            <a:r>
              <a:rPr lang="en-US" sz="3600" dirty="0" err="1"/>
              <a:t>nranks</a:t>
            </a:r>
            <a:r>
              <a:rPr lang="en-US" sz="3600" dirty="0"/>
              <a:t>), in the Tree algorithm, chunk size = msg size/#channels, and it has a fixed maximum value. 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dirty="0"/>
              <a:t>Therefore, T</a:t>
            </a:r>
            <a:r>
              <a:rPr lang="en-US" sz="3600" baseline="-25000" dirty="0"/>
              <a:t>0</a:t>
            </a:r>
            <a:r>
              <a:rPr lang="en-US" sz="3600" dirty="0"/>
              <a:t> follows two patterns:</a:t>
            </a:r>
          </a:p>
          <a:p>
            <a:pPr marL="1485900" lvl="2" indent="-571500">
              <a:buFont typeface="Wingdings" pitchFamily="2" charset="2"/>
              <a:buChar char="Ø"/>
            </a:pPr>
            <a:r>
              <a:rPr lang="en-US" sz="3600" dirty="0"/>
              <a:t>For small messages (msg &lt; ⍺): T</a:t>
            </a:r>
            <a:r>
              <a:rPr lang="en-US" sz="3600" baseline="-25000" dirty="0"/>
              <a:t>0</a:t>
            </a:r>
            <a:r>
              <a:rPr lang="en-US" sz="3600" dirty="0"/>
              <a:t> = L + o * </a:t>
            </a:r>
            <a:r>
              <a:rPr lang="en-US" sz="3600" dirty="0" err="1"/>
              <a:t>message_size</a:t>
            </a:r>
            <a:r>
              <a:rPr lang="en-US" sz="3600" dirty="0"/>
              <a:t>, Time increases linearly with message size.</a:t>
            </a:r>
          </a:p>
          <a:p>
            <a:pPr marL="1485900" lvl="2" indent="-571500">
              <a:buFont typeface="Wingdings" pitchFamily="2" charset="2"/>
              <a:buChar char="Ø"/>
            </a:pPr>
            <a:r>
              <a:rPr lang="en-US" sz="3600" dirty="0"/>
              <a:t>For large messages (msg ≥ ⍺): T</a:t>
            </a:r>
            <a:r>
              <a:rPr lang="en-US" sz="3600" baseline="-25000" dirty="0"/>
              <a:t>0</a:t>
            </a:r>
            <a:r>
              <a:rPr lang="en-US" sz="3600" dirty="0"/>
              <a:t> = </a:t>
            </a:r>
            <a:r>
              <a:rPr lang="el-GR" sz="3600" dirty="0"/>
              <a:t>β (</a:t>
            </a:r>
            <a:r>
              <a:rPr lang="en-US" sz="3600" dirty="0"/>
              <a:t>constant). Time remains constant due to the maximum chunk size limit</a:t>
            </a:r>
          </a:p>
          <a:p>
            <a:r>
              <a:rPr lang="en-US" sz="3600" dirty="0"/>
              <a:t>4. T</a:t>
            </a:r>
            <a:r>
              <a:rPr lang="en-US" sz="3600" baseline="-25000" dirty="0"/>
              <a:t>1</a:t>
            </a:r>
            <a:r>
              <a:rPr lang="en-US" sz="3600" dirty="0"/>
              <a:t> = G*S (S is message size)</a:t>
            </a:r>
          </a:p>
          <a:p>
            <a:endParaRPr lang="en-US" sz="3600" b="1" baseline="-25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407E82-8561-C7E9-1033-64DE248C27BA}"/>
              </a:ext>
            </a:extLst>
          </p:cNvPr>
          <p:cNvSpPr/>
          <p:nvPr/>
        </p:nvSpPr>
        <p:spPr>
          <a:xfrm>
            <a:off x="10822689" y="4436269"/>
            <a:ext cx="1240981" cy="3902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Chunk 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876308-48A1-A508-FA90-FCF699FB58C3}"/>
              </a:ext>
            </a:extLst>
          </p:cNvPr>
          <p:cNvSpPr/>
          <p:nvPr/>
        </p:nvSpPr>
        <p:spPr>
          <a:xfrm>
            <a:off x="10932486" y="4975784"/>
            <a:ext cx="1559007" cy="3902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Chunk 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D88F10-2A98-3EE6-739D-F83CAF7DB25C}"/>
              </a:ext>
            </a:extLst>
          </p:cNvPr>
          <p:cNvSpPr/>
          <p:nvPr/>
        </p:nvSpPr>
        <p:spPr>
          <a:xfrm>
            <a:off x="11042282" y="5515300"/>
            <a:ext cx="1828800" cy="3902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Chunk 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0C6553-69E1-642E-3D73-42CDFFEC2C2A}"/>
              </a:ext>
            </a:extLst>
          </p:cNvPr>
          <p:cNvSpPr/>
          <p:nvPr/>
        </p:nvSpPr>
        <p:spPr>
          <a:xfrm>
            <a:off x="11666582" y="6427932"/>
            <a:ext cx="1828800" cy="3902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Chunk 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548FA65-0937-3028-BD88-018D01DAFF8C}"/>
              </a:ext>
            </a:extLst>
          </p:cNvPr>
          <p:cNvSpPr/>
          <p:nvPr/>
        </p:nvSpPr>
        <p:spPr>
          <a:xfrm>
            <a:off x="12065198" y="6967447"/>
            <a:ext cx="1828800" cy="3902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Chunk 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A25BB7D-6407-7915-3453-AD6C4E1C556A}"/>
              </a:ext>
            </a:extLst>
          </p:cNvPr>
          <p:cNvSpPr/>
          <p:nvPr/>
        </p:nvSpPr>
        <p:spPr>
          <a:xfrm>
            <a:off x="12498983" y="7506962"/>
            <a:ext cx="1828800" cy="3902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Chunk 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58B6FA-9800-475C-D7C1-BB60343BDA5B}"/>
              </a:ext>
            </a:extLst>
          </p:cNvPr>
          <p:cNvSpPr/>
          <p:nvPr/>
        </p:nvSpPr>
        <p:spPr>
          <a:xfrm>
            <a:off x="12862429" y="8046478"/>
            <a:ext cx="1828800" cy="3902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Chunk 7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F3DDF6F-078C-0EFB-3501-1E55B97A458C}"/>
              </a:ext>
            </a:extLst>
          </p:cNvPr>
          <p:cNvSpPr/>
          <p:nvPr/>
        </p:nvSpPr>
        <p:spPr>
          <a:xfrm>
            <a:off x="13495373" y="8946267"/>
            <a:ext cx="1828800" cy="3902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Chunk 8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2A4285D-2A88-693C-0189-0C7486A6C2FA}"/>
              </a:ext>
            </a:extLst>
          </p:cNvPr>
          <p:cNvSpPr/>
          <p:nvPr/>
        </p:nvSpPr>
        <p:spPr>
          <a:xfrm>
            <a:off x="13893989" y="9485782"/>
            <a:ext cx="1828800" cy="3902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Chunk 9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CB1B6C1-A381-49A6-AA82-A3D1A3C73D56}"/>
              </a:ext>
            </a:extLst>
          </p:cNvPr>
          <p:cNvSpPr/>
          <p:nvPr/>
        </p:nvSpPr>
        <p:spPr>
          <a:xfrm>
            <a:off x="14327774" y="10025297"/>
            <a:ext cx="1828800" cy="3902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Chunk 10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151606F-7B25-1F57-8035-96D2244D99F0}"/>
              </a:ext>
            </a:extLst>
          </p:cNvPr>
          <p:cNvSpPr/>
          <p:nvPr/>
        </p:nvSpPr>
        <p:spPr>
          <a:xfrm>
            <a:off x="14691220" y="10564813"/>
            <a:ext cx="1828800" cy="3902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Chunk 11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11777D2-8636-3DBC-8F8B-1673865F18E2}"/>
              </a:ext>
            </a:extLst>
          </p:cNvPr>
          <p:cNvCxnSpPr>
            <a:cxnSpLocks/>
          </p:cNvCxnSpPr>
          <p:nvPr/>
        </p:nvCxnSpPr>
        <p:spPr>
          <a:xfrm>
            <a:off x="16520011" y="3370780"/>
            <a:ext cx="0" cy="7381858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981B030-A959-E4A7-4DB4-C3208257835A}"/>
              </a:ext>
            </a:extLst>
          </p:cNvPr>
          <p:cNvCxnSpPr>
            <a:cxnSpLocks/>
          </p:cNvCxnSpPr>
          <p:nvPr/>
        </p:nvCxnSpPr>
        <p:spPr>
          <a:xfrm>
            <a:off x="9761464" y="3571363"/>
            <a:ext cx="1313" cy="558354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FD6BB25-9BC6-628F-27C7-12D98CEB55E9}"/>
              </a:ext>
            </a:extLst>
          </p:cNvPr>
          <p:cNvCxnSpPr>
            <a:cxnSpLocks/>
          </p:cNvCxnSpPr>
          <p:nvPr/>
        </p:nvCxnSpPr>
        <p:spPr>
          <a:xfrm>
            <a:off x="10679201" y="3665704"/>
            <a:ext cx="584081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0EEF1F97-4D9D-AF16-52C2-646B3ADC51F3}"/>
              </a:ext>
            </a:extLst>
          </p:cNvPr>
          <p:cNvSpPr txBox="1"/>
          <p:nvPr/>
        </p:nvSpPr>
        <p:spPr>
          <a:xfrm>
            <a:off x="9920025" y="2903850"/>
            <a:ext cx="7928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T</a:t>
            </a:r>
            <a:r>
              <a:rPr lang="en-US" sz="3600" b="1" baseline="-25000" dirty="0"/>
              <a:t>0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0D54E3C-90B6-D757-F0E2-ED38531EBE4C}"/>
              </a:ext>
            </a:extLst>
          </p:cNvPr>
          <p:cNvSpPr/>
          <p:nvPr/>
        </p:nvSpPr>
        <p:spPr>
          <a:xfrm>
            <a:off x="9752687" y="3896754"/>
            <a:ext cx="952745" cy="39029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Chunk 0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5EF5D1F-7788-BBBB-E8F0-6CA80EEA7F80}"/>
              </a:ext>
            </a:extLst>
          </p:cNvPr>
          <p:cNvCxnSpPr>
            <a:cxnSpLocks/>
          </p:cNvCxnSpPr>
          <p:nvPr/>
        </p:nvCxnSpPr>
        <p:spPr>
          <a:xfrm>
            <a:off x="9735841" y="3665704"/>
            <a:ext cx="986435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200464D4-F2D6-844C-46A7-C0EA62EB49F6}"/>
              </a:ext>
            </a:extLst>
          </p:cNvPr>
          <p:cNvSpPr txBox="1"/>
          <p:nvPr/>
        </p:nvSpPr>
        <p:spPr>
          <a:xfrm>
            <a:off x="13413383" y="2899347"/>
            <a:ext cx="7928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T</a:t>
            </a:r>
            <a:r>
              <a:rPr lang="en-US" sz="3600" b="1" baseline="-25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56928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F7FAC-E8DF-32C2-64A8-3767952A7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57FF93A-B863-853B-4E39-5BACEC1AF0F7}"/>
              </a:ext>
            </a:extLst>
          </p:cNvPr>
          <p:cNvCxnSpPr>
            <a:cxnSpLocks/>
          </p:cNvCxnSpPr>
          <p:nvPr/>
        </p:nvCxnSpPr>
        <p:spPr>
          <a:xfrm flipH="1">
            <a:off x="10726986" y="3370780"/>
            <a:ext cx="0" cy="850265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51CBCCF-14C4-38DF-11EC-E87CE5AFEEDA}"/>
              </a:ext>
            </a:extLst>
          </p:cNvPr>
          <p:cNvCxnSpPr>
            <a:cxnSpLocks/>
            <a:stCxn id="10" idx="3"/>
          </p:cNvCxnSpPr>
          <p:nvPr/>
        </p:nvCxnSpPr>
        <p:spPr>
          <a:xfrm flipH="1">
            <a:off x="11665636" y="4091901"/>
            <a:ext cx="1" cy="234973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889B9FB6-0506-563B-EB4C-010C2B39A7CF}"/>
              </a:ext>
            </a:extLst>
          </p:cNvPr>
          <p:cNvSpPr/>
          <p:nvPr/>
        </p:nvSpPr>
        <p:spPr>
          <a:xfrm>
            <a:off x="10712892" y="3896754"/>
            <a:ext cx="952745" cy="3902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Chunk 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172BE2-7734-DBEC-BA97-E1CAB15C91E5}"/>
              </a:ext>
            </a:extLst>
          </p:cNvPr>
          <p:cNvSpPr txBox="1"/>
          <p:nvPr/>
        </p:nvSpPr>
        <p:spPr>
          <a:xfrm>
            <a:off x="16877736" y="3157107"/>
            <a:ext cx="819723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Tree, Simple, If FIFO Depth = 4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b="1" dirty="0"/>
              <a:t>Total time</a:t>
            </a:r>
            <a:r>
              <a:rPr lang="en-US" sz="3600" dirty="0"/>
              <a:t>: T = #chunks × G × S</a:t>
            </a:r>
            <a:r>
              <a:rPr lang="en-US" sz="3600" baseline="-25000" dirty="0"/>
              <a:t>chunk</a:t>
            </a:r>
            <a:r>
              <a:rPr lang="en-US" sz="3600" dirty="0"/>
              <a:t> + L'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/>
              <a:t>For large messages (message size &gt; max_chunk_size):</a:t>
            </a:r>
            <a:br>
              <a:rPr lang="en-US" sz="3600" dirty="0"/>
            </a:br>
            <a:r>
              <a:rPr lang="en-US" sz="3600" dirty="0"/>
              <a:t>#chunks = message size / S</a:t>
            </a:r>
            <a:r>
              <a:rPr lang="en-US" sz="3600" baseline="-25000" dirty="0"/>
              <a:t>chunk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b="1" dirty="0"/>
              <a:t>Substituting</a:t>
            </a:r>
            <a:r>
              <a:rPr lang="en-US" sz="3600" dirty="0"/>
              <a:t>: T = message size × G + L'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b="1" dirty="0"/>
              <a:t>Parameter extraction</a:t>
            </a:r>
            <a:r>
              <a:rPr lang="en-US" sz="3600" dirty="0"/>
              <a:t>: This linear relationship enables determination of G through linear regression.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B0D5F5-B041-CF9E-4113-DE9F24863B7C}"/>
              </a:ext>
            </a:extLst>
          </p:cNvPr>
          <p:cNvSpPr/>
          <p:nvPr/>
        </p:nvSpPr>
        <p:spPr>
          <a:xfrm>
            <a:off x="10822689" y="4436269"/>
            <a:ext cx="1240981" cy="3902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Chunk 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1D3229-A020-CC27-C90D-3AA95BC52CFD}"/>
              </a:ext>
            </a:extLst>
          </p:cNvPr>
          <p:cNvSpPr/>
          <p:nvPr/>
        </p:nvSpPr>
        <p:spPr>
          <a:xfrm>
            <a:off x="10932486" y="4975784"/>
            <a:ext cx="1559007" cy="3902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Chunk 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3891B18-CF1F-CD3C-C8EC-6E623C800B66}"/>
              </a:ext>
            </a:extLst>
          </p:cNvPr>
          <p:cNvSpPr/>
          <p:nvPr/>
        </p:nvSpPr>
        <p:spPr>
          <a:xfrm>
            <a:off x="11042282" y="5515300"/>
            <a:ext cx="1828800" cy="3902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Chunk 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669881-5E8C-3730-E61A-CBA4B5AA64A2}"/>
              </a:ext>
            </a:extLst>
          </p:cNvPr>
          <p:cNvSpPr/>
          <p:nvPr/>
        </p:nvSpPr>
        <p:spPr>
          <a:xfrm>
            <a:off x="11666582" y="6051338"/>
            <a:ext cx="1828800" cy="3902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Chunk 4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545035-2270-1676-3D61-B9A653B8FF11}"/>
              </a:ext>
            </a:extLst>
          </p:cNvPr>
          <p:cNvCxnSpPr>
            <a:cxnSpLocks/>
            <a:endCxn id="6" idx="3"/>
          </p:cNvCxnSpPr>
          <p:nvPr/>
        </p:nvCxnSpPr>
        <p:spPr>
          <a:xfrm>
            <a:off x="16520011" y="3348746"/>
            <a:ext cx="11930" cy="3916105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DC1B343-B3BE-6B7C-FE49-18DE80ECEC8D}"/>
              </a:ext>
            </a:extLst>
          </p:cNvPr>
          <p:cNvCxnSpPr>
            <a:cxnSpLocks/>
          </p:cNvCxnSpPr>
          <p:nvPr/>
        </p:nvCxnSpPr>
        <p:spPr>
          <a:xfrm>
            <a:off x="10679201" y="3665704"/>
            <a:ext cx="584081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59766131-FF93-BBEC-04A0-FE56C740ADF0}"/>
              </a:ext>
            </a:extLst>
          </p:cNvPr>
          <p:cNvSpPr txBox="1"/>
          <p:nvPr/>
        </p:nvSpPr>
        <p:spPr>
          <a:xfrm>
            <a:off x="13413383" y="2899347"/>
            <a:ext cx="4805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T</a:t>
            </a:r>
            <a:endParaRPr lang="en-US" sz="3600" b="1" baseline="-25000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923ED7F-37CA-96CE-2D62-2D7D041B58AA}"/>
              </a:ext>
            </a:extLst>
          </p:cNvPr>
          <p:cNvCxnSpPr>
            <a:cxnSpLocks/>
          </p:cNvCxnSpPr>
          <p:nvPr/>
        </p:nvCxnSpPr>
        <p:spPr>
          <a:xfrm>
            <a:off x="13379392" y="6804572"/>
            <a:ext cx="1820138" cy="0"/>
          </a:xfrm>
          <a:prstGeom prst="straightConnector1">
            <a:avLst/>
          </a:prstGeom>
          <a:ln w="114300" cap="rnd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6ED8BCE8-060C-E5FC-3EDE-D76F4299414A}"/>
              </a:ext>
            </a:extLst>
          </p:cNvPr>
          <p:cNvSpPr/>
          <p:nvPr/>
        </p:nvSpPr>
        <p:spPr>
          <a:xfrm>
            <a:off x="14703141" y="7069704"/>
            <a:ext cx="1828800" cy="3902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Chunk n-1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0697F94-6A93-9C34-597D-B005C69DC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0737" y="2316707"/>
            <a:ext cx="4092404" cy="69395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AB8BE06-AF43-9692-6456-B3DD7CA1A7CB}"/>
              </a:ext>
            </a:extLst>
          </p:cNvPr>
          <p:cNvSpPr txBox="1"/>
          <p:nvPr/>
        </p:nvSpPr>
        <p:spPr>
          <a:xfrm>
            <a:off x="14703141" y="2151612"/>
            <a:ext cx="94057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Tree Measurement Method</a:t>
            </a:r>
          </a:p>
        </p:txBody>
      </p:sp>
    </p:spTree>
    <p:extLst>
      <p:ext uri="{BB962C8B-B14F-4D97-AF65-F5344CB8AC3E}">
        <p14:creationId xmlns:p14="http://schemas.microsoft.com/office/powerpoint/2010/main" val="4076860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8AC8E-A198-E912-E431-6D47A6A3B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>
            <a:extLst>
              <a:ext uri="{FF2B5EF4-FFF2-40B4-BE49-F238E27FC236}">
                <a16:creationId xmlns:a16="http://schemas.microsoft.com/office/drawing/2014/main" id="{A82A8973-E60D-ABD1-415E-13FF1DDDE9EF}"/>
              </a:ext>
            </a:extLst>
          </p:cNvPr>
          <p:cNvGrpSpPr/>
          <p:nvPr/>
        </p:nvGrpSpPr>
        <p:grpSpPr>
          <a:xfrm>
            <a:off x="10286957" y="595438"/>
            <a:ext cx="19830697" cy="12479017"/>
            <a:chOff x="10286957" y="595438"/>
            <a:chExt cx="19830697" cy="12479017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FEA04052-648B-C7F5-F134-2BF700ADCDF9}"/>
                </a:ext>
              </a:extLst>
            </p:cNvPr>
            <p:cNvSpPr/>
            <p:nvPr/>
          </p:nvSpPr>
          <p:spPr>
            <a:xfrm>
              <a:off x="11913740" y="5137860"/>
              <a:ext cx="1488559" cy="139286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826AD79F-E39E-FD30-1656-6F2530ED3ACF}"/>
                </a:ext>
              </a:extLst>
            </p:cNvPr>
            <p:cNvSpPr/>
            <p:nvPr/>
          </p:nvSpPr>
          <p:spPr>
            <a:xfrm>
              <a:off x="15617413" y="5137860"/>
              <a:ext cx="1488559" cy="139286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DA40D0A-04B4-F8A6-CBAD-E2AE58331677}"/>
                </a:ext>
              </a:extLst>
            </p:cNvPr>
            <p:cNvSpPr/>
            <p:nvPr/>
          </p:nvSpPr>
          <p:spPr>
            <a:xfrm>
              <a:off x="13749628" y="2780977"/>
              <a:ext cx="1488559" cy="139286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42ACEF-9B7A-B64B-64B6-B4FB8D1D3FB2}"/>
                </a:ext>
              </a:extLst>
            </p:cNvPr>
            <p:cNvSpPr/>
            <p:nvPr/>
          </p:nvSpPr>
          <p:spPr>
            <a:xfrm>
              <a:off x="10286957" y="2780977"/>
              <a:ext cx="1488559" cy="139286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Up Arrow 6">
              <a:extLst>
                <a:ext uri="{FF2B5EF4-FFF2-40B4-BE49-F238E27FC236}">
                  <a16:creationId xmlns:a16="http://schemas.microsoft.com/office/drawing/2014/main" id="{C48375E6-0FCB-B546-433A-FD9C1763376B}"/>
                </a:ext>
              </a:extLst>
            </p:cNvPr>
            <p:cNvSpPr/>
            <p:nvPr/>
          </p:nvSpPr>
          <p:spPr>
            <a:xfrm rot="19184673">
              <a:off x="14929844" y="4181405"/>
              <a:ext cx="893135" cy="964018"/>
            </a:xfrm>
            <a:prstGeom prst="upArrow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Up Arrow 8">
              <a:extLst>
                <a:ext uri="{FF2B5EF4-FFF2-40B4-BE49-F238E27FC236}">
                  <a16:creationId xmlns:a16="http://schemas.microsoft.com/office/drawing/2014/main" id="{BE6A62A4-9808-D4C8-BE05-012CD32BC472}"/>
                </a:ext>
              </a:extLst>
            </p:cNvPr>
            <p:cNvSpPr/>
            <p:nvPr/>
          </p:nvSpPr>
          <p:spPr>
            <a:xfrm rot="2279418">
              <a:off x="13118760" y="4183077"/>
              <a:ext cx="893135" cy="964018"/>
            </a:xfrm>
            <a:prstGeom prst="upArrow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A42F2D4-7D32-ED8A-9D71-AC659F1C128E}"/>
                </a:ext>
              </a:extLst>
            </p:cNvPr>
            <p:cNvSpPr/>
            <p:nvPr/>
          </p:nvSpPr>
          <p:spPr>
            <a:xfrm>
              <a:off x="16586753" y="7808753"/>
              <a:ext cx="1488559" cy="139286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280B680-B675-9E06-21FC-56D52612801B}"/>
                </a:ext>
              </a:extLst>
            </p:cNvPr>
            <p:cNvSpPr/>
            <p:nvPr/>
          </p:nvSpPr>
          <p:spPr>
            <a:xfrm>
              <a:off x="14669344" y="7808753"/>
              <a:ext cx="1488559" cy="139286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8E0A2AB7-7B1E-8980-7C1E-E0575EE99C68}"/>
                </a:ext>
              </a:extLst>
            </p:cNvPr>
            <p:cNvSpPr/>
            <p:nvPr/>
          </p:nvSpPr>
          <p:spPr>
            <a:xfrm>
              <a:off x="10972754" y="7808753"/>
              <a:ext cx="1488559" cy="139286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1588C94-C4BB-C89D-B405-4FF7629B74C2}"/>
                </a:ext>
              </a:extLst>
            </p:cNvPr>
            <p:cNvSpPr/>
            <p:nvPr/>
          </p:nvSpPr>
          <p:spPr>
            <a:xfrm>
              <a:off x="12821049" y="7809501"/>
              <a:ext cx="1488559" cy="139286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Up Arrow 22">
              <a:extLst>
                <a:ext uri="{FF2B5EF4-FFF2-40B4-BE49-F238E27FC236}">
                  <a16:creationId xmlns:a16="http://schemas.microsoft.com/office/drawing/2014/main" id="{9690AD35-3E8C-F27F-DF92-88A98EA3F264}"/>
                </a:ext>
              </a:extLst>
            </p:cNvPr>
            <p:cNvSpPr/>
            <p:nvPr/>
          </p:nvSpPr>
          <p:spPr>
            <a:xfrm rot="2279418">
              <a:off x="11580535" y="6671991"/>
              <a:ext cx="893135" cy="964018"/>
            </a:xfrm>
            <a:prstGeom prst="upArrow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Up Arrow 24">
              <a:extLst>
                <a:ext uri="{FF2B5EF4-FFF2-40B4-BE49-F238E27FC236}">
                  <a16:creationId xmlns:a16="http://schemas.microsoft.com/office/drawing/2014/main" id="{AEE099FF-FD16-A2DB-880C-8A34C6EF24C3}"/>
                </a:ext>
              </a:extLst>
            </p:cNvPr>
            <p:cNvSpPr/>
            <p:nvPr/>
          </p:nvSpPr>
          <p:spPr>
            <a:xfrm rot="19184673">
              <a:off x="12684450" y="6671990"/>
              <a:ext cx="893135" cy="964018"/>
            </a:xfrm>
            <a:prstGeom prst="upArrow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Up Arrow 29">
              <a:extLst>
                <a:ext uri="{FF2B5EF4-FFF2-40B4-BE49-F238E27FC236}">
                  <a16:creationId xmlns:a16="http://schemas.microsoft.com/office/drawing/2014/main" id="{735286D2-0ED9-6183-42B4-9556A0F1680D}"/>
                </a:ext>
              </a:extLst>
            </p:cNvPr>
            <p:cNvSpPr/>
            <p:nvPr/>
          </p:nvSpPr>
          <p:spPr>
            <a:xfrm rot="2279418">
              <a:off x="15357928" y="6616273"/>
              <a:ext cx="893135" cy="964018"/>
            </a:xfrm>
            <a:prstGeom prst="upArrow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Up Arrow 30">
              <a:extLst>
                <a:ext uri="{FF2B5EF4-FFF2-40B4-BE49-F238E27FC236}">
                  <a16:creationId xmlns:a16="http://schemas.microsoft.com/office/drawing/2014/main" id="{5D9AE201-BA07-FC9D-B687-CCCD2EA63BF5}"/>
                </a:ext>
              </a:extLst>
            </p:cNvPr>
            <p:cNvSpPr/>
            <p:nvPr/>
          </p:nvSpPr>
          <p:spPr>
            <a:xfrm rot="19184673">
              <a:off x="16487360" y="6614601"/>
              <a:ext cx="893135" cy="964018"/>
            </a:xfrm>
            <a:prstGeom prst="upArrow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Up Arrow 32">
              <a:extLst>
                <a:ext uri="{FF2B5EF4-FFF2-40B4-BE49-F238E27FC236}">
                  <a16:creationId xmlns:a16="http://schemas.microsoft.com/office/drawing/2014/main" id="{B00934ED-0906-BA3D-CF63-518777D1D4D5}"/>
                </a:ext>
              </a:extLst>
            </p:cNvPr>
            <p:cNvSpPr/>
            <p:nvPr/>
          </p:nvSpPr>
          <p:spPr>
            <a:xfrm rot="16200000">
              <a:off x="12316005" y="2964452"/>
              <a:ext cx="893135" cy="964018"/>
            </a:xfrm>
            <a:prstGeom prst="upArrow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D052823-4E2C-6DA0-C34F-45533BA112A2}"/>
                </a:ext>
              </a:extLst>
            </p:cNvPr>
            <p:cNvSpPr/>
            <p:nvPr/>
          </p:nvSpPr>
          <p:spPr>
            <a:xfrm>
              <a:off x="11110121" y="6662753"/>
              <a:ext cx="8438605" cy="1090284"/>
            </a:xfrm>
            <a:prstGeom prst="rect">
              <a:avLst/>
            </a:prstGeom>
            <a:noFill/>
            <a:ln w="508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CF77B67-5626-2650-7C0C-8CDE1A837721}"/>
                </a:ext>
              </a:extLst>
            </p:cNvPr>
            <p:cNvSpPr txBox="1"/>
            <p:nvPr/>
          </p:nvSpPr>
          <p:spPr>
            <a:xfrm>
              <a:off x="17662887" y="6884730"/>
              <a:ext cx="205819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/>
                <a:t>Step 0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55D69964-9F16-4192-D59B-BB22B5B2CCFA}"/>
                </a:ext>
              </a:extLst>
            </p:cNvPr>
            <p:cNvSpPr/>
            <p:nvPr/>
          </p:nvSpPr>
          <p:spPr>
            <a:xfrm>
              <a:off x="12960262" y="4137243"/>
              <a:ext cx="4555848" cy="1090284"/>
            </a:xfrm>
            <a:prstGeom prst="rect">
              <a:avLst/>
            </a:prstGeom>
            <a:noFill/>
            <a:ln w="508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39DA81A-12AF-5EC3-B280-B3725A422B4E}"/>
                </a:ext>
              </a:extLst>
            </p:cNvPr>
            <p:cNvSpPr txBox="1"/>
            <p:nvPr/>
          </p:nvSpPr>
          <p:spPr>
            <a:xfrm>
              <a:off x="15937250" y="4310283"/>
              <a:ext cx="205819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/>
                <a:t>Step 1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370F3D60-118B-D31E-3696-8F669C8113A7}"/>
                </a:ext>
              </a:extLst>
            </p:cNvPr>
            <p:cNvSpPr/>
            <p:nvPr/>
          </p:nvSpPr>
          <p:spPr>
            <a:xfrm>
              <a:off x="12064972" y="2242277"/>
              <a:ext cx="1549265" cy="1674088"/>
            </a:xfrm>
            <a:prstGeom prst="rect">
              <a:avLst/>
            </a:prstGeom>
            <a:noFill/>
            <a:ln w="508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E360B70-1A1D-FDD9-E7FD-599BA6F8D0CC}"/>
                </a:ext>
              </a:extLst>
            </p:cNvPr>
            <p:cNvSpPr txBox="1"/>
            <p:nvPr/>
          </p:nvSpPr>
          <p:spPr>
            <a:xfrm>
              <a:off x="12108920" y="2242278"/>
              <a:ext cx="205819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/>
                <a:t>Step 3</a:t>
              </a: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0EA5927A-6A0F-B237-AA40-D5BC6E6F1D69}"/>
                </a:ext>
              </a:extLst>
            </p:cNvPr>
            <p:cNvSpPr/>
            <p:nvPr/>
          </p:nvSpPr>
          <p:spPr>
            <a:xfrm>
              <a:off x="22310314" y="5082144"/>
              <a:ext cx="1488559" cy="139286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1E62BC7E-D1FF-498C-8986-CD32B666A522}"/>
                </a:ext>
              </a:extLst>
            </p:cNvPr>
            <p:cNvSpPr/>
            <p:nvPr/>
          </p:nvSpPr>
          <p:spPr>
            <a:xfrm>
              <a:off x="26013987" y="5082144"/>
              <a:ext cx="1488559" cy="139286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D79BA221-CAA7-0AFB-CEAC-1465050CCBCD}"/>
                </a:ext>
              </a:extLst>
            </p:cNvPr>
            <p:cNvSpPr/>
            <p:nvPr/>
          </p:nvSpPr>
          <p:spPr>
            <a:xfrm>
              <a:off x="24146202" y="2725261"/>
              <a:ext cx="1488559" cy="139286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BCFF726D-E22D-97A4-2A43-692A95AFC3A5}"/>
                </a:ext>
              </a:extLst>
            </p:cNvPr>
            <p:cNvSpPr/>
            <p:nvPr/>
          </p:nvSpPr>
          <p:spPr>
            <a:xfrm>
              <a:off x="20683531" y="2725261"/>
              <a:ext cx="1488559" cy="139286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Up Arrow 50">
              <a:extLst>
                <a:ext uri="{FF2B5EF4-FFF2-40B4-BE49-F238E27FC236}">
                  <a16:creationId xmlns:a16="http://schemas.microsoft.com/office/drawing/2014/main" id="{B2E3E117-B575-7680-9357-F46321317B41}"/>
                </a:ext>
              </a:extLst>
            </p:cNvPr>
            <p:cNvSpPr/>
            <p:nvPr/>
          </p:nvSpPr>
          <p:spPr>
            <a:xfrm rot="8384673">
              <a:off x="25326418" y="4218994"/>
              <a:ext cx="893135" cy="964018"/>
            </a:xfrm>
            <a:prstGeom prst="upArrow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Up Arrow 51">
              <a:extLst>
                <a:ext uri="{FF2B5EF4-FFF2-40B4-BE49-F238E27FC236}">
                  <a16:creationId xmlns:a16="http://schemas.microsoft.com/office/drawing/2014/main" id="{99F9A84E-8877-3D51-0C90-16EEC30387EC}"/>
                </a:ext>
              </a:extLst>
            </p:cNvPr>
            <p:cNvSpPr/>
            <p:nvPr/>
          </p:nvSpPr>
          <p:spPr>
            <a:xfrm rot="13079418">
              <a:off x="23515334" y="4220666"/>
              <a:ext cx="893135" cy="964018"/>
            </a:xfrm>
            <a:prstGeom prst="upArrow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8FDF41F0-5F34-038F-41B7-71360369E6A4}"/>
                </a:ext>
              </a:extLst>
            </p:cNvPr>
            <p:cNvSpPr/>
            <p:nvPr/>
          </p:nvSpPr>
          <p:spPr>
            <a:xfrm>
              <a:off x="26983327" y="7753037"/>
              <a:ext cx="1488559" cy="139286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6CFA88C5-43BC-0532-E6F7-B80DA6ED96DD}"/>
                </a:ext>
              </a:extLst>
            </p:cNvPr>
            <p:cNvSpPr/>
            <p:nvPr/>
          </p:nvSpPr>
          <p:spPr>
            <a:xfrm>
              <a:off x="25065918" y="7753037"/>
              <a:ext cx="1488559" cy="139286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26E91EAD-318C-1D7E-D277-5306121779B0}"/>
                </a:ext>
              </a:extLst>
            </p:cNvPr>
            <p:cNvSpPr/>
            <p:nvPr/>
          </p:nvSpPr>
          <p:spPr>
            <a:xfrm>
              <a:off x="21369328" y="7753037"/>
              <a:ext cx="1488559" cy="139286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ED735AC0-5D70-DD70-7F44-380645174971}"/>
                </a:ext>
              </a:extLst>
            </p:cNvPr>
            <p:cNvSpPr/>
            <p:nvPr/>
          </p:nvSpPr>
          <p:spPr>
            <a:xfrm>
              <a:off x="23217623" y="7753785"/>
              <a:ext cx="1488559" cy="139286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Up Arrow 56">
              <a:extLst>
                <a:ext uri="{FF2B5EF4-FFF2-40B4-BE49-F238E27FC236}">
                  <a16:creationId xmlns:a16="http://schemas.microsoft.com/office/drawing/2014/main" id="{48A69901-45B4-F9E9-5C5B-F9BBEEFDA28B}"/>
                </a:ext>
              </a:extLst>
            </p:cNvPr>
            <p:cNvSpPr/>
            <p:nvPr/>
          </p:nvSpPr>
          <p:spPr>
            <a:xfrm rot="13079418">
              <a:off x="21977109" y="6751185"/>
              <a:ext cx="893135" cy="964018"/>
            </a:xfrm>
            <a:prstGeom prst="upArrow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Up Arrow 57">
              <a:extLst>
                <a:ext uri="{FF2B5EF4-FFF2-40B4-BE49-F238E27FC236}">
                  <a16:creationId xmlns:a16="http://schemas.microsoft.com/office/drawing/2014/main" id="{F7907656-1CE8-BEFC-5F8E-737D69273B35}"/>
                </a:ext>
              </a:extLst>
            </p:cNvPr>
            <p:cNvSpPr/>
            <p:nvPr/>
          </p:nvSpPr>
          <p:spPr>
            <a:xfrm rot="8384673">
              <a:off x="23081024" y="6751184"/>
              <a:ext cx="893135" cy="964018"/>
            </a:xfrm>
            <a:prstGeom prst="upArrow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Up Arrow 58">
              <a:extLst>
                <a:ext uri="{FF2B5EF4-FFF2-40B4-BE49-F238E27FC236}">
                  <a16:creationId xmlns:a16="http://schemas.microsoft.com/office/drawing/2014/main" id="{F12AB58F-1CB6-4C99-E4B8-74E21AAB92C9}"/>
                </a:ext>
              </a:extLst>
            </p:cNvPr>
            <p:cNvSpPr/>
            <p:nvPr/>
          </p:nvSpPr>
          <p:spPr>
            <a:xfrm rot="13079418">
              <a:off x="25754502" y="6695467"/>
              <a:ext cx="893135" cy="964018"/>
            </a:xfrm>
            <a:prstGeom prst="upArrow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Up Arrow 59">
              <a:extLst>
                <a:ext uri="{FF2B5EF4-FFF2-40B4-BE49-F238E27FC236}">
                  <a16:creationId xmlns:a16="http://schemas.microsoft.com/office/drawing/2014/main" id="{A2F500A2-A8B8-E42B-8E5C-E9BFD759841A}"/>
                </a:ext>
              </a:extLst>
            </p:cNvPr>
            <p:cNvSpPr/>
            <p:nvPr/>
          </p:nvSpPr>
          <p:spPr>
            <a:xfrm rot="8384673">
              <a:off x="26883934" y="6693795"/>
              <a:ext cx="893135" cy="964018"/>
            </a:xfrm>
            <a:prstGeom prst="upArrow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Up Arrow 60">
              <a:extLst>
                <a:ext uri="{FF2B5EF4-FFF2-40B4-BE49-F238E27FC236}">
                  <a16:creationId xmlns:a16="http://schemas.microsoft.com/office/drawing/2014/main" id="{B09B312D-9A24-FEB1-8B5A-2D92BBF4D355}"/>
                </a:ext>
              </a:extLst>
            </p:cNvPr>
            <p:cNvSpPr/>
            <p:nvPr/>
          </p:nvSpPr>
          <p:spPr>
            <a:xfrm rot="5400000">
              <a:off x="22880528" y="2908736"/>
              <a:ext cx="893135" cy="964018"/>
            </a:xfrm>
            <a:prstGeom prst="upArrow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C7AAA78C-5E1D-255A-B9BC-AA9FBC2CC87B}"/>
                </a:ext>
              </a:extLst>
            </p:cNvPr>
            <p:cNvSpPr/>
            <p:nvPr/>
          </p:nvSpPr>
          <p:spPr>
            <a:xfrm>
              <a:off x="21506695" y="6607037"/>
              <a:ext cx="8438605" cy="1090284"/>
            </a:xfrm>
            <a:prstGeom prst="rect">
              <a:avLst/>
            </a:prstGeom>
            <a:noFill/>
            <a:ln w="508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051FF9E-482C-E7F1-C8D8-D005EE65CDD1}"/>
                </a:ext>
              </a:extLst>
            </p:cNvPr>
            <p:cNvSpPr txBox="1"/>
            <p:nvPr/>
          </p:nvSpPr>
          <p:spPr>
            <a:xfrm>
              <a:off x="28059461" y="6829014"/>
              <a:ext cx="205819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/>
                <a:t>Step 2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C8CEA6A-4D76-9C1C-E77A-B282A9DE80B8}"/>
                </a:ext>
              </a:extLst>
            </p:cNvPr>
            <p:cNvSpPr/>
            <p:nvPr/>
          </p:nvSpPr>
          <p:spPr>
            <a:xfrm>
              <a:off x="23356836" y="4081527"/>
              <a:ext cx="4555848" cy="1090284"/>
            </a:xfrm>
            <a:prstGeom prst="rect">
              <a:avLst/>
            </a:prstGeom>
            <a:noFill/>
            <a:ln w="508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31FD274-D129-0FCD-3E8A-A83226C5BFD7}"/>
                </a:ext>
              </a:extLst>
            </p:cNvPr>
            <p:cNvSpPr txBox="1"/>
            <p:nvPr/>
          </p:nvSpPr>
          <p:spPr>
            <a:xfrm>
              <a:off x="26333824" y="4254567"/>
              <a:ext cx="205819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/>
                <a:t>Step 1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93950CBC-58C4-8E37-A947-B527C2891D8F}"/>
                </a:ext>
              </a:extLst>
            </p:cNvPr>
            <p:cNvSpPr/>
            <p:nvPr/>
          </p:nvSpPr>
          <p:spPr>
            <a:xfrm>
              <a:off x="22461547" y="2186561"/>
              <a:ext cx="1549266" cy="1674088"/>
            </a:xfrm>
            <a:prstGeom prst="rect">
              <a:avLst/>
            </a:prstGeom>
            <a:noFill/>
            <a:ln w="508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96E1E1-2767-1EEB-8FCB-D4502DC23BAA}"/>
                </a:ext>
              </a:extLst>
            </p:cNvPr>
            <p:cNvSpPr txBox="1"/>
            <p:nvPr/>
          </p:nvSpPr>
          <p:spPr>
            <a:xfrm>
              <a:off x="22505494" y="2186562"/>
              <a:ext cx="205819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/>
                <a:t>Step 0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F4A65AB2-83B9-0685-C4B7-53BB5F5646A2}"/>
                </a:ext>
              </a:extLst>
            </p:cNvPr>
            <p:cNvSpPr txBox="1"/>
            <p:nvPr/>
          </p:nvSpPr>
          <p:spPr>
            <a:xfrm>
              <a:off x="17283535" y="595438"/>
              <a:ext cx="408579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b="1" dirty="0"/>
                <a:t>First Chunk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DD38B884-055C-D3A5-A459-41347561D39B}"/>
                </a:ext>
              </a:extLst>
            </p:cNvPr>
            <p:cNvSpPr txBox="1"/>
            <p:nvPr/>
          </p:nvSpPr>
          <p:spPr>
            <a:xfrm>
              <a:off x="13546163" y="9455009"/>
              <a:ext cx="261174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b="1" dirty="0"/>
                <a:t>Reduce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5A57C1D-688A-E336-0732-FD60D90E248B}"/>
                </a:ext>
              </a:extLst>
            </p:cNvPr>
            <p:cNvSpPr txBox="1"/>
            <p:nvPr/>
          </p:nvSpPr>
          <p:spPr>
            <a:xfrm>
              <a:off x="23327095" y="9449270"/>
              <a:ext cx="370139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b="1" dirty="0"/>
                <a:t>Broadcast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A0A9E30E-DDC0-0706-8FF9-FB3A80856C7D}"/>
                </a:ext>
              </a:extLst>
            </p:cNvPr>
            <p:cNvSpPr txBox="1"/>
            <p:nvPr/>
          </p:nvSpPr>
          <p:spPr>
            <a:xfrm>
              <a:off x="11338405" y="10723315"/>
              <a:ext cx="735357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b="1" dirty="0"/>
                <a:t># steps = log</a:t>
              </a:r>
              <a:r>
                <a:rPr lang="en-US" sz="6000" b="1" baseline="-25000" dirty="0"/>
                <a:t>2</a:t>
              </a:r>
              <a:r>
                <a:rPr lang="en-US" sz="6000" b="1" dirty="0"/>
                <a:t>(# nodes)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D026DF36-6112-1164-CA1E-D59FF538CA4F}"/>
                </a:ext>
              </a:extLst>
            </p:cNvPr>
            <p:cNvSpPr txBox="1"/>
            <p:nvPr/>
          </p:nvSpPr>
          <p:spPr>
            <a:xfrm>
              <a:off x="21734979" y="10723314"/>
              <a:ext cx="735357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b="1" dirty="0"/>
                <a:t># steps = log</a:t>
              </a:r>
              <a:r>
                <a:rPr lang="en-US" sz="6000" b="1" baseline="-25000" dirty="0"/>
                <a:t>2</a:t>
              </a:r>
              <a:r>
                <a:rPr lang="en-US" sz="6000" b="1" dirty="0"/>
                <a:t>(# nodes)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CF57001-5B73-78AD-2029-D32780EA7BAE}"/>
                </a:ext>
              </a:extLst>
            </p:cNvPr>
            <p:cNvSpPr txBox="1"/>
            <p:nvPr/>
          </p:nvSpPr>
          <p:spPr>
            <a:xfrm>
              <a:off x="15413623" y="12058792"/>
              <a:ext cx="972464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b="1" dirty="0"/>
                <a:t>Total steps = 2 * log</a:t>
              </a:r>
              <a:r>
                <a:rPr lang="en-US" sz="6000" b="1" baseline="-25000" dirty="0"/>
                <a:t>2</a:t>
              </a:r>
              <a:r>
                <a:rPr lang="en-US" sz="6000" b="1" dirty="0"/>
                <a:t>(# ranks)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520051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9AEC7-FF01-8097-0A99-E95176552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0DB443BC-6D5B-6B40-CF23-E52864B47657}"/>
              </a:ext>
            </a:extLst>
          </p:cNvPr>
          <p:cNvGrpSpPr/>
          <p:nvPr/>
        </p:nvGrpSpPr>
        <p:grpSpPr>
          <a:xfrm>
            <a:off x="10286957" y="884905"/>
            <a:ext cx="19830697" cy="12189550"/>
            <a:chOff x="10286957" y="884905"/>
            <a:chExt cx="19830697" cy="12189550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118BB5EC-C742-8FCF-0139-F22B8D60E34D}"/>
                </a:ext>
              </a:extLst>
            </p:cNvPr>
            <p:cNvSpPr/>
            <p:nvPr/>
          </p:nvSpPr>
          <p:spPr>
            <a:xfrm>
              <a:off x="11913740" y="5137860"/>
              <a:ext cx="1488559" cy="139286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CD64E44-6B14-7A6A-10DB-92548D4261BA}"/>
                </a:ext>
              </a:extLst>
            </p:cNvPr>
            <p:cNvSpPr/>
            <p:nvPr/>
          </p:nvSpPr>
          <p:spPr>
            <a:xfrm>
              <a:off x="15617413" y="5137860"/>
              <a:ext cx="1488559" cy="139286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A83E67B-DEAD-894C-DD7A-45D339773AB7}"/>
                </a:ext>
              </a:extLst>
            </p:cNvPr>
            <p:cNvSpPr/>
            <p:nvPr/>
          </p:nvSpPr>
          <p:spPr>
            <a:xfrm>
              <a:off x="13749628" y="2780977"/>
              <a:ext cx="1488559" cy="139286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F40E672-A852-5D8F-297E-9AD39AC13F23}"/>
                </a:ext>
              </a:extLst>
            </p:cNvPr>
            <p:cNvSpPr/>
            <p:nvPr/>
          </p:nvSpPr>
          <p:spPr>
            <a:xfrm>
              <a:off x="10286957" y="2780977"/>
              <a:ext cx="1488559" cy="139286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Up Arrow 6">
              <a:extLst>
                <a:ext uri="{FF2B5EF4-FFF2-40B4-BE49-F238E27FC236}">
                  <a16:creationId xmlns:a16="http://schemas.microsoft.com/office/drawing/2014/main" id="{EF5CF05D-136A-6CC9-4B7A-739C928D37BB}"/>
                </a:ext>
              </a:extLst>
            </p:cNvPr>
            <p:cNvSpPr/>
            <p:nvPr/>
          </p:nvSpPr>
          <p:spPr>
            <a:xfrm rot="19184673">
              <a:off x="14929844" y="4181405"/>
              <a:ext cx="893135" cy="964018"/>
            </a:xfrm>
            <a:prstGeom prst="upArrow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Up Arrow 8">
              <a:extLst>
                <a:ext uri="{FF2B5EF4-FFF2-40B4-BE49-F238E27FC236}">
                  <a16:creationId xmlns:a16="http://schemas.microsoft.com/office/drawing/2014/main" id="{AF1AE996-C7C1-37FD-8955-270D7A1EE348}"/>
                </a:ext>
              </a:extLst>
            </p:cNvPr>
            <p:cNvSpPr/>
            <p:nvPr/>
          </p:nvSpPr>
          <p:spPr>
            <a:xfrm rot="2279418">
              <a:off x="13118760" y="4183077"/>
              <a:ext cx="893135" cy="964018"/>
            </a:xfrm>
            <a:prstGeom prst="upArrow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F87FBEA-BF63-ECE0-9A59-220E3FE508EA}"/>
                </a:ext>
              </a:extLst>
            </p:cNvPr>
            <p:cNvSpPr/>
            <p:nvPr/>
          </p:nvSpPr>
          <p:spPr>
            <a:xfrm>
              <a:off x="16586753" y="7808753"/>
              <a:ext cx="1488559" cy="139286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F2FB4F1-51EF-6306-C867-D347D6906EDF}"/>
                </a:ext>
              </a:extLst>
            </p:cNvPr>
            <p:cNvSpPr/>
            <p:nvPr/>
          </p:nvSpPr>
          <p:spPr>
            <a:xfrm>
              <a:off x="14669344" y="7808753"/>
              <a:ext cx="1488559" cy="139286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5A05266-100C-68E7-B656-48731F7BC41A}"/>
                </a:ext>
              </a:extLst>
            </p:cNvPr>
            <p:cNvSpPr/>
            <p:nvPr/>
          </p:nvSpPr>
          <p:spPr>
            <a:xfrm>
              <a:off x="10972754" y="7808753"/>
              <a:ext cx="1488559" cy="139286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F4B6AB1-BF71-EA9D-FA4A-615F64BCC36C}"/>
                </a:ext>
              </a:extLst>
            </p:cNvPr>
            <p:cNvSpPr/>
            <p:nvPr/>
          </p:nvSpPr>
          <p:spPr>
            <a:xfrm>
              <a:off x="12821049" y="7809501"/>
              <a:ext cx="1488559" cy="139286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Up Arrow 22">
              <a:extLst>
                <a:ext uri="{FF2B5EF4-FFF2-40B4-BE49-F238E27FC236}">
                  <a16:creationId xmlns:a16="http://schemas.microsoft.com/office/drawing/2014/main" id="{2A2545AE-9AFD-D9AF-1B9E-F74CB05A3094}"/>
                </a:ext>
              </a:extLst>
            </p:cNvPr>
            <p:cNvSpPr/>
            <p:nvPr/>
          </p:nvSpPr>
          <p:spPr>
            <a:xfrm rot="2279418">
              <a:off x="11580535" y="6671991"/>
              <a:ext cx="893135" cy="964018"/>
            </a:xfrm>
            <a:prstGeom prst="upArrow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Up Arrow 24">
              <a:extLst>
                <a:ext uri="{FF2B5EF4-FFF2-40B4-BE49-F238E27FC236}">
                  <a16:creationId xmlns:a16="http://schemas.microsoft.com/office/drawing/2014/main" id="{5127AD67-178E-87EB-376C-F8D917A7D421}"/>
                </a:ext>
              </a:extLst>
            </p:cNvPr>
            <p:cNvSpPr/>
            <p:nvPr/>
          </p:nvSpPr>
          <p:spPr>
            <a:xfrm rot="19184673">
              <a:off x="12684450" y="6671990"/>
              <a:ext cx="893135" cy="964018"/>
            </a:xfrm>
            <a:prstGeom prst="upArrow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Up Arrow 29">
              <a:extLst>
                <a:ext uri="{FF2B5EF4-FFF2-40B4-BE49-F238E27FC236}">
                  <a16:creationId xmlns:a16="http://schemas.microsoft.com/office/drawing/2014/main" id="{823727B8-326F-9D45-B9BB-F0FF27DB7EA1}"/>
                </a:ext>
              </a:extLst>
            </p:cNvPr>
            <p:cNvSpPr/>
            <p:nvPr/>
          </p:nvSpPr>
          <p:spPr>
            <a:xfrm rot="2279418">
              <a:off x="15357928" y="6616273"/>
              <a:ext cx="893135" cy="964018"/>
            </a:xfrm>
            <a:prstGeom prst="upArrow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Up Arrow 30">
              <a:extLst>
                <a:ext uri="{FF2B5EF4-FFF2-40B4-BE49-F238E27FC236}">
                  <a16:creationId xmlns:a16="http://schemas.microsoft.com/office/drawing/2014/main" id="{ED3C046C-2C01-CC12-91EC-A9005982976E}"/>
                </a:ext>
              </a:extLst>
            </p:cNvPr>
            <p:cNvSpPr/>
            <p:nvPr/>
          </p:nvSpPr>
          <p:spPr>
            <a:xfrm rot="19184673">
              <a:off x="16487360" y="6614601"/>
              <a:ext cx="893135" cy="964018"/>
            </a:xfrm>
            <a:prstGeom prst="upArrow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Up Arrow 32">
              <a:extLst>
                <a:ext uri="{FF2B5EF4-FFF2-40B4-BE49-F238E27FC236}">
                  <a16:creationId xmlns:a16="http://schemas.microsoft.com/office/drawing/2014/main" id="{24E3BED8-DD1E-CC56-36B5-A5A44AF04777}"/>
                </a:ext>
              </a:extLst>
            </p:cNvPr>
            <p:cNvSpPr/>
            <p:nvPr/>
          </p:nvSpPr>
          <p:spPr>
            <a:xfrm rot="16200000">
              <a:off x="12316005" y="2964452"/>
              <a:ext cx="893135" cy="964018"/>
            </a:xfrm>
            <a:prstGeom prst="upArrow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A08DB80-85E7-480B-BC65-6B8ABC5953FC}"/>
                </a:ext>
              </a:extLst>
            </p:cNvPr>
            <p:cNvSpPr/>
            <p:nvPr/>
          </p:nvSpPr>
          <p:spPr>
            <a:xfrm>
              <a:off x="11110121" y="6662753"/>
              <a:ext cx="8438605" cy="1090284"/>
            </a:xfrm>
            <a:prstGeom prst="rect">
              <a:avLst/>
            </a:prstGeom>
            <a:noFill/>
            <a:ln w="508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7A984B3-C0BD-97D1-AB35-7E368327BA84}"/>
                </a:ext>
              </a:extLst>
            </p:cNvPr>
            <p:cNvSpPr txBox="1"/>
            <p:nvPr/>
          </p:nvSpPr>
          <p:spPr>
            <a:xfrm>
              <a:off x="17662887" y="6884730"/>
              <a:ext cx="205819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/>
                <a:t>Step 0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A67323E9-BB8C-E6EB-49EF-CD1342F1CC73}"/>
                </a:ext>
              </a:extLst>
            </p:cNvPr>
            <p:cNvSpPr/>
            <p:nvPr/>
          </p:nvSpPr>
          <p:spPr>
            <a:xfrm>
              <a:off x="12960262" y="4137243"/>
              <a:ext cx="4555848" cy="1090284"/>
            </a:xfrm>
            <a:prstGeom prst="rect">
              <a:avLst/>
            </a:prstGeom>
            <a:noFill/>
            <a:ln w="508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FCC7CF0-5295-DD17-F083-3F24502CB0EB}"/>
                </a:ext>
              </a:extLst>
            </p:cNvPr>
            <p:cNvSpPr txBox="1"/>
            <p:nvPr/>
          </p:nvSpPr>
          <p:spPr>
            <a:xfrm>
              <a:off x="15937250" y="4310283"/>
              <a:ext cx="205819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/>
                <a:t>Step 1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2AD16396-066D-DAB9-D741-3ADEF5249685}"/>
                </a:ext>
              </a:extLst>
            </p:cNvPr>
            <p:cNvSpPr/>
            <p:nvPr/>
          </p:nvSpPr>
          <p:spPr>
            <a:xfrm>
              <a:off x="12064972" y="2242277"/>
              <a:ext cx="1549265" cy="1674088"/>
            </a:xfrm>
            <a:prstGeom prst="rect">
              <a:avLst/>
            </a:prstGeom>
            <a:noFill/>
            <a:ln w="508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2C75833-B308-4771-B068-AE31F32D88BE}"/>
                </a:ext>
              </a:extLst>
            </p:cNvPr>
            <p:cNvSpPr txBox="1"/>
            <p:nvPr/>
          </p:nvSpPr>
          <p:spPr>
            <a:xfrm>
              <a:off x="12108920" y="2242278"/>
              <a:ext cx="205819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/>
                <a:t>Step 3</a:t>
              </a: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D4FD5320-B26B-E349-5334-6BBA901D642A}"/>
                </a:ext>
              </a:extLst>
            </p:cNvPr>
            <p:cNvSpPr/>
            <p:nvPr/>
          </p:nvSpPr>
          <p:spPr>
            <a:xfrm>
              <a:off x="22310314" y="5082144"/>
              <a:ext cx="1488559" cy="139286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A781D47-C2D2-76CC-133A-1CE60AA31493}"/>
                </a:ext>
              </a:extLst>
            </p:cNvPr>
            <p:cNvSpPr/>
            <p:nvPr/>
          </p:nvSpPr>
          <p:spPr>
            <a:xfrm>
              <a:off x="26013987" y="5082144"/>
              <a:ext cx="1488559" cy="139286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E4CB6C3B-0AC5-AD6E-0E5E-6CA5D78E6988}"/>
                </a:ext>
              </a:extLst>
            </p:cNvPr>
            <p:cNvSpPr/>
            <p:nvPr/>
          </p:nvSpPr>
          <p:spPr>
            <a:xfrm>
              <a:off x="24146202" y="2725261"/>
              <a:ext cx="1488559" cy="139286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A1770425-157B-F617-206D-F182BEE15220}"/>
                </a:ext>
              </a:extLst>
            </p:cNvPr>
            <p:cNvSpPr/>
            <p:nvPr/>
          </p:nvSpPr>
          <p:spPr>
            <a:xfrm>
              <a:off x="20683531" y="2725261"/>
              <a:ext cx="1488559" cy="139286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Up Arrow 50">
              <a:extLst>
                <a:ext uri="{FF2B5EF4-FFF2-40B4-BE49-F238E27FC236}">
                  <a16:creationId xmlns:a16="http://schemas.microsoft.com/office/drawing/2014/main" id="{554A2705-2262-48EF-9C20-08FC987A66E6}"/>
                </a:ext>
              </a:extLst>
            </p:cNvPr>
            <p:cNvSpPr/>
            <p:nvPr/>
          </p:nvSpPr>
          <p:spPr>
            <a:xfrm rot="8384673">
              <a:off x="25326418" y="4218994"/>
              <a:ext cx="893135" cy="964018"/>
            </a:xfrm>
            <a:prstGeom prst="upArrow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Up Arrow 51">
              <a:extLst>
                <a:ext uri="{FF2B5EF4-FFF2-40B4-BE49-F238E27FC236}">
                  <a16:creationId xmlns:a16="http://schemas.microsoft.com/office/drawing/2014/main" id="{6639486D-8E8A-299A-875C-F06F1ACCC24F}"/>
                </a:ext>
              </a:extLst>
            </p:cNvPr>
            <p:cNvSpPr/>
            <p:nvPr/>
          </p:nvSpPr>
          <p:spPr>
            <a:xfrm rot="13079418">
              <a:off x="23515334" y="4220666"/>
              <a:ext cx="893135" cy="964018"/>
            </a:xfrm>
            <a:prstGeom prst="upArrow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5D3F8F4C-B810-9DF1-0D9D-F9617F5B2795}"/>
                </a:ext>
              </a:extLst>
            </p:cNvPr>
            <p:cNvSpPr/>
            <p:nvPr/>
          </p:nvSpPr>
          <p:spPr>
            <a:xfrm>
              <a:off x="26983327" y="7753037"/>
              <a:ext cx="1488559" cy="139286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D18A38AE-BA8C-7671-4B00-D657D4772222}"/>
                </a:ext>
              </a:extLst>
            </p:cNvPr>
            <p:cNvSpPr/>
            <p:nvPr/>
          </p:nvSpPr>
          <p:spPr>
            <a:xfrm>
              <a:off x="25065918" y="7753037"/>
              <a:ext cx="1488559" cy="139286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38F0F489-2D7B-3ED5-C6A1-2F7D436B88A7}"/>
                </a:ext>
              </a:extLst>
            </p:cNvPr>
            <p:cNvSpPr/>
            <p:nvPr/>
          </p:nvSpPr>
          <p:spPr>
            <a:xfrm>
              <a:off x="21369328" y="7753037"/>
              <a:ext cx="1488559" cy="139286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BEB7AC0B-C149-77B4-365F-7246DE52BBD4}"/>
                </a:ext>
              </a:extLst>
            </p:cNvPr>
            <p:cNvSpPr/>
            <p:nvPr/>
          </p:nvSpPr>
          <p:spPr>
            <a:xfrm>
              <a:off x="23217623" y="7753785"/>
              <a:ext cx="1488559" cy="139286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Up Arrow 56">
              <a:extLst>
                <a:ext uri="{FF2B5EF4-FFF2-40B4-BE49-F238E27FC236}">
                  <a16:creationId xmlns:a16="http://schemas.microsoft.com/office/drawing/2014/main" id="{B13DF5E7-10F8-BB47-6616-008A95CC1694}"/>
                </a:ext>
              </a:extLst>
            </p:cNvPr>
            <p:cNvSpPr/>
            <p:nvPr/>
          </p:nvSpPr>
          <p:spPr>
            <a:xfrm rot="13079418">
              <a:off x="21977109" y="6751185"/>
              <a:ext cx="893135" cy="964018"/>
            </a:xfrm>
            <a:prstGeom prst="upArrow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Up Arrow 57">
              <a:extLst>
                <a:ext uri="{FF2B5EF4-FFF2-40B4-BE49-F238E27FC236}">
                  <a16:creationId xmlns:a16="http://schemas.microsoft.com/office/drawing/2014/main" id="{29E1CBBA-EB3F-802B-8895-BCF265CFDC3F}"/>
                </a:ext>
              </a:extLst>
            </p:cNvPr>
            <p:cNvSpPr/>
            <p:nvPr/>
          </p:nvSpPr>
          <p:spPr>
            <a:xfrm rot="8384673">
              <a:off x="23081024" y="6751184"/>
              <a:ext cx="893135" cy="964018"/>
            </a:xfrm>
            <a:prstGeom prst="upArrow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Up Arrow 58">
              <a:extLst>
                <a:ext uri="{FF2B5EF4-FFF2-40B4-BE49-F238E27FC236}">
                  <a16:creationId xmlns:a16="http://schemas.microsoft.com/office/drawing/2014/main" id="{1F4C55AB-3F94-069A-9763-E8420D20B12D}"/>
                </a:ext>
              </a:extLst>
            </p:cNvPr>
            <p:cNvSpPr/>
            <p:nvPr/>
          </p:nvSpPr>
          <p:spPr>
            <a:xfrm rot="13079418">
              <a:off x="25754502" y="6695467"/>
              <a:ext cx="893135" cy="964018"/>
            </a:xfrm>
            <a:prstGeom prst="upArrow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Up Arrow 59">
              <a:extLst>
                <a:ext uri="{FF2B5EF4-FFF2-40B4-BE49-F238E27FC236}">
                  <a16:creationId xmlns:a16="http://schemas.microsoft.com/office/drawing/2014/main" id="{493227D6-8706-F76F-8D2F-B6438312DF1E}"/>
                </a:ext>
              </a:extLst>
            </p:cNvPr>
            <p:cNvSpPr/>
            <p:nvPr/>
          </p:nvSpPr>
          <p:spPr>
            <a:xfrm rot="8384673">
              <a:off x="26883934" y="6693795"/>
              <a:ext cx="893135" cy="964018"/>
            </a:xfrm>
            <a:prstGeom prst="upArrow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Up Arrow 60">
              <a:extLst>
                <a:ext uri="{FF2B5EF4-FFF2-40B4-BE49-F238E27FC236}">
                  <a16:creationId xmlns:a16="http://schemas.microsoft.com/office/drawing/2014/main" id="{E5B53DFB-29D8-98C1-999D-FC665E46C145}"/>
                </a:ext>
              </a:extLst>
            </p:cNvPr>
            <p:cNvSpPr/>
            <p:nvPr/>
          </p:nvSpPr>
          <p:spPr>
            <a:xfrm rot="5400000">
              <a:off x="22880528" y="2908736"/>
              <a:ext cx="893135" cy="964018"/>
            </a:xfrm>
            <a:prstGeom prst="upArrow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1D74189-B469-A3DF-8D18-756E6DCFE5B6}"/>
                </a:ext>
              </a:extLst>
            </p:cNvPr>
            <p:cNvSpPr/>
            <p:nvPr/>
          </p:nvSpPr>
          <p:spPr>
            <a:xfrm>
              <a:off x="21506695" y="6607037"/>
              <a:ext cx="8438605" cy="1090284"/>
            </a:xfrm>
            <a:prstGeom prst="rect">
              <a:avLst/>
            </a:prstGeom>
            <a:noFill/>
            <a:ln w="508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E6A5DA1-7E15-2122-E60C-284047DE977B}"/>
                </a:ext>
              </a:extLst>
            </p:cNvPr>
            <p:cNvSpPr txBox="1"/>
            <p:nvPr/>
          </p:nvSpPr>
          <p:spPr>
            <a:xfrm>
              <a:off x="28059461" y="6829014"/>
              <a:ext cx="205819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/>
                <a:t>Step 2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7AD79958-7133-67F0-20E0-686C37BA7FC3}"/>
                </a:ext>
              </a:extLst>
            </p:cNvPr>
            <p:cNvSpPr/>
            <p:nvPr/>
          </p:nvSpPr>
          <p:spPr>
            <a:xfrm>
              <a:off x="23356836" y="4081527"/>
              <a:ext cx="4555848" cy="1090284"/>
            </a:xfrm>
            <a:prstGeom prst="rect">
              <a:avLst/>
            </a:prstGeom>
            <a:noFill/>
            <a:ln w="508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90FE4E75-95ED-4C7E-8A29-B1E0C793734E}"/>
                </a:ext>
              </a:extLst>
            </p:cNvPr>
            <p:cNvSpPr txBox="1"/>
            <p:nvPr/>
          </p:nvSpPr>
          <p:spPr>
            <a:xfrm>
              <a:off x="26333824" y="4254567"/>
              <a:ext cx="205819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/>
                <a:t>Step 1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54C9BF44-0ADA-D1A0-507D-4B80C605A668}"/>
                </a:ext>
              </a:extLst>
            </p:cNvPr>
            <p:cNvSpPr/>
            <p:nvPr/>
          </p:nvSpPr>
          <p:spPr>
            <a:xfrm>
              <a:off x="22461547" y="2186561"/>
              <a:ext cx="1549266" cy="1674088"/>
            </a:xfrm>
            <a:prstGeom prst="rect">
              <a:avLst/>
            </a:prstGeom>
            <a:noFill/>
            <a:ln w="508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5DFDCAE9-242E-4F34-5607-57BA5C0AEAA7}"/>
                </a:ext>
              </a:extLst>
            </p:cNvPr>
            <p:cNvSpPr txBox="1"/>
            <p:nvPr/>
          </p:nvSpPr>
          <p:spPr>
            <a:xfrm>
              <a:off x="22505494" y="2186562"/>
              <a:ext cx="205819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/>
                <a:t>Step 0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879CFE5-8FB5-0917-211D-73D4AFECDEFD}"/>
                </a:ext>
              </a:extLst>
            </p:cNvPr>
            <p:cNvSpPr txBox="1"/>
            <p:nvPr/>
          </p:nvSpPr>
          <p:spPr>
            <a:xfrm>
              <a:off x="13546163" y="9455009"/>
              <a:ext cx="261174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b="1" dirty="0"/>
                <a:t>Reduce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712F1FB6-99BF-C94A-BC14-8FED19D63242}"/>
                </a:ext>
              </a:extLst>
            </p:cNvPr>
            <p:cNvSpPr txBox="1"/>
            <p:nvPr/>
          </p:nvSpPr>
          <p:spPr>
            <a:xfrm>
              <a:off x="23327095" y="9449270"/>
              <a:ext cx="370139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b="1" dirty="0"/>
                <a:t>Broadcast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13EA804-D90A-BF9E-DE52-0D1F0A5A9EA4}"/>
                </a:ext>
              </a:extLst>
            </p:cNvPr>
            <p:cNvSpPr txBox="1"/>
            <p:nvPr/>
          </p:nvSpPr>
          <p:spPr>
            <a:xfrm>
              <a:off x="11338405" y="10723315"/>
              <a:ext cx="735357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b="1" dirty="0"/>
                <a:t># steps = log</a:t>
              </a:r>
              <a:r>
                <a:rPr lang="en-US" sz="6000" b="1" baseline="-25000" dirty="0"/>
                <a:t>2</a:t>
              </a:r>
              <a:r>
                <a:rPr lang="en-US" sz="6000" b="1" dirty="0"/>
                <a:t>(# nodes)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3A9769DE-569E-13EF-3673-C33C9211565A}"/>
                </a:ext>
              </a:extLst>
            </p:cNvPr>
            <p:cNvSpPr txBox="1"/>
            <p:nvPr/>
          </p:nvSpPr>
          <p:spPr>
            <a:xfrm>
              <a:off x="21734979" y="10723314"/>
              <a:ext cx="735357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b="1" dirty="0"/>
                <a:t># steps = log</a:t>
              </a:r>
              <a:r>
                <a:rPr lang="en-US" sz="6000" b="1" baseline="-25000" dirty="0"/>
                <a:t>2</a:t>
              </a:r>
              <a:r>
                <a:rPr lang="en-US" sz="6000" b="1" dirty="0"/>
                <a:t>(# nodes)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33898A6-1791-028A-706B-3304367536C8}"/>
                </a:ext>
              </a:extLst>
            </p:cNvPr>
            <p:cNvSpPr txBox="1"/>
            <p:nvPr/>
          </p:nvSpPr>
          <p:spPr>
            <a:xfrm>
              <a:off x="15413623" y="12058792"/>
              <a:ext cx="972464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b="1" dirty="0"/>
                <a:t>Total steps = 2 * log</a:t>
              </a:r>
              <a:r>
                <a:rPr lang="en-US" sz="6000" b="1" baseline="-25000" dirty="0"/>
                <a:t>2</a:t>
              </a:r>
              <a:r>
                <a:rPr lang="en-US" sz="6000" b="1" dirty="0"/>
                <a:t>(# nodes)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D90F20B-2BFB-27A1-717D-6185DE894A11}"/>
                </a:ext>
              </a:extLst>
            </p:cNvPr>
            <p:cNvSpPr txBox="1"/>
            <p:nvPr/>
          </p:nvSpPr>
          <p:spPr>
            <a:xfrm>
              <a:off x="15887380" y="890599"/>
              <a:ext cx="939311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i="1" dirty="0"/>
                <a:t>Single-Chunk Collective: Tree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1ED30B8-36B6-66EF-85F3-F7A0134930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286957" y="884905"/>
              <a:ext cx="5628212" cy="10321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285504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BFCE3-43DA-D1BC-F8EB-EF601B474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roup 136">
            <a:extLst>
              <a:ext uri="{FF2B5EF4-FFF2-40B4-BE49-F238E27FC236}">
                <a16:creationId xmlns:a16="http://schemas.microsoft.com/office/drawing/2014/main" id="{D603036D-F29F-FE63-167A-997EED30589A}"/>
              </a:ext>
            </a:extLst>
          </p:cNvPr>
          <p:cNvGrpSpPr/>
          <p:nvPr/>
        </p:nvGrpSpPr>
        <p:grpSpPr>
          <a:xfrm>
            <a:off x="6939600" y="853013"/>
            <a:ext cx="22190571" cy="11088189"/>
            <a:chOff x="6939600" y="853013"/>
            <a:chExt cx="22190571" cy="11088189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556E71D2-33E7-E4BC-C881-78297A6651B1}"/>
                </a:ext>
              </a:extLst>
            </p:cNvPr>
            <p:cNvSpPr/>
            <p:nvPr/>
          </p:nvSpPr>
          <p:spPr>
            <a:xfrm>
              <a:off x="9281166" y="5074812"/>
              <a:ext cx="1488559" cy="139286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6532EF0-A71B-B7F2-0BA8-4BDAE3510EBF}"/>
                </a:ext>
              </a:extLst>
            </p:cNvPr>
            <p:cNvSpPr/>
            <p:nvPr/>
          </p:nvSpPr>
          <p:spPr>
            <a:xfrm>
              <a:off x="10250506" y="7745705"/>
              <a:ext cx="1488559" cy="139286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7C2DAE2-F4CE-B4B4-8ED2-A706A62041DC}"/>
                </a:ext>
              </a:extLst>
            </p:cNvPr>
            <p:cNvSpPr/>
            <p:nvPr/>
          </p:nvSpPr>
          <p:spPr>
            <a:xfrm>
              <a:off x="8333097" y="7745705"/>
              <a:ext cx="1488559" cy="139286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Up Arrow 29">
              <a:extLst>
                <a:ext uri="{FF2B5EF4-FFF2-40B4-BE49-F238E27FC236}">
                  <a16:creationId xmlns:a16="http://schemas.microsoft.com/office/drawing/2014/main" id="{CDBD0E19-C9C8-DCFF-FE43-556318B3CF40}"/>
                </a:ext>
              </a:extLst>
            </p:cNvPr>
            <p:cNvSpPr/>
            <p:nvPr/>
          </p:nvSpPr>
          <p:spPr>
            <a:xfrm rot="2279418">
              <a:off x="9021681" y="6553225"/>
              <a:ext cx="893135" cy="964018"/>
            </a:xfrm>
            <a:prstGeom prst="upArrow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Up Arrow 30">
              <a:extLst>
                <a:ext uri="{FF2B5EF4-FFF2-40B4-BE49-F238E27FC236}">
                  <a16:creationId xmlns:a16="http://schemas.microsoft.com/office/drawing/2014/main" id="{0D9BEA3B-2A8F-5786-7503-0A8241B1B090}"/>
                </a:ext>
              </a:extLst>
            </p:cNvPr>
            <p:cNvSpPr/>
            <p:nvPr/>
          </p:nvSpPr>
          <p:spPr>
            <a:xfrm rot="19184673">
              <a:off x="10151113" y="6551553"/>
              <a:ext cx="893135" cy="964018"/>
            </a:xfrm>
            <a:prstGeom prst="upArrow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C5A66D0-0BAB-5E1A-98F4-8C1E18E4B7DF}"/>
                </a:ext>
              </a:extLst>
            </p:cNvPr>
            <p:cNvSpPr txBox="1"/>
            <p:nvPr/>
          </p:nvSpPr>
          <p:spPr>
            <a:xfrm>
              <a:off x="11179863" y="6690177"/>
              <a:ext cx="205819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/>
                <a:t>Step 0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9F56091A-D9E9-B40B-EF56-0DA498A7FF3A}"/>
                </a:ext>
              </a:extLst>
            </p:cNvPr>
            <p:cNvSpPr txBox="1"/>
            <p:nvPr/>
          </p:nvSpPr>
          <p:spPr>
            <a:xfrm>
              <a:off x="6939600" y="853013"/>
              <a:ext cx="2069681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b="1" dirty="0"/>
                <a:t>1. What’s the time of each step? 2. How about other chunks?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200AA46E-B8D7-489C-1F8B-B097FD559B10}"/>
                </a:ext>
              </a:extLst>
            </p:cNvPr>
            <p:cNvSpPr txBox="1"/>
            <p:nvPr/>
          </p:nvSpPr>
          <p:spPr>
            <a:xfrm>
              <a:off x="8062329" y="10002210"/>
              <a:ext cx="21067842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857250" indent="-857250">
                <a:buFont typeface="Arial" panose="020B0604020202020204" pitchFamily="34" charset="0"/>
                <a:buChar char="•"/>
              </a:pPr>
              <a:r>
                <a:rPr lang="en-US" sz="6000" b="1" dirty="0"/>
                <a:t>The arrival time of first chunk is O + L + G*S</a:t>
              </a:r>
            </a:p>
            <a:p>
              <a:pPr marL="857250" indent="-857250">
                <a:buFont typeface="Arial" panose="020B0604020202020204" pitchFamily="34" charset="0"/>
                <a:buChar char="•"/>
              </a:pPr>
              <a:r>
                <a:rPr lang="en-US" sz="6000" b="1" dirty="0"/>
                <a:t>The time gap between consecutive chunk arrivals is G*S</a:t>
              </a: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554C1BED-E0AD-4B1C-DC1E-C353A905B597}"/>
                </a:ext>
              </a:extLst>
            </p:cNvPr>
            <p:cNvSpPr/>
            <p:nvPr/>
          </p:nvSpPr>
          <p:spPr>
            <a:xfrm>
              <a:off x="9945400" y="6377136"/>
              <a:ext cx="3439433" cy="1368569"/>
            </a:xfrm>
            <a:prstGeom prst="ellipse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7987065-B987-D128-8D4C-2E3F756DFB5B}"/>
                </a:ext>
              </a:extLst>
            </p:cNvPr>
            <p:cNvCxnSpPr>
              <a:cxnSpLocks/>
            </p:cNvCxnSpPr>
            <p:nvPr/>
          </p:nvCxnSpPr>
          <p:spPr>
            <a:xfrm>
              <a:off x="15707885" y="4511033"/>
              <a:ext cx="10972800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2FC62F2-03CA-DAB6-C165-E55FE7C22D29}"/>
                </a:ext>
              </a:extLst>
            </p:cNvPr>
            <p:cNvCxnSpPr>
              <a:cxnSpLocks/>
            </p:cNvCxnSpPr>
            <p:nvPr/>
          </p:nvCxnSpPr>
          <p:spPr>
            <a:xfrm>
              <a:off x="15707885" y="5075794"/>
              <a:ext cx="10972800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915949B-35E9-7CA4-4F4A-9B3D703F3327}"/>
                </a:ext>
              </a:extLst>
            </p:cNvPr>
            <p:cNvCxnSpPr>
              <a:cxnSpLocks/>
            </p:cNvCxnSpPr>
            <p:nvPr/>
          </p:nvCxnSpPr>
          <p:spPr>
            <a:xfrm>
              <a:off x="15707885" y="5640555"/>
              <a:ext cx="10972800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D151EB5-B85C-7310-933D-CE9CECEFE656}"/>
                </a:ext>
              </a:extLst>
            </p:cNvPr>
            <p:cNvSpPr txBox="1"/>
            <p:nvPr/>
          </p:nvSpPr>
          <p:spPr>
            <a:xfrm>
              <a:off x="14657399" y="4745386"/>
              <a:ext cx="112999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/>
                <a:t>CPU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18264D2-BF80-F74D-B3BF-A507B7950358}"/>
                </a:ext>
              </a:extLst>
            </p:cNvPr>
            <p:cNvSpPr txBox="1"/>
            <p:nvPr/>
          </p:nvSpPr>
          <p:spPr>
            <a:xfrm>
              <a:off x="14657399" y="4177733"/>
              <a:ext cx="112999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/>
                <a:t>GPU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204C84B-6D4C-F8E0-997C-292F51A8324E}"/>
                </a:ext>
              </a:extLst>
            </p:cNvPr>
            <p:cNvSpPr txBox="1"/>
            <p:nvPr/>
          </p:nvSpPr>
          <p:spPr>
            <a:xfrm>
              <a:off x="14746609" y="5307255"/>
              <a:ext cx="95157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/>
                <a:t>NIC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36381C1-DB44-C344-8C57-75A236CB0320}"/>
                </a:ext>
              </a:extLst>
            </p:cNvPr>
            <p:cNvCxnSpPr>
              <a:cxnSpLocks/>
            </p:cNvCxnSpPr>
            <p:nvPr/>
          </p:nvCxnSpPr>
          <p:spPr>
            <a:xfrm>
              <a:off x="15647503" y="7107367"/>
              <a:ext cx="10972800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85D5656-EE85-8341-BC5D-8933A3D18E4F}"/>
                </a:ext>
              </a:extLst>
            </p:cNvPr>
            <p:cNvCxnSpPr>
              <a:cxnSpLocks/>
            </p:cNvCxnSpPr>
            <p:nvPr/>
          </p:nvCxnSpPr>
          <p:spPr>
            <a:xfrm>
              <a:off x="15647503" y="7672128"/>
              <a:ext cx="10972800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1977F5A-A556-8F3C-25C2-768289836314}"/>
                </a:ext>
              </a:extLst>
            </p:cNvPr>
            <p:cNvCxnSpPr>
              <a:cxnSpLocks/>
            </p:cNvCxnSpPr>
            <p:nvPr/>
          </p:nvCxnSpPr>
          <p:spPr>
            <a:xfrm>
              <a:off x="15647503" y="8236889"/>
              <a:ext cx="10972800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DB9D77D-63DE-28EA-7658-8CAF7382D7ED}"/>
                </a:ext>
              </a:extLst>
            </p:cNvPr>
            <p:cNvSpPr txBox="1"/>
            <p:nvPr/>
          </p:nvSpPr>
          <p:spPr>
            <a:xfrm>
              <a:off x="14657399" y="7341720"/>
              <a:ext cx="112999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/>
                <a:t>CPU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5517E1F-5FC3-9F43-87E9-EEA7FAB8D9F1}"/>
                </a:ext>
              </a:extLst>
            </p:cNvPr>
            <p:cNvSpPr txBox="1"/>
            <p:nvPr/>
          </p:nvSpPr>
          <p:spPr>
            <a:xfrm>
              <a:off x="14657399" y="6774067"/>
              <a:ext cx="112999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/>
                <a:t>NIC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462AEFA-92EE-6CB5-A5AB-194C41EDE5CF}"/>
                </a:ext>
              </a:extLst>
            </p:cNvPr>
            <p:cNvSpPr txBox="1"/>
            <p:nvPr/>
          </p:nvSpPr>
          <p:spPr>
            <a:xfrm>
              <a:off x="14657399" y="7903590"/>
              <a:ext cx="112999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/>
                <a:t>GPU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437BFAB-1EB5-4038-7175-76629B7EB1DF}"/>
                </a:ext>
              </a:extLst>
            </p:cNvPr>
            <p:cNvSpPr/>
            <p:nvPr/>
          </p:nvSpPr>
          <p:spPr>
            <a:xfrm>
              <a:off x="15844697" y="4834888"/>
              <a:ext cx="886624" cy="512808"/>
            </a:xfrm>
            <a:prstGeom prst="rect">
              <a:avLst/>
            </a:prstGeom>
            <a:ln w="508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4000" dirty="0"/>
                <a:t>O</a:t>
              </a:r>
              <a:endParaRPr lang="en-US" sz="4000" baseline="-25000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E48B55F-1D80-90FD-CC0E-705B55D8786E}"/>
                </a:ext>
              </a:extLst>
            </p:cNvPr>
            <p:cNvSpPr/>
            <p:nvPr/>
          </p:nvSpPr>
          <p:spPr>
            <a:xfrm>
              <a:off x="16741019" y="5347206"/>
              <a:ext cx="2743200" cy="512808"/>
            </a:xfrm>
            <a:prstGeom prst="rect">
              <a:avLst/>
            </a:prstGeom>
            <a:ln w="508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4000" dirty="0"/>
                <a:t>G*s</a:t>
              </a:r>
              <a:endParaRPr lang="en-US" sz="4000" baseline="-25000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9A37097-B713-48EE-9C37-540CBEA4D050}"/>
                </a:ext>
              </a:extLst>
            </p:cNvPr>
            <p:cNvSpPr/>
            <p:nvPr/>
          </p:nvSpPr>
          <p:spPr>
            <a:xfrm>
              <a:off x="16736419" y="4834888"/>
              <a:ext cx="888441" cy="512808"/>
            </a:xfrm>
            <a:prstGeom prst="rect">
              <a:avLst/>
            </a:prstGeom>
            <a:ln w="508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4000" dirty="0"/>
                <a:t>O</a:t>
              </a:r>
              <a:endParaRPr lang="en-US" sz="4000" baseline="-25000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6D9B578-5FA4-94EE-53DB-7FB6DF818FCB}"/>
                </a:ext>
              </a:extLst>
            </p:cNvPr>
            <p:cNvSpPr/>
            <p:nvPr/>
          </p:nvSpPr>
          <p:spPr>
            <a:xfrm>
              <a:off x="17629965" y="4834888"/>
              <a:ext cx="888441" cy="512808"/>
            </a:xfrm>
            <a:prstGeom prst="rect">
              <a:avLst/>
            </a:prstGeom>
            <a:ln w="508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4000" dirty="0"/>
                <a:t>O</a:t>
              </a:r>
              <a:endParaRPr lang="en-US" sz="4000" baseline="-25000" dirty="0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BF9EFB80-AF8A-13B9-478A-B4B3529E1F68}"/>
                </a:ext>
              </a:extLst>
            </p:cNvPr>
            <p:cNvSpPr/>
            <p:nvPr/>
          </p:nvSpPr>
          <p:spPr>
            <a:xfrm>
              <a:off x="19488183" y="5347206"/>
              <a:ext cx="2743200" cy="512808"/>
            </a:xfrm>
            <a:prstGeom prst="rect">
              <a:avLst/>
            </a:prstGeom>
            <a:ln w="508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4000" dirty="0"/>
                <a:t>G*s</a:t>
              </a:r>
              <a:endParaRPr lang="en-US" sz="4000" baseline="-25000" dirty="0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D71B51E4-361D-78A6-589D-DDAEAFFC8AAD}"/>
                </a:ext>
              </a:extLst>
            </p:cNvPr>
            <p:cNvSpPr/>
            <p:nvPr/>
          </p:nvSpPr>
          <p:spPr>
            <a:xfrm>
              <a:off x="22235348" y="5347206"/>
              <a:ext cx="2743200" cy="512808"/>
            </a:xfrm>
            <a:prstGeom prst="rect">
              <a:avLst/>
            </a:prstGeom>
            <a:ln w="508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4000" dirty="0"/>
                <a:t>G*s</a:t>
              </a:r>
              <a:endParaRPr lang="en-US" sz="4000" baseline="-25000" dirty="0"/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0A5AF954-67BA-8A5A-9658-17485B57A766}"/>
                </a:ext>
              </a:extLst>
            </p:cNvPr>
            <p:cNvCxnSpPr/>
            <p:nvPr/>
          </p:nvCxnSpPr>
          <p:spPr>
            <a:xfrm>
              <a:off x="16731315" y="5860014"/>
              <a:ext cx="1113383" cy="1247358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A77A8CD5-D8A0-FF2D-23D0-B249763636F1}"/>
                </a:ext>
              </a:extLst>
            </p:cNvPr>
            <p:cNvSpPr txBox="1"/>
            <p:nvPr/>
          </p:nvSpPr>
          <p:spPr>
            <a:xfrm>
              <a:off x="16699446" y="7099622"/>
              <a:ext cx="1129992" cy="8452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/>
                <a:t>L</a:t>
              </a:r>
            </a:p>
          </p:txBody>
        </p: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D473F79D-F0CB-FFC0-FFF4-CD23BA17742F}"/>
                </a:ext>
              </a:extLst>
            </p:cNvPr>
            <p:cNvCxnSpPr>
              <a:cxnSpLocks/>
            </p:cNvCxnSpPr>
            <p:nvPr/>
          </p:nvCxnSpPr>
          <p:spPr>
            <a:xfrm>
              <a:off x="16716831" y="5860009"/>
              <a:ext cx="5104" cy="1560723"/>
            </a:xfrm>
            <a:prstGeom prst="line">
              <a:avLst/>
            </a:prstGeom>
            <a:ln w="5080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9AC8CC62-66EF-3202-C61C-BB85E55DC938}"/>
                </a:ext>
              </a:extLst>
            </p:cNvPr>
            <p:cNvCxnSpPr>
              <a:cxnSpLocks/>
            </p:cNvCxnSpPr>
            <p:nvPr/>
          </p:nvCxnSpPr>
          <p:spPr>
            <a:xfrm>
              <a:off x="17828287" y="7099622"/>
              <a:ext cx="0" cy="321110"/>
            </a:xfrm>
            <a:prstGeom prst="line">
              <a:avLst/>
            </a:prstGeom>
            <a:ln w="5080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8F2AF950-8FF7-FDCC-84C1-0B196DA51FF6}"/>
                </a:ext>
              </a:extLst>
            </p:cNvPr>
            <p:cNvCxnSpPr>
              <a:cxnSpLocks/>
            </p:cNvCxnSpPr>
            <p:nvPr/>
          </p:nvCxnSpPr>
          <p:spPr>
            <a:xfrm>
              <a:off x="16710303" y="7272881"/>
              <a:ext cx="1108279" cy="2280"/>
            </a:xfrm>
            <a:prstGeom prst="straightConnector1">
              <a:avLst/>
            </a:prstGeom>
            <a:ln w="50800">
              <a:solidFill>
                <a:schemeClr val="accent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95CA9836-42C6-B891-F817-DBE4F235D64B}"/>
                </a:ext>
              </a:extLst>
            </p:cNvPr>
            <p:cNvCxnSpPr/>
            <p:nvPr/>
          </p:nvCxnSpPr>
          <p:spPr>
            <a:xfrm>
              <a:off x="19497312" y="5852270"/>
              <a:ext cx="1113383" cy="1247358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C1EE0AB3-68E5-3A26-1DBE-A3EF71C01B5A}"/>
                </a:ext>
              </a:extLst>
            </p:cNvPr>
            <p:cNvCxnSpPr/>
            <p:nvPr/>
          </p:nvCxnSpPr>
          <p:spPr>
            <a:xfrm>
              <a:off x="22240866" y="5859686"/>
              <a:ext cx="1113383" cy="1247358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76B938D9-811D-E28C-5A65-1259CE43EA9F}"/>
                </a:ext>
              </a:extLst>
            </p:cNvPr>
            <p:cNvCxnSpPr/>
            <p:nvPr/>
          </p:nvCxnSpPr>
          <p:spPr>
            <a:xfrm>
              <a:off x="24971721" y="5869133"/>
              <a:ext cx="1113383" cy="1247358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0F07CC1C-A655-16FE-5A9C-B6754353B6D1}"/>
                </a:ext>
              </a:extLst>
            </p:cNvPr>
            <p:cNvSpPr/>
            <p:nvPr/>
          </p:nvSpPr>
          <p:spPr>
            <a:xfrm>
              <a:off x="15955673" y="4212076"/>
              <a:ext cx="664667" cy="512808"/>
            </a:xfrm>
            <a:prstGeom prst="rect">
              <a:avLst/>
            </a:prstGeom>
            <a:pattFill prst="wdUpDiag">
              <a:fgClr>
                <a:srgbClr val="92D050"/>
              </a:fgClr>
              <a:bgClr>
                <a:schemeClr val="bg1"/>
              </a:bgClr>
            </a:pattFill>
            <a:ln w="508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4000" baseline="-25000" dirty="0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C48EEDA0-0C92-B861-0CAB-3187B404CFC4}"/>
                </a:ext>
              </a:extLst>
            </p:cNvPr>
            <p:cNvSpPr/>
            <p:nvPr/>
          </p:nvSpPr>
          <p:spPr>
            <a:xfrm>
              <a:off x="16848241" y="4212076"/>
              <a:ext cx="664667" cy="512808"/>
            </a:xfrm>
            <a:prstGeom prst="rect">
              <a:avLst/>
            </a:prstGeom>
            <a:pattFill prst="wdUpDiag">
              <a:fgClr>
                <a:srgbClr val="92D050"/>
              </a:fgClr>
              <a:bgClr>
                <a:schemeClr val="bg1"/>
              </a:bgClr>
            </a:pattFill>
            <a:ln w="508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4000" baseline="-25000" dirty="0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A5EC4964-952F-0CE5-0FE6-D82C97613881}"/>
                </a:ext>
              </a:extLst>
            </p:cNvPr>
            <p:cNvSpPr/>
            <p:nvPr/>
          </p:nvSpPr>
          <p:spPr>
            <a:xfrm>
              <a:off x="17740808" y="4212076"/>
              <a:ext cx="664667" cy="512808"/>
            </a:xfrm>
            <a:prstGeom prst="rect">
              <a:avLst/>
            </a:prstGeom>
            <a:pattFill prst="wdUpDiag">
              <a:fgClr>
                <a:srgbClr val="92D050"/>
              </a:fgClr>
              <a:bgClr>
                <a:schemeClr val="bg1"/>
              </a:bgClr>
            </a:pattFill>
            <a:ln w="508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4000" baseline="-25000" dirty="0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DCAB3BCE-6521-BEE4-2D85-8EDA369564C2}"/>
                </a:ext>
              </a:extLst>
            </p:cNvPr>
            <p:cNvSpPr/>
            <p:nvPr/>
          </p:nvSpPr>
          <p:spPr>
            <a:xfrm>
              <a:off x="14746609" y="2299624"/>
              <a:ext cx="664667" cy="512808"/>
            </a:xfrm>
            <a:prstGeom prst="rect">
              <a:avLst/>
            </a:prstGeom>
            <a:pattFill prst="wdUpDiag">
              <a:fgClr>
                <a:srgbClr val="92D050"/>
              </a:fgClr>
              <a:bgClr>
                <a:schemeClr val="bg1"/>
              </a:bgClr>
            </a:pattFill>
            <a:ln w="508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4000" baseline="-25000" dirty="0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626A815F-2525-C0AD-3095-59AB2DC0619C}"/>
                </a:ext>
              </a:extLst>
            </p:cNvPr>
            <p:cNvSpPr txBox="1"/>
            <p:nvPr/>
          </p:nvSpPr>
          <p:spPr>
            <a:xfrm>
              <a:off x="15444529" y="2179229"/>
              <a:ext cx="4009450" cy="707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/>
                <a:t>GPU Prepare data</a:t>
              </a: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C94EACEA-FDC3-2D9E-CDA6-8D065CA6921F}"/>
                </a:ext>
              </a:extLst>
            </p:cNvPr>
            <p:cNvSpPr/>
            <p:nvPr/>
          </p:nvSpPr>
          <p:spPr>
            <a:xfrm>
              <a:off x="19560086" y="2277165"/>
              <a:ext cx="912672" cy="572454"/>
            </a:xfrm>
            <a:prstGeom prst="rect">
              <a:avLst/>
            </a:prstGeom>
            <a:ln w="508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4000" dirty="0"/>
                <a:t>O</a:t>
              </a:r>
              <a:endParaRPr lang="en-US" sz="4000" baseline="-25000" dirty="0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682F8E00-9C30-1F01-D33E-034248AE3460}"/>
                </a:ext>
              </a:extLst>
            </p:cNvPr>
            <p:cNvSpPr txBox="1"/>
            <p:nvPr/>
          </p:nvSpPr>
          <p:spPr>
            <a:xfrm>
              <a:off x="20339406" y="2204033"/>
              <a:ext cx="7282566" cy="707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/>
                <a:t>Proxy overhead in sending data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3BD8BA6A-38E0-A99E-0EB6-1F754E1C5EBA}"/>
                </a:ext>
              </a:extLst>
            </p:cNvPr>
            <p:cNvSpPr txBox="1"/>
            <p:nvPr/>
          </p:nvSpPr>
          <p:spPr>
            <a:xfrm>
              <a:off x="14746609" y="3160172"/>
              <a:ext cx="7136694" cy="707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/>
                <a:t>L: Inter-processor physical latency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C5CFE53C-0B5F-902A-3859-F48136A87F1A}"/>
                </a:ext>
              </a:extLst>
            </p:cNvPr>
            <p:cNvSpPr txBox="1"/>
            <p:nvPr/>
          </p:nvSpPr>
          <p:spPr>
            <a:xfrm>
              <a:off x="21922284" y="3183906"/>
              <a:ext cx="3687895" cy="707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/>
                <a:t>G: </a:t>
              </a:r>
              <a:r>
                <a:rPr lang="en" sz="4000" dirty="0"/>
                <a:t>gap per byte</a:t>
              </a:r>
              <a:endParaRPr lang="en-US" sz="4000" dirty="0"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6D678634-84F9-7B8A-2B1F-ED5D4A64A56E}"/>
                </a:ext>
              </a:extLst>
            </p:cNvPr>
            <p:cNvSpPr txBox="1"/>
            <p:nvPr/>
          </p:nvSpPr>
          <p:spPr>
            <a:xfrm>
              <a:off x="19573725" y="8931010"/>
              <a:ext cx="223196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Chunk 0 arrived</a:t>
              </a:r>
            </a:p>
            <a:p>
              <a:r>
                <a:rPr lang="en-US" sz="2400" b="1" dirty="0"/>
                <a:t>T = O + L + G* S</a:t>
              </a:r>
            </a:p>
          </p:txBody>
        </p: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6AD225A5-5C20-BF3A-9DC4-3056B8A66B7D}"/>
                </a:ext>
              </a:extLst>
            </p:cNvPr>
            <p:cNvCxnSpPr>
              <a:cxnSpLocks/>
            </p:cNvCxnSpPr>
            <p:nvPr/>
          </p:nvCxnSpPr>
          <p:spPr>
            <a:xfrm>
              <a:off x="15858075" y="5333594"/>
              <a:ext cx="0" cy="3468056"/>
            </a:xfrm>
            <a:prstGeom prst="line">
              <a:avLst/>
            </a:prstGeom>
            <a:ln w="50800">
              <a:solidFill>
                <a:schemeClr val="tx1"/>
              </a:solidFill>
              <a:prstDash val="sysDot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7023A1E5-436C-7EB2-8136-67DAA4A9F823}"/>
                </a:ext>
              </a:extLst>
            </p:cNvPr>
            <p:cNvSpPr txBox="1"/>
            <p:nvPr/>
          </p:nvSpPr>
          <p:spPr>
            <a:xfrm>
              <a:off x="15445649" y="8862801"/>
              <a:ext cx="8248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T = 0</a:t>
              </a:r>
            </a:p>
          </p:txBody>
        </p: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E8C733DC-D2E9-17AA-DB3A-92457475B08B}"/>
                </a:ext>
              </a:extLst>
            </p:cNvPr>
            <p:cNvCxnSpPr>
              <a:cxnSpLocks/>
            </p:cNvCxnSpPr>
            <p:nvPr/>
          </p:nvCxnSpPr>
          <p:spPr>
            <a:xfrm>
              <a:off x="20597622" y="7099622"/>
              <a:ext cx="0" cy="1753068"/>
            </a:xfrm>
            <a:prstGeom prst="line">
              <a:avLst/>
            </a:prstGeom>
            <a:ln w="50800">
              <a:solidFill>
                <a:schemeClr val="tx1"/>
              </a:solidFill>
              <a:prstDash val="sysDot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FDE6FD3-0B99-9621-46A0-EF9A3ECE1B24}"/>
                </a:ext>
              </a:extLst>
            </p:cNvPr>
            <p:cNvCxnSpPr>
              <a:cxnSpLocks/>
            </p:cNvCxnSpPr>
            <p:nvPr/>
          </p:nvCxnSpPr>
          <p:spPr>
            <a:xfrm>
              <a:off x="23354249" y="7107044"/>
              <a:ext cx="0" cy="1753068"/>
            </a:xfrm>
            <a:prstGeom prst="line">
              <a:avLst/>
            </a:prstGeom>
            <a:ln w="50800">
              <a:solidFill>
                <a:schemeClr val="tx1"/>
              </a:solidFill>
              <a:prstDash val="sysDot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C11016AD-92C9-C6AD-BA3E-87E7AAFE3DD8}"/>
                </a:ext>
              </a:extLst>
            </p:cNvPr>
            <p:cNvSpPr txBox="1"/>
            <p:nvPr/>
          </p:nvSpPr>
          <p:spPr>
            <a:xfrm>
              <a:off x="22240866" y="8931010"/>
              <a:ext cx="246387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Chunk 1 arrived</a:t>
              </a:r>
            </a:p>
            <a:p>
              <a:r>
                <a:rPr lang="en-US" sz="2400" b="1" dirty="0"/>
                <a:t>T = O + L + 2*G* S</a:t>
              </a:r>
            </a:p>
          </p:txBody>
        </p: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26A9567A-6939-2942-9832-126A65A36587}"/>
                </a:ext>
              </a:extLst>
            </p:cNvPr>
            <p:cNvCxnSpPr>
              <a:cxnSpLocks/>
            </p:cNvCxnSpPr>
            <p:nvPr/>
          </p:nvCxnSpPr>
          <p:spPr>
            <a:xfrm>
              <a:off x="26047004" y="7107044"/>
              <a:ext cx="0" cy="1753068"/>
            </a:xfrm>
            <a:prstGeom prst="line">
              <a:avLst/>
            </a:prstGeom>
            <a:ln w="50800">
              <a:solidFill>
                <a:schemeClr val="tx1"/>
              </a:solidFill>
              <a:prstDash val="sysDot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86B80207-EBD0-2921-A299-8DC208968F29}"/>
                </a:ext>
              </a:extLst>
            </p:cNvPr>
            <p:cNvSpPr txBox="1"/>
            <p:nvPr/>
          </p:nvSpPr>
          <p:spPr>
            <a:xfrm>
              <a:off x="24933621" y="8931010"/>
              <a:ext cx="246387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Chunk 2 arrived</a:t>
              </a:r>
            </a:p>
            <a:p>
              <a:r>
                <a:rPr lang="en-US" sz="2400" b="1" dirty="0"/>
                <a:t>T = O + L + 3*G* S</a:t>
              </a:r>
            </a:p>
          </p:txBody>
        </p: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E8D415CD-8BF1-7AB4-6162-5D8F3325A5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384833" y="6165171"/>
              <a:ext cx="1201882" cy="764715"/>
            </a:xfrm>
            <a:prstGeom prst="straightConnector1">
              <a:avLst/>
            </a:prstGeom>
            <a:ln w="1016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310367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3188D-7C09-4EBB-9E78-FBC61EE35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238E859-05D4-E8E6-8DA0-2DBC5D8ECA69}"/>
              </a:ext>
            </a:extLst>
          </p:cNvPr>
          <p:cNvSpPr/>
          <p:nvPr/>
        </p:nvSpPr>
        <p:spPr>
          <a:xfrm>
            <a:off x="9281166" y="5074812"/>
            <a:ext cx="1488559" cy="13928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P</a:t>
            </a:r>
            <a:r>
              <a:rPr lang="en-US" sz="4000" baseline="-25000" dirty="0"/>
              <a:t>2</a:t>
            </a:r>
            <a:endParaRPr lang="en-US" sz="40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4D4BB59-93C0-9DE9-45A4-ACDA477D6260}"/>
              </a:ext>
            </a:extLst>
          </p:cNvPr>
          <p:cNvSpPr/>
          <p:nvPr/>
        </p:nvSpPr>
        <p:spPr>
          <a:xfrm>
            <a:off x="10250506" y="7745705"/>
            <a:ext cx="1488559" cy="13928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P</a:t>
            </a:r>
            <a:r>
              <a:rPr lang="en-US" sz="4000" baseline="-25000" dirty="0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385F41-5DD2-5293-81A6-F89BE69B93AA}"/>
              </a:ext>
            </a:extLst>
          </p:cNvPr>
          <p:cNvSpPr/>
          <p:nvPr/>
        </p:nvSpPr>
        <p:spPr>
          <a:xfrm>
            <a:off x="8333097" y="7745705"/>
            <a:ext cx="1488559" cy="13928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P</a:t>
            </a:r>
            <a:r>
              <a:rPr lang="en-US" sz="4000" baseline="-25000" dirty="0"/>
              <a:t>0</a:t>
            </a:r>
          </a:p>
        </p:txBody>
      </p:sp>
      <p:sp>
        <p:nvSpPr>
          <p:cNvPr id="30" name="Up Arrow 29">
            <a:extLst>
              <a:ext uri="{FF2B5EF4-FFF2-40B4-BE49-F238E27FC236}">
                <a16:creationId xmlns:a16="http://schemas.microsoft.com/office/drawing/2014/main" id="{EA9FD7B4-1302-E509-0B86-EEFC187DA748}"/>
              </a:ext>
            </a:extLst>
          </p:cNvPr>
          <p:cNvSpPr/>
          <p:nvPr/>
        </p:nvSpPr>
        <p:spPr>
          <a:xfrm rot="2279418">
            <a:off x="9021681" y="6553225"/>
            <a:ext cx="893135" cy="964018"/>
          </a:xfrm>
          <a:prstGeom prst="upArrow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Up Arrow 30">
            <a:extLst>
              <a:ext uri="{FF2B5EF4-FFF2-40B4-BE49-F238E27FC236}">
                <a16:creationId xmlns:a16="http://schemas.microsoft.com/office/drawing/2014/main" id="{C9E320D1-5650-1284-D36D-E888BDED1A70}"/>
              </a:ext>
            </a:extLst>
          </p:cNvPr>
          <p:cNvSpPr/>
          <p:nvPr/>
        </p:nvSpPr>
        <p:spPr>
          <a:xfrm rot="19184673">
            <a:off x="10151113" y="6551553"/>
            <a:ext cx="893135" cy="964018"/>
          </a:xfrm>
          <a:prstGeom prst="upArrow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A4AB4CE-AC7D-B786-9031-07174AFFC326}"/>
              </a:ext>
            </a:extLst>
          </p:cNvPr>
          <p:cNvSpPr txBox="1"/>
          <p:nvPr/>
        </p:nvSpPr>
        <p:spPr>
          <a:xfrm>
            <a:off x="11179863" y="6690177"/>
            <a:ext cx="20581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Step 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C2BB938-382E-53A3-56D7-9AC7B7E225D1}"/>
              </a:ext>
            </a:extLst>
          </p:cNvPr>
          <p:cNvSpPr txBox="1"/>
          <p:nvPr/>
        </p:nvSpPr>
        <p:spPr>
          <a:xfrm>
            <a:off x="6939600" y="853013"/>
            <a:ext cx="206968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1. What’s the time of each step? 2. How about other chunks?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3DBE052C-28A7-A9FB-6479-CACDD801466F}"/>
                  </a:ext>
                </a:extLst>
              </p:cNvPr>
              <p:cNvSpPr txBox="1"/>
              <p:nvPr/>
            </p:nvSpPr>
            <p:spPr>
              <a:xfrm>
                <a:off x="8062329" y="10002210"/>
                <a:ext cx="21067842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57250" indent="-857250">
                  <a:buFont typeface="Arial" panose="020B0604020202020204" pitchFamily="34" charset="0"/>
                  <a:buChar char="•"/>
                </a:pPr>
                <a:r>
                  <a:rPr lang="en-US" sz="6000" b="1" dirty="0"/>
                  <a:t>The arrival time of first chunk is o_sc + L + G</a:t>
                </a:r>
                <a14:m>
                  <m:oMath xmlns:m="http://schemas.openxmlformats.org/officeDocument/2006/math">
                    <m:r>
                      <a:rPr lang="en-US" sz="6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6000" b="1" dirty="0"/>
                  <a:t>S = L’ + G</a:t>
                </a:r>
                <a14:m>
                  <m:oMath xmlns:m="http://schemas.openxmlformats.org/officeDocument/2006/math">
                    <m:r>
                      <a:rPr lang="en-US" sz="6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6000" b="1" dirty="0"/>
                  <a:t>S</a:t>
                </a:r>
              </a:p>
              <a:p>
                <a:pPr marL="857250" indent="-857250">
                  <a:buFont typeface="Arial" panose="020B0604020202020204" pitchFamily="34" charset="0"/>
                  <a:buChar char="•"/>
                </a:pPr>
                <a:r>
                  <a:rPr lang="en-US" sz="6000" b="1" dirty="0"/>
                  <a:t>The time gap between consecutive chunk arrivals is G</a:t>
                </a:r>
                <a14:m>
                  <m:oMath xmlns:m="http://schemas.openxmlformats.org/officeDocument/2006/math">
                    <m:r>
                      <a:rPr lang="en-US" sz="6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6000" b="1" dirty="0"/>
                  <a:t>S</a:t>
                </a: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3DBE052C-28A7-A9FB-6479-CACDD80146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2329" y="10002210"/>
                <a:ext cx="21067842" cy="1938992"/>
              </a:xfrm>
              <a:prstGeom prst="rect">
                <a:avLst/>
              </a:prstGeom>
              <a:blipFill>
                <a:blip r:embed="rId2"/>
                <a:stretch>
                  <a:fillRect l="-1627" t="-9740" b="-20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>
            <a:extLst>
              <a:ext uri="{FF2B5EF4-FFF2-40B4-BE49-F238E27FC236}">
                <a16:creationId xmlns:a16="http://schemas.microsoft.com/office/drawing/2014/main" id="{1A04D135-28F3-2BE0-EAF3-9113B5D58FB8}"/>
              </a:ext>
            </a:extLst>
          </p:cNvPr>
          <p:cNvSpPr/>
          <p:nvPr/>
        </p:nvSpPr>
        <p:spPr>
          <a:xfrm>
            <a:off x="9945400" y="6377136"/>
            <a:ext cx="3439433" cy="1368569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847894-6963-9486-B19D-BB727CD19C5B}"/>
              </a:ext>
            </a:extLst>
          </p:cNvPr>
          <p:cNvCxnSpPr>
            <a:cxnSpLocks/>
          </p:cNvCxnSpPr>
          <p:nvPr/>
        </p:nvCxnSpPr>
        <p:spPr>
          <a:xfrm>
            <a:off x="15707885" y="4511033"/>
            <a:ext cx="109728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4FA12F7-082A-5CCD-52ED-B606AE4378C1}"/>
              </a:ext>
            </a:extLst>
          </p:cNvPr>
          <p:cNvCxnSpPr>
            <a:cxnSpLocks/>
          </p:cNvCxnSpPr>
          <p:nvPr/>
        </p:nvCxnSpPr>
        <p:spPr>
          <a:xfrm>
            <a:off x="15707885" y="5075794"/>
            <a:ext cx="109728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2E7DC49-AF30-4118-A518-7A561EB5A4DE}"/>
              </a:ext>
            </a:extLst>
          </p:cNvPr>
          <p:cNvCxnSpPr>
            <a:cxnSpLocks/>
          </p:cNvCxnSpPr>
          <p:nvPr/>
        </p:nvCxnSpPr>
        <p:spPr>
          <a:xfrm>
            <a:off x="15707885" y="5640555"/>
            <a:ext cx="109728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01893B1-B0D5-9FF2-E591-5E471BC02791}"/>
              </a:ext>
            </a:extLst>
          </p:cNvPr>
          <p:cNvSpPr txBox="1"/>
          <p:nvPr/>
        </p:nvSpPr>
        <p:spPr>
          <a:xfrm>
            <a:off x="14657399" y="4745386"/>
            <a:ext cx="11299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CPU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454F57-FAF2-0EFF-D457-FB2F75577582}"/>
              </a:ext>
            </a:extLst>
          </p:cNvPr>
          <p:cNvSpPr txBox="1"/>
          <p:nvPr/>
        </p:nvSpPr>
        <p:spPr>
          <a:xfrm>
            <a:off x="14657399" y="4177733"/>
            <a:ext cx="11299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GPU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7A1513-AF51-D945-C876-D70BAD5252D2}"/>
              </a:ext>
            </a:extLst>
          </p:cNvPr>
          <p:cNvSpPr txBox="1"/>
          <p:nvPr/>
        </p:nvSpPr>
        <p:spPr>
          <a:xfrm>
            <a:off x="14746609" y="5307255"/>
            <a:ext cx="9515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NIC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AE59084-351F-2AD2-6038-5D0D2D9B2B93}"/>
              </a:ext>
            </a:extLst>
          </p:cNvPr>
          <p:cNvCxnSpPr>
            <a:cxnSpLocks/>
          </p:cNvCxnSpPr>
          <p:nvPr/>
        </p:nvCxnSpPr>
        <p:spPr>
          <a:xfrm>
            <a:off x="15647503" y="7107367"/>
            <a:ext cx="109728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EABDC49-D85F-8D06-0A99-E0BBD8E5B94C}"/>
              </a:ext>
            </a:extLst>
          </p:cNvPr>
          <p:cNvCxnSpPr>
            <a:cxnSpLocks/>
          </p:cNvCxnSpPr>
          <p:nvPr/>
        </p:nvCxnSpPr>
        <p:spPr>
          <a:xfrm>
            <a:off x="15647503" y="7672128"/>
            <a:ext cx="109728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64C8362-85AB-4177-18FB-924D35E5954D}"/>
              </a:ext>
            </a:extLst>
          </p:cNvPr>
          <p:cNvCxnSpPr>
            <a:cxnSpLocks/>
          </p:cNvCxnSpPr>
          <p:nvPr/>
        </p:nvCxnSpPr>
        <p:spPr>
          <a:xfrm>
            <a:off x="15647503" y="8236889"/>
            <a:ext cx="109728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210ED88-C995-576A-61A7-161510CE854F}"/>
              </a:ext>
            </a:extLst>
          </p:cNvPr>
          <p:cNvSpPr txBox="1"/>
          <p:nvPr/>
        </p:nvSpPr>
        <p:spPr>
          <a:xfrm>
            <a:off x="14657399" y="7341720"/>
            <a:ext cx="11299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CPU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81604A-91CD-30BB-864C-9D37F6CA831A}"/>
              </a:ext>
            </a:extLst>
          </p:cNvPr>
          <p:cNvSpPr txBox="1"/>
          <p:nvPr/>
        </p:nvSpPr>
        <p:spPr>
          <a:xfrm>
            <a:off x="14657399" y="6774067"/>
            <a:ext cx="11299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NIC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FD198F2-F803-995F-5814-FC74628E4F22}"/>
              </a:ext>
            </a:extLst>
          </p:cNvPr>
          <p:cNvSpPr txBox="1"/>
          <p:nvPr/>
        </p:nvSpPr>
        <p:spPr>
          <a:xfrm>
            <a:off x="14657399" y="7903590"/>
            <a:ext cx="11299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GPU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21FCB40-DC18-1B9D-C63A-1E0C597196E5}"/>
              </a:ext>
            </a:extLst>
          </p:cNvPr>
          <p:cNvSpPr/>
          <p:nvPr/>
        </p:nvSpPr>
        <p:spPr>
          <a:xfrm>
            <a:off x="15844697" y="4834888"/>
            <a:ext cx="1179576" cy="512808"/>
          </a:xfrm>
          <a:prstGeom prst="rect">
            <a:avLst/>
          </a:prstGeom>
          <a:ln w="508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algn="ctr"/>
            <a:r>
              <a:rPr lang="en-US" sz="3600" dirty="0"/>
              <a:t>o_sc</a:t>
            </a:r>
            <a:endParaRPr lang="en-US" sz="3600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963E2260-0E44-76A0-B41D-B09FCE5F9247}"/>
                  </a:ext>
                </a:extLst>
              </p:cNvPr>
              <p:cNvSpPr/>
              <p:nvPr/>
            </p:nvSpPr>
            <p:spPr>
              <a:xfrm>
                <a:off x="17023887" y="5347206"/>
                <a:ext cx="2743200" cy="512808"/>
              </a:xfrm>
              <a:prstGeom prst="rect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4000" dirty="0"/>
                  <a:t>G</a:t>
                </a:r>
                <a14:m>
                  <m:oMath xmlns:m="http://schemas.openxmlformats.org/officeDocument/2006/math">
                    <m:r>
                      <a:rPr lang="en-US" sz="4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4000" dirty="0"/>
                  <a:t>s</a:t>
                </a:r>
                <a:endParaRPr lang="en-US" sz="4000" baseline="-25000" dirty="0"/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963E2260-0E44-76A0-B41D-B09FCE5F92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23887" y="5347206"/>
                <a:ext cx="2743200" cy="512808"/>
              </a:xfrm>
              <a:prstGeom prst="rect">
                <a:avLst/>
              </a:prstGeom>
              <a:blipFill>
                <a:blip r:embed="rId3"/>
                <a:stretch>
                  <a:fillRect t="-28889" b="-60000"/>
                </a:stretch>
              </a:blipFill>
              <a:ln w="508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tangle 36">
            <a:extLst>
              <a:ext uri="{FF2B5EF4-FFF2-40B4-BE49-F238E27FC236}">
                <a16:creationId xmlns:a16="http://schemas.microsoft.com/office/drawing/2014/main" id="{78D68B02-088C-558B-DBDC-38D6FEB16F47}"/>
              </a:ext>
            </a:extLst>
          </p:cNvPr>
          <p:cNvSpPr/>
          <p:nvPr/>
        </p:nvSpPr>
        <p:spPr>
          <a:xfrm>
            <a:off x="17025543" y="4834888"/>
            <a:ext cx="1179576" cy="512808"/>
          </a:xfrm>
          <a:prstGeom prst="rect">
            <a:avLst/>
          </a:prstGeom>
          <a:ln w="508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algn="ctr"/>
            <a:r>
              <a:rPr lang="en-US" sz="3600" dirty="0"/>
              <a:t>o_sc</a:t>
            </a:r>
            <a:endParaRPr lang="en-US" sz="3600" baseline="-250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D0183B3-80A9-F330-AD6E-0E1EEB165380}"/>
              </a:ext>
            </a:extLst>
          </p:cNvPr>
          <p:cNvSpPr/>
          <p:nvPr/>
        </p:nvSpPr>
        <p:spPr>
          <a:xfrm>
            <a:off x="18206474" y="4834888"/>
            <a:ext cx="1178348" cy="512808"/>
          </a:xfrm>
          <a:prstGeom prst="rect">
            <a:avLst/>
          </a:prstGeom>
          <a:ln w="508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algn="ctr"/>
            <a:r>
              <a:rPr lang="en-US" sz="3600" dirty="0"/>
              <a:t>o_sc</a:t>
            </a:r>
            <a:endParaRPr lang="en-US" sz="3600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DB056074-9379-DFE7-D0F8-9D00E8DBCC84}"/>
                  </a:ext>
                </a:extLst>
              </p:cNvPr>
              <p:cNvSpPr/>
              <p:nvPr/>
            </p:nvSpPr>
            <p:spPr>
              <a:xfrm>
                <a:off x="19771051" y="5347206"/>
                <a:ext cx="2743200" cy="512808"/>
              </a:xfrm>
              <a:prstGeom prst="rect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4000" dirty="0"/>
                  <a:t>G</a:t>
                </a:r>
                <a14:m>
                  <m:oMath xmlns:m="http://schemas.openxmlformats.org/officeDocument/2006/math">
                    <m:r>
                      <a:rPr lang="en-US" sz="4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4000" dirty="0"/>
                  <a:t>s</a:t>
                </a:r>
                <a:endParaRPr lang="en-US" sz="4000" baseline="-25000" dirty="0"/>
              </a:p>
            </p:txBody>
          </p:sp>
        </mc:Choice>
        <mc:Fallback xmlns=""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DB056074-9379-DFE7-D0F8-9D00E8DBCC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71051" y="5347206"/>
                <a:ext cx="2743200" cy="512808"/>
              </a:xfrm>
              <a:prstGeom prst="rect">
                <a:avLst/>
              </a:prstGeom>
              <a:blipFill>
                <a:blip r:embed="rId4"/>
                <a:stretch>
                  <a:fillRect t="-28889" b="-60000"/>
                </a:stretch>
              </a:blipFill>
              <a:ln w="508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073DC158-C46C-4909-D810-CA6C1802780E}"/>
                  </a:ext>
                </a:extLst>
              </p:cNvPr>
              <p:cNvSpPr/>
              <p:nvPr/>
            </p:nvSpPr>
            <p:spPr>
              <a:xfrm>
                <a:off x="22518216" y="5347206"/>
                <a:ext cx="2743200" cy="512808"/>
              </a:xfrm>
              <a:prstGeom prst="rect">
                <a:avLst/>
              </a:prstGeom>
              <a:ln w="508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4000" dirty="0"/>
                  <a:t>G</a:t>
                </a:r>
                <a14:m>
                  <m:oMath xmlns:m="http://schemas.openxmlformats.org/officeDocument/2006/math">
                    <m:r>
                      <a:rPr lang="en-US" sz="4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4000" dirty="0"/>
                  <a:t>s</a:t>
                </a:r>
                <a:endParaRPr lang="en-US" sz="4000" baseline="-25000" dirty="0"/>
              </a:p>
            </p:txBody>
          </p:sp>
        </mc:Choice>
        <mc:Fallback xmlns=""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073DC158-C46C-4909-D810-CA6C180278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18216" y="5347206"/>
                <a:ext cx="2743200" cy="512808"/>
              </a:xfrm>
              <a:prstGeom prst="rect">
                <a:avLst/>
              </a:prstGeom>
              <a:blipFill>
                <a:blip r:embed="rId5"/>
                <a:stretch>
                  <a:fillRect t="-28889" b="-60000"/>
                </a:stretch>
              </a:blipFill>
              <a:ln w="508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661C7D92-CE0B-C042-2166-38A0A7E47E84}"/>
              </a:ext>
            </a:extLst>
          </p:cNvPr>
          <p:cNvCxnSpPr/>
          <p:nvPr/>
        </p:nvCxnSpPr>
        <p:spPr>
          <a:xfrm>
            <a:off x="17014183" y="5860014"/>
            <a:ext cx="1113383" cy="1247358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0179891A-044E-8E1E-6CC2-A23E92E1AA10}"/>
              </a:ext>
            </a:extLst>
          </p:cNvPr>
          <p:cNvSpPr txBox="1"/>
          <p:nvPr/>
        </p:nvSpPr>
        <p:spPr>
          <a:xfrm>
            <a:off x="16982314" y="7099622"/>
            <a:ext cx="1129992" cy="845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L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C5B84347-70E9-BFC0-9354-EDE68B93FF43}"/>
              </a:ext>
            </a:extLst>
          </p:cNvPr>
          <p:cNvCxnSpPr>
            <a:cxnSpLocks/>
          </p:cNvCxnSpPr>
          <p:nvPr/>
        </p:nvCxnSpPr>
        <p:spPr>
          <a:xfrm>
            <a:off x="16999699" y="5860009"/>
            <a:ext cx="5104" cy="1560723"/>
          </a:xfrm>
          <a:prstGeom prst="line">
            <a:avLst/>
          </a:prstGeom>
          <a:ln w="508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7C509EE6-62BA-C184-3EE5-C6CCB91D61B8}"/>
              </a:ext>
            </a:extLst>
          </p:cNvPr>
          <p:cNvCxnSpPr>
            <a:cxnSpLocks/>
          </p:cNvCxnSpPr>
          <p:nvPr/>
        </p:nvCxnSpPr>
        <p:spPr>
          <a:xfrm>
            <a:off x="18111155" y="7099622"/>
            <a:ext cx="0" cy="321110"/>
          </a:xfrm>
          <a:prstGeom prst="line">
            <a:avLst/>
          </a:prstGeom>
          <a:ln w="508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9BA5F5BD-4B89-38BC-EDE3-ADCBA0990CDE}"/>
              </a:ext>
            </a:extLst>
          </p:cNvPr>
          <p:cNvCxnSpPr>
            <a:cxnSpLocks/>
          </p:cNvCxnSpPr>
          <p:nvPr/>
        </p:nvCxnSpPr>
        <p:spPr>
          <a:xfrm>
            <a:off x="16993171" y="7272881"/>
            <a:ext cx="1108279" cy="2280"/>
          </a:xfrm>
          <a:prstGeom prst="straightConnector1">
            <a:avLst/>
          </a:prstGeom>
          <a:ln w="50800"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C83D1624-B659-09F6-1DCF-38CB11F7071E}"/>
              </a:ext>
            </a:extLst>
          </p:cNvPr>
          <p:cNvCxnSpPr/>
          <p:nvPr/>
        </p:nvCxnSpPr>
        <p:spPr>
          <a:xfrm>
            <a:off x="19780180" y="5852270"/>
            <a:ext cx="1113383" cy="1247358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A3201D7A-E04B-6BA5-EE6D-CE2D4A4FA0E0}"/>
              </a:ext>
            </a:extLst>
          </p:cNvPr>
          <p:cNvCxnSpPr/>
          <p:nvPr/>
        </p:nvCxnSpPr>
        <p:spPr>
          <a:xfrm>
            <a:off x="22523734" y="5859686"/>
            <a:ext cx="1113383" cy="1247358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39A09089-2830-FA7D-E73D-F589CFBDF6C5}"/>
              </a:ext>
            </a:extLst>
          </p:cNvPr>
          <p:cNvCxnSpPr/>
          <p:nvPr/>
        </p:nvCxnSpPr>
        <p:spPr>
          <a:xfrm>
            <a:off x="25254589" y="5869133"/>
            <a:ext cx="1113383" cy="1247358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EA7DCCE1-BAA3-B1B6-AC5B-1891B0053B72}"/>
              </a:ext>
            </a:extLst>
          </p:cNvPr>
          <p:cNvSpPr/>
          <p:nvPr/>
        </p:nvSpPr>
        <p:spPr>
          <a:xfrm>
            <a:off x="16096353" y="4212076"/>
            <a:ext cx="664667" cy="512808"/>
          </a:xfrm>
          <a:prstGeom prst="rect">
            <a:avLst/>
          </a:prstGeom>
          <a:pattFill prst="wdUpDiag">
            <a:fgClr>
              <a:srgbClr val="92D050"/>
            </a:fgClr>
            <a:bgClr>
              <a:schemeClr val="bg1"/>
            </a:bgClr>
          </a:pattFill>
          <a:ln w="508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000" baseline="-25000" dirty="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64575C6E-74E7-D1D4-7E54-AFA8772B191B}"/>
              </a:ext>
            </a:extLst>
          </p:cNvPr>
          <p:cNvSpPr/>
          <p:nvPr/>
        </p:nvSpPr>
        <p:spPr>
          <a:xfrm>
            <a:off x="17312474" y="4212076"/>
            <a:ext cx="664667" cy="512808"/>
          </a:xfrm>
          <a:prstGeom prst="rect">
            <a:avLst/>
          </a:prstGeom>
          <a:pattFill prst="wdUpDiag">
            <a:fgClr>
              <a:srgbClr val="92D050"/>
            </a:fgClr>
            <a:bgClr>
              <a:schemeClr val="bg1"/>
            </a:bgClr>
          </a:pattFill>
          <a:ln w="508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000" baseline="-25000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06AB5724-D4C4-A463-C2FE-060681DEB799}"/>
              </a:ext>
            </a:extLst>
          </p:cNvPr>
          <p:cNvSpPr/>
          <p:nvPr/>
        </p:nvSpPr>
        <p:spPr>
          <a:xfrm>
            <a:off x="18444197" y="4212076"/>
            <a:ext cx="664667" cy="512808"/>
          </a:xfrm>
          <a:prstGeom prst="rect">
            <a:avLst/>
          </a:prstGeom>
          <a:pattFill prst="wdUpDiag">
            <a:fgClr>
              <a:srgbClr val="92D050"/>
            </a:fgClr>
            <a:bgClr>
              <a:schemeClr val="bg1"/>
            </a:bgClr>
          </a:pattFill>
          <a:ln w="508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000" baseline="-25000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4E09A29D-D5ED-5F46-229E-922A8734C83D}"/>
              </a:ext>
            </a:extLst>
          </p:cNvPr>
          <p:cNvSpPr/>
          <p:nvPr/>
        </p:nvSpPr>
        <p:spPr>
          <a:xfrm>
            <a:off x="12197374" y="2299624"/>
            <a:ext cx="664667" cy="512808"/>
          </a:xfrm>
          <a:prstGeom prst="rect">
            <a:avLst/>
          </a:prstGeom>
          <a:pattFill prst="wdUpDiag">
            <a:fgClr>
              <a:srgbClr val="92D050"/>
            </a:fgClr>
            <a:bgClr>
              <a:schemeClr val="bg1"/>
            </a:bgClr>
          </a:pattFill>
          <a:ln w="508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000" baseline="-25000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40732745-CF19-E77D-AF9D-D7623397FECA}"/>
              </a:ext>
            </a:extLst>
          </p:cNvPr>
          <p:cNvSpPr txBox="1"/>
          <p:nvPr/>
        </p:nvSpPr>
        <p:spPr>
          <a:xfrm>
            <a:off x="12895294" y="2179229"/>
            <a:ext cx="4009450" cy="707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GPU Prepare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FB001A66-043A-3FB9-9F05-7AC7A2726592}"/>
                  </a:ext>
                </a:extLst>
              </p:cNvPr>
              <p:cNvSpPr txBox="1"/>
              <p:nvPr/>
            </p:nvSpPr>
            <p:spPr>
              <a:xfrm>
                <a:off x="18584668" y="2117000"/>
                <a:ext cx="7982013" cy="8765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dirty="0"/>
                  <a:t>Proxy overhead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𝑠𝑐</m:t>
                        </m:r>
                      </m:e>
                      <m: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𝑠𝑦𝑛𝑐</m:t>
                        </m:r>
                      </m:sub>
                      <m:sup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𝑝𝑜𝑙𝑙</m:t>
                        </m:r>
                      </m:sup>
                    </m:sSubSup>
                    <m:r>
                      <m:rPr>
                        <m:nor/>
                      </m:rPr>
                      <a:rPr lang="en-US" sz="4000" dirty="0"/>
                      <m:t>+</m:t>
                    </m:r>
                    <m:sSubSup>
                      <m:sSubSup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𝑠𝑐</m:t>
                        </m:r>
                      </m:e>
                      <m: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𝑐𝑜𝑚𝑚</m:t>
                        </m:r>
                      </m:sub>
                      <m:sup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𝑝𝑜𝑠𝑡</m:t>
                        </m:r>
                      </m:sup>
                    </m:sSubSup>
                  </m:oMath>
                </a14:m>
                <a:r>
                  <a:rPr lang="en-US" sz="4000" dirty="0"/>
                  <a:t>)</a:t>
                </a:r>
              </a:p>
            </p:txBody>
          </p:sp>
        </mc:Choice>
        <mc:Fallback xmlns="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FB001A66-043A-3FB9-9F05-7AC7A27265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84668" y="2117000"/>
                <a:ext cx="7982013" cy="876522"/>
              </a:xfrm>
              <a:prstGeom prst="rect">
                <a:avLst/>
              </a:prstGeom>
              <a:blipFill>
                <a:blip r:embed="rId6"/>
                <a:stretch>
                  <a:fillRect l="-2226" r="-2385" b="-2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" name="TextBox 116">
            <a:extLst>
              <a:ext uri="{FF2B5EF4-FFF2-40B4-BE49-F238E27FC236}">
                <a16:creationId xmlns:a16="http://schemas.microsoft.com/office/drawing/2014/main" id="{BBAE1FE0-DF6D-E812-47AD-FBC181435D5A}"/>
              </a:ext>
            </a:extLst>
          </p:cNvPr>
          <p:cNvSpPr txBox="1"/>
          <p:nvPr/>
        </p:nvSpPr>
        <p:spPr>
          <a:xfrm>
            <a:off x="12197374" y="3160172"/>
            <a:ext cx="7136694" cy="707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L: Inter-processor physical latency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97075B83-7284-75FA-3086-261737E7A9F5}"/>
              </a:ext>
            </a:extLst>
          </p:cNvPr>
          <p:cNvSpPr txBox="1"/>
          <p:nvPr/>
        </p:nvSpPr>
        <p:spPr>
          <a:xfrm>
            <a:off x="19373049" y="3183906"/>
            <a:ext cx="3687895" cy="707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G: </a:t>
            </a:r>
            <a:r>
              <a:rPr lang="en" sz="4000" dirty="0"/>
              <a:t>gap per byte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8886E5D6-EA4B-2F0C-5A94-6E8511841F3E}"/>
                  </a:ext>
                </a:extLst>
              </p:cNvPr>
              <p:cNvSpPr txBox="1"/>
              <p:nvPr/>
            </p:nvSpPr>
            <p:spPr>
              <a:xfrm>
                <a:off x="19844867" y="8931010"/>
                <a:ext cx="278170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Chunk 0 arrived</a:t>
                </a:r>
              </a:p>
              <a:p>
                <a:r>
                  <a:rPr lang="en-US" sz="2400" b="1" dirty="0"/>
                  <a:t>T=o_sc+L+G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400" b="1" dirty="0"/>
                  <a:t>s</a:t>
                </a:r>
                <a:endParaRPr lang="en-US" sz="2400" b="1" baseline="-25000"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8886E5D6-EA4B-2F0C-5A94-6E8511841F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44867" y="8931010"/>
                <a:ext cx="2781702" cy="830997"/>
              </a:xfrm>
              <a:prstGeom prst="rect">
                <a:avLst/>
              </a:prstGeom>
              <a:blipFill>
                <a:blip r:embed="rId7"/>
                <a:stretch>
                  <a:fillRect l="-3182" t="-6061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73F33F0B-CC83-29FA-1C3D-E50F92049A80}"/>
              </a:ext>
            </a:extLst>
          </p:cNvPr>
          <p:cNvCxnSpPr>
            <a:cxnSpLocks/>
          </p:cNvCxnSpPr>
          <p:nvPr/>
        </p:nvCxnSpPr>
        <p:spPr>
          <a:xfrm>
            <a:off x="15858075" y="5333594"/>
            <a:ext cx="0" cy="3468056"/>
          </a:xfrm>
          <a:prstGeom prst="line">
            <a:avLst/>
          </a:prstGeom>
          <a:ln w="50800">
            <a:solidFill>
              <a:schemeClr val="tx1"/>
            </a:solidFill>
            <a:prstDash val="sysDot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AE5A4E0B-D3B1-3C1F-7C8C-C4C128BDE2FB}"/>
              </a:ext>
            </a:extLst>
          </p:cNvPr>
          <p:cNvSpPr txBox="1"/>
          <p:nvPr/>
        </p:nvSpPr>
        <p:spPr>
          <a:xfrm>
            <a:off x="15445649" y="8862801"/>
            <a:ext cx="8248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 = 0</a:t>
            </a:r>
          </a:p>
        </p:txBody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959E137D-2D59-D03C-61C9-DDFFD1EE9BEF}"/>
              </a:ext>
            </a:extLst>
          </p:cNvPr>
          <p:cNvCxnSpPr>
            <a:cxnSpLocks/>
          </p:cNvCxnSpPr>
          <p:nvPr/>
        </p:nvCxnSpPr>
        <p:spPr>
          <a:xfrm>
            <a:off x="20880490" y="7099622"/>
            <a:ext cx="0" cy="1753068"/>
          </a:xfrm>
          <a:prstGeom prst="line">
            <a:avLst/>
          </a:prstGeom>
          <a:ln w="50800">
            <a:solidFill>
              <a:schemeClr val="tx1"/>
            </a:solidFill>
            <a:prstDash val="sysDot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08290E5-2639-7E61-9B37-F5DE7B66FCA3}"/>
              </a:ext>
            </a:extLst>
          </p:cNvPr>
          <p:cNvCxnSpPr>
            <a:cxnSpLocks/>
          </p:cNvCxnSpPr>
          <p:nvPr/>
        </p:nvCxnSpPr>
        <p:spPr>
          <a:xfrm>
            <a:off x="23637117" y="7107044"/>
            <a:ext cx="0" cy="1753068"/>
          </a:xfrm>
          <a:prstGeom prst="line">
            <a:avLst/>
          </a:prstGeom>
          <a:ln w="50800">
            <a:solidFill>
              <a:schemeClr val="tx1"/>
            </a:solidFill>
            <a:prstDash val="sysDot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0C5CCAB2-B583-A2FC-1070-31A4F4E737B9}"/>
                  </a:ext>
                </a:extLst>
              </p:cNvPr>
              <p:cNvSpPr txBox="1"/>
              <p:nvPr/>
            </p:nvSpPr>
            <p:spPr>
              <a:xfrm>
                <a:off x="22578053" y="8931010"/>
                <a:ext cx="295978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Chunk 1 arrived</a:t>
                </a:r>
              </a:p>
              <a:p>
                <a:r>
                  <a:rPr lang="en-US" sz="2400" b="1" dirty="0"/>
                  <a:t>T=o_sc+L+2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400" b="1" dirty="0"/>
                  <a:t>G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400" b="1" dirty="0"/>
                  <a:t>s</a:t>
                </a:r>
                <a:endParaRPr lang="en-US" sz="2400" b="1" baseline="-25000" dirty="0"/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0C5CCAB2-B583-A2FC-1070-31A4F4E737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78053" y="8931010"/>
                <a:ext cx="2959782" cy="830997"/>
              </a:xfrm>
              <a:prstGeom prst="rect">
                <a:avLst/>
              </a:prstGeom>
              <a:blipFill>
                <a:blip r:embed="rId8"/>
                <a:stretch>
                  <a:fillRect l="-2991" t="-6061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972DFB52-2550-EFE0-C758-E25796C2147F}"/>
              </a:ext>
            </a:extLst>
          </p:cNvPr>
          <p:cNvCxnSpPr>
            <a:cxnSpLocks/>
          </p:cNvCxnSpPr>
          <p:nvPr/>
        </p:nvCxnSpPr>
        <p:spPr>
          <a:xfrm>
            <a:off x="26329872" y="7107044"/>
            <a:ext cx="0" cy="1753068"/>
          </a:xfrm>
          <a:prstGeom prst="line">
            <a:avLst/>
          </a:prstGeom>
          <a:ln w="50800">
            <a:solidFill>
              <a:schemeClr val="tx1"/>
            </a:solidFill>
            <a:prstDash val="sysDot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E2CC5A94-AA62-5531-C220-4E0E045B9858}"/>
                  </a:ext>
                </a:extLst>
              </p:cNvPr>
              <p:cNvSpPr txBox="1"/>
              <p:nvPr/>
            </p:nvSpPr>
            <p:spPr>
              <a:xfrm>
                <a:off x="25343235" y="8931010"/>
                <a:ext cx="281525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Chunk 2 arrived</a:t>
                </a:r>
              </a:p>
              <a:p>
                <a:r>
                  <a:rPr lang="en-US" sz="2400" b="1" dirty="0"/>
                  <a:t>T=o_sc+L+3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400" b="1" dirty="0"/>
                  <a:t>G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400" b="1" dirty="0"/>
                  <a:t>s</a:t>
                </a:r>
                <a:endParaRPr lang="en-US" sz="2400" b="1" baseline="-25000" dirty="0"/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E2CC5A94-AA62-5531-C220-4E0E045B9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43235" y="8931010"/>
                <a:ext cx="2815250" cy="830997"/>
              </a:xfrm>
              <a:prstGeom prst="rect">
                <a:avLst/>
              </a:prstGeom>
              <a:blipFill>
                <a:blip r:embed="rId9"/>
                <a:stretch>
                  <a:fillRect l="-3139" t="-6061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99026AEE-024A-37C7-0BC2-BE990814E3EA}"/>
              </a:ext>
            </a:extLst>
          </p:cNvPr>
          <p:cNvCxnSpPr>
            <a:cxnSpLocks/>
          </p:cNvCxnSpPr>
          <p:nvPr/>
        </p:nvCxnSpPr>
        <p:spPr>
          <a:xfrm flipV="1">
            <a:off x="13384833" y="6165171"/>
            <a:ext cx="1201882" cy="764715"/>
          </a:xfrm>
          <a:prstGeom prst="straightConnector1">
            <a:avLst/>
          </a:prstGeom>
          <a:ln w="1016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B702043-09EC-C743-69D5-0BE7903E201B}"/>
              </a:ext>
            </a:extLst>
          </p:cNvPr>
          <p:cNvSpPr txBox="1"/>
          <p:nvPr/>
        </p:nvSpPr>
        <p:spPr>
          <a:xfrm>
            <a:off x="12806542" y="-1766811"/>
            <a:ext cx="111958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i="1" dirty="0"/>
              <a:t>Multi-Chunk Collective: Tree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AD4ED4-0B97-1C90-31F4-9385ABB55C9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591084" y="-1618369"/>
            <a:ext cx="4056088" cy="716153"/>
          </a:xfrm>
          <a:prstGeom prst="rect">
            <a:avLst/>
          </a:prstGeom>
        </p:spPr>
      </p:pic>
      <p:sp>
        <p:nvSpPr>
          <p:cNvPr id="6" name="Left Brace 5">
            <a:extLst>
              <a:ext uri="{FF2B5EF4-FFF2-40B4-BE49-F238E27FC236}">
                <a16:creationId xmlns:a16="http://schemas.microsoft.com/office/drawing/2014/main" id="{3BFB73C8-36A7-AF9C-EA05-029513C36D7E}"/>
              </a:ext>
            </a:extLst>
          </p:cNvPr>
          <p:cNvSpPr/>
          <p:nvPr/>
        </p:nvSpPr>
        <p:spPr>
          <a:xfrm>
            <a:off x="14327661" y="4549095"/>
            <a:ext cx="361642" cy="1159335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F1C713-ED7C-FCC3-1FB8-22246FF71A3D}"/>
              </a:ext>
            </a:extLst>
          </p:cNvPr>
          <p:cNvSpPr txBox="1"/>
          <p:nvPr/>
        </p:nvSpPr>
        <p:spPr>
          <a:xfrm>
            <a:off x="13647640" y="4877459"/>
            <a:ext cx="740497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4000" b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C6830CFC-7C2E-F655-BD59-D0B34D33D50F}"/>
              </a:ext>
            </a:extLst>
          </p:cNvPr>
          <p:cNvSpPr/>
          <p:nvPr/>
        </p:nvSpPr>
        <p:spPr>
          <a:xfrm>
            <a:off x="14326535" y="7130110"/>
            <a:ext cx="361642" cy="1159333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B5CBEF-8FF6-4CA3-9AA5-80651AE2F14F}"/>
              </a:ext>
            </a:extLst>
          </p:cNvPr>
          <p:cNvSpPr txBox="1"/>
          <p:nvPr/>
        </p:nvSpPr>
        <p:spPr>
          <a:xfrm>
            <a:off x="13722908" y="7441741"/>
            <a:ext cx="58996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4000" b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42ED32-E2FA-A158-504E-09B12E197514}"/>
              </a:ext>
            </a:extLst>
          </p:cNvPr>
          <p:cNvSpPr/>
          <p:nvPr/>
        </p:nvSpPr>
        <p:spPr>
          <a:xfrm>
            <a:off x="17321260" y="2295873"/>
            <a:ext cx="1178348" cy="512808"/>
          </a:xfrm>
          <a:prstGeom prst="rect">
            <a:avLst/>
          </a:prstGeom>
          <a:ln w="508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algn="ctr"/>
            <a:r>
              <a:rPr lang="en-US" sz="3600" dirty="0"/>
              <a:t>o_sc</a:t>
            </a:r>
            <a:endParaRPr lang="en-US" sz="3600" baseline="-25000" dirty="0"/>
          </a:p>
        </p:txBody>
      </p:sp>
    </p:spTree>
    <p:extLst>
      <p:ext uri="{BB962C8B-B14F-4D97-AF65-F5344CB8AC3E}">
        <p14:creationId xmlns:p14="http://schemas.microsoft.com/office/powerpoint/2010/main" val="16577463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B19F5-F353-8D1D-A6FA-17A80EC8E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ECC353A-F1C9-C329-2573-92F8E0567242}"/>
              </a:ext>
            </a:extLst>
          </p:cNvPr>
          <p:cNvGrpSpPr/>
          <p:nvPr/>
        </p:nvGrpSpPr>
        <p:grpSpPr>
          <a:xfrm>
            <a:off x="6939600" y="853013"/>
            <a:ext cx="24515760" cy="5123260"/>
            <a:chOff x="6939600" y="853013"/>
            <a:chExt cx="24515760" cy="5123260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788FF398-9D74-F0C6-7AA4-8BB9C20BB922}"/>
                </a:ext>
              </a:extLst>
            </p:cNvPr>
            <p:cNvSpPr txBox="1"/>
            <p:nvPr/>
          </p:nvSpPr>
          <p:spPr>
            <a:xfrm>
              <a:off x="6939600" y="853013"/>
              <a:ext cx="2069681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b="1" dirty="0"/>
                <a:t>What’s the total time of </a:t>
              </a:r>
              <a:r>
                <a:rPr lang="en-US" sz="6000" b="1" dirty="0" err="1"/>
                <a:t>AllReduce</a:t>
              </a:r>
              <a:r>
                <a:rPr lang="en-US" sz="6000" b="1" dirty="0"/>
                <a:t> Tree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4E2025E3-C209-4F57-5616-2AD2468531A0}"/>
                </a:ext>
              </a:extLst>
            </p:cNvPr>
            <p:cNvSpPr txBox="1"/>
            <p:nvPr/>
          </p:nvSpPr>
          <p:spPr>
            <a:xfrm>
              <a:off x="6939600" y="2190621"/>
              <a:ext cx="24515760" cy="37856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143000" indent="-1143000">
                <a:buFont typeface="+mj-lt"/>
                <a:buAutoNum type="arabicPeriod"/>
              </a:pPr>
              <a:r>
                <a:rPr lang="en-US" sz="6000" b="1" dirty="0"/>
                <a:t>The time of first chunk: T</a:t>
              </a:r>
              <a:r>
                <a:rPr lang="en-US" sz="6000" b="1" baseline="-25000" dirty="0"/>
                <a:t>0</a:t>
              </a:r>
              <a:r>
                <a:rPr lang="en-US" sz="6000" b="1" dirty="0"/>
                <a:t> = (O + L + G*S) * log</a:t>
              </a:r>
              <a:r>
                <a:rPr lang="en-US" sz="6000" b="1" baseline="-25000" dirty="0"/>
                <a:t>2</a:t>
              </a:r>
              <a:r>
                <a:rPr lang="en-US" sz="6000" b="1" dirty="0"/>
                <a:t>(# nodes) * 2</a:t>
              </a:r>
            </a:p>
            <a:p>
              <a:pPr marL="1143000" indent="-1143000">
                <a:buFont typeface="+mj-lt"/>
                <a:buAutoNum type="arabicPeriod"/>
              </a:pPr>
              <a:r>
                <a:rPr lang="en-US" sz="6000" b="1" dirty="0"/>
                <a:t>The time gap between consecutive chunk arrivals: T</a:t>
              </a:r>
              <a:r>
                <a:rPr lang="en-US" sz="6000" b="1" baseline="-25000" dirty="0"/>
                <a:t>1</a:t>
              </a:r>
              <a:r>
                <a:rPr lang="en-US" sz="6000" b="1" dirty="0"/>
                <a:t> = G * S * # chunks</a:t>
              </a:r>
            </a:p>
            <a:p>
              <a:pPr marL="1143000" indent="-1143000">
                <a:buFont typeface="+mj-lt"/>
                <a:buAutoNum type="arabicPeriod"/>
              </a:pPr>
              <a:r>
                <a:rPr lang="en-US" sz="6000" b="1" dirty="0"/>
                <a:t>Total time is T</a:t>
              </a:r>
              <a:r>
                <a:rPr lang="en-US" sz="6000" b="1" baseline="-25000" dirty="0"/>
                <a:t>0</a:t>
              </a:r>
              <a:r>
                <a:rPr lang="en-US" sz="6000" b="1" dirty="0"/>
                <a:t> + T</a:t>
              </a:r>
              <a:r>
                <a:rPr lang="en-US" sz="6000" b="1" baseline="-25000" dirty="0"/>
                <a:t>1</a:t>
              </a:r>
            </a:p>
            <a:p>
              <a:pPr marL="857250" indent="-857250">
                <a:buFont typeface="Arial" panose="020B0604020202020204" pitchFamily="34" charset="0"/>
                <a:buChar char="•"/>
              </a:pPr>
              <a:endParaRPr lang="en-US" sz="6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1730089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57"/>
          <p:cNvSpPr txBox="1">
            <a:spLocks noGrp="1"/>
          </p:cNvSpPr>
          <p:nvPr>
            <p:ph type="body" idx="1"/>
          </p:nvPr>
        </p:nvSpPr>
        <p:spPr>
          <a:xfrm>
            <a:off x="7325807" y="2548450"/>
            <a:ext cx="9464520" cy="1748365"/>
          </a:xfrm>
          <a:noFill/>
          <a:ln>
            <a:noFill/>
          </a:ln>
        </p:spPr>
        <p:txBody>
          <a:bodyPr spcFirstLastPara="1" vert="horz" wrap="square" lIns="182867" tIns="91400" rIns="182867" bIns="91400" rtlCol="0" anchor="t" anchorCtr="0">
            <a:normAutofit/>
          </a:bodyPr>
          <a:lstStyle/>
          <a:p>
            <a:pPr marL="474139" indent="-592674">
              <a:lnSpc>
                <a:spcPct val="80000"/>
              </a:lnSpc>
              <a:buSzPts val="2100"/>
            </a:pPr>
            <a:r>
              <a:rPr lang="en-US" sz="5067"/>
              <a:t>L: upper bound on message latency between processors; </a:t>
            </a:r>
          </a:p>
        </p:txBody>
      </p:sp>
      <p:sp>
        <p:nvSpPr>
          <p:cNvPr id="590" name="Google Shape;590;p57"/>
          <p:cNvSpPr txBox="1">
            <a:spLocks noGrp="1"/>
          </p:cNvSpPr>
          <p:nvPr>
            <p:ph type="ftr" idx="11"/>
          </p:nvPr>
        </p:nvSpPr>
        <p:spPr>
          <a:xfrm>
            <a:off x="15410690" y="12985746"/>
            <a:ext cx="8098669" cy="730253"/>
          </a:xfrm>
          <a:noFill/>
          <a:ln>
            <a:noFill/>
          </a:ln>
        </p:spPr>
        <p:txBody>
          <a:bodyPr spcFirstLastPara="1" vert="horz" wrap="square" lIns="182867" tIns="91400" rIns="182867" bIns="91400" rtlCol="0" anchor="ctr" anchorCtr="0">
            <a:normAutofit/>
          </a:bodyPr>
          <a:lstStyle/>
          <a:p>
            <a:pPr lvl="0"/>
            <a:r>
              <a:rPr lang="en-US" dirty="0"/>
              <a:t>Liuyao Dai, 2025</a:t>
            </a:r>
          </a:p>
        </p:txBody>
      </p:sp>
      <p:sp>
        <p:nvSpPr>
          <p:cNvPr id="591" name="Google Shape;591;p57"/>
          <p:cNvSpPr txBox="1">
            <a:spLocks noGrp="1"/>
          </p:cNvSpPr>
          <p:nvPr>
            <p:ph type="sldNum" idx="12"/>
          </p:nvPr>
        </p:nvSpPr>
        <p:spPr>
          <a:xfrm>
            <a:off x="24914089" y="12985744"/>
            <a:ext cx="5565912" cy="730256"/>
          </a:xfrm>
          <a:noFill/>
          <a:ln>
            <a:noFill/>
          </a:ln>
        </p:spPr>
        <p:txBody>
          <a:bodyPr spcFirstLastPara="1" vert="horz" wrap="square" lIns="182867" tIns="91400" rIns="182867" bIns="91400" rtlCol="0" anchor="ctr" anchorCtr="0">
            <a:normAutofit/>
          </a:bodyPr>
          <a:lstStyle/>
          <a:p>
            <a:pPr lvl="0"/>
            <a:fld id="{00000000-1234-1234-1234-123412341234}" type="slidenum">
              <a:rPr lang="en"/>
              <a:pPr lvl="0"/>
              <a:t>18</a:t>
            </a:fld>
            <a:endParaRPr lang="en"/>
          </a:p>
        </p:txBody>
      </p:sp>
      <p:sp>
        <p:nvSpPr>
          <p:cNvPr id="599" name="Google Shape;599;p57"/>
          <p:cNvSpPr txBox="1">
            <a:spLocks noGrp="1"/>
          </p:cNvSpPr>
          <p:nvPr>
            <p:ph type="body" idx="4294967295"/>
          </p:nvPr>
        </p:nvSpPr>
        <p:spPr>
          <a:xfrm>
            <a:off x="7232537" y="4480714"/>
            <a:ext cx="9703912" cy="174836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82867" tIns="91400" rIns="182867" bIns="91400" rtlCol="0" anchor="t" anchorCtr="0">
            <a:normAutofit fontScale="92500" lnSpcReduction="10000"/>
          </a:bodyPr>
          <a:lstStyle/>
          <a:p>
            <a:pPr marL="474139" indent="-592674">
              <a:spcBef>
                <a:spcPts val="2133"/>
              </a:spcBef>
              <a:buSzPts val="2100"/>
            </a:pPr>
            <a:r>
              <a:rPr lang="en-US" dirty="0"/>
              <a:t>o</a:t>
            </a:r>
            <a:r>
              <a:rPr lang="en" dirty="0"/>
              <a:t> (o</a:t>
            </a:r>
            <a:r>
              <a:rPr lang="en" baseline="-25000" dirty="0"/>
              <a:t>s</a:t>
            </a:r>
            <a:r>
              <a:rPr lang="en" dirty="0"/>
              <a:t>, o</a:t>
            </a:r>
            <a:r>
              <a:rPr lang="en" baseline="-25000" dirty="0"/>
              <a:t>r</a:t>
            </a:r>
            <a:r>
              <a:rPr lang="en" dirty="0"/>
              <a:t>): overhead time during transmission or reception; </a:t>
            </a:r>
            <a:endParaRPr i="1" dirty="0"/>
          </a:p>
        </p:txBody>
      </p:sp>
      <p:sp>
        <p:nvSpPr>
          <p:cNvPr id="600" name="Google Shape;600;p57"/>
          <p:cNvSpPr txBox="1">
            <a:spLocks noGrp="1"/>
          </p:cNvSpPr>
          <p:nvPr>
            <p:ph type="body" idx="4294967295"/>
          </p:nvPr>
        </p:nvSpPr>
        <p:spPr>
          <a:xfrm>
            <a:off x="7232536" y="6412978"/>
            <a:ext cx="10363200" cy="174836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82867" tIns="91400" rIns="182867" bIns="91400" rtlCol="0" anchor="t" anchorCtr="0">
            <a:normAutofit fontScale="92500" lnSpcReduction="10000"/>
          </a:bodyPr>
          <a:lstStyle/>
          <a:p>
            <a:pPr marL="474139" indent="-592674">
              <a:spcBef>
                <a:spcPts val="2133"/>
              </a:spcBef>
              <a:buSzPts val="2100"/>
            </a:pPr>
            <a:r>
              <a:rPr lang="en" dirty="0"/>
              <a:t>g: minimum gap between consecutive messages; </a:t>
            </a:r>
            <a:endParaRPr i="1" dirty="0"/>
          </a:p>
        </p:txBody>
      </p:sp>
      <p:sp>
        <p:nvSpPr>
          <p:cNvPr id="601" name="Google Shape;601;p57"/>
          <p:cNvSpPr txBox="1">
            <a:spLocks noGrp="1"/>
          </p:cNvSpPr>
          <p:nvPr>
            <p:ph type="body" idx="4294967295"/>
          </p:nvPr>
        </p:nvSpPr>
        <p:spPr>
          <a:xfrm>
            <a:off x="7232536" y="8345241"/>
            <a:ext cx="10363200" cy="990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82867" tIns="91400" rIns="182867" bIns="91400" rtlCol="0" anchor="t" anchorCtr="0">
            <a:normAutofit fontScale="85000" lnSpcReduction="20000"/>
          </a:bodyPr>
          <a:lstStyle/>
          <a:p>
            <a:pPr marL="474139" indent="-592674">
              <a:spcBef>
                <a:spcPts val="2133"/>
              </a:spcBef>
              <a:buSzPts val="2100"/>
            </a:pPr>
            <a:r>
              <a:rPr lang="en"/>
              <a:t>P: number of processors;</a:t>
            </a:r>
            <a:endParaRPr/>
          </a:p>
        </p:txBody>
      </p:sp>
      <p:sp>
        <p:nvSpPr>
          <p:cNvPr id="602" name="Google Shape;602;p57"/>
          <p:cNvSpPr txBox="1">
            <a:spLocks noGrp="1"/>
          </p:cNvSpPr>
          <p:nvPr>
            <p:ph type="body" idx="4294967295"/>
          </p:nvPr>
        </p:nvSpPr>
        <p:spPr>
          <a:xfrm>
            <a:off x="7232536" y="9519743"/>
            <a:ext cx="10363200" cy="990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82867" tIns="91400" rIns="182867" bIns="91400" rtlCol="0" anchor="t" anchorCtr="0">
            <a:normAutofit fontScale="85000" lnSpcReduction="20000"/>
          </a:bodyPr>
          <a:lstStyle/>
          <a:p>
            <a:pPr marL="474139" indent="-592674">
              <a:spcBef>
                <a:spcPts val="2133"/>
              </a:spcBef>
              <a:buSzPts val="2100"/>
            </a:pPr>
            <a:r>
              <a:rPr lang="en"/>
              <a:t>G: gap per byte for long messages.</a:t>
            </a:r>
            <a:endParaRPr i="1"/>
          </a:p>
        </p:txBody>
      </p:sp>
      <p:pic>
        <p:nvPicPr>
          <p:cNvPr id="589" name="Google Shape;589;p57" descr="A diagram of a rectangular object with arrows and letter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19222" y="4845115"/>
            <a:ext cx="10363205" cy="331622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592" name="Google Shape;592;p57"/>
          <p:cNvSpPr/>
          <p:nvPr/>
        </p:nvSpPr>
        <p:spPr>
          <a:xfrm>
            <a:off x="18811635" y="7221941"/>
            <a:ext cx="1420000" cy="11984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67" tIns="91400" rIns="182867" bIns="91400" anchor="ctr" anchorCtr="0">
            <a:noAutofit/>
          </a:bodyPr>
          <a:lstStyle/>
          <a:p>
            <a:pPr algn="ctr"/>
            <a:endParaRPr sz="373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57"/>
          <p:cNvSpPr/>
          <p:nvPr/>
        </p:nvSpPr>
        <p:spPr>
          <a:xfrm>
            <a:off x="17828616" y="4608027"/>
            <a:ext cx="1420000" cy="11984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67" tIns="91400" rIns="182867" bIns="91400" anchor="ctr" anchorCtr="0">
            <a:noAutofit/>
          </a:bodyPr>
          <a:lstStyle/>
          <a:p>
            <a:pPr algn="ctr"/>
            <a:endParaRPr sz="373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57"/>
          <p:cNvSpPr/>
          <p:nvPr/>
        </p:nvSpPr>
        <p:spPr>
          <a:xfrm>
            <a:off x="21724395" y="7092611"/>
            <a:ext cx="1712800" cy="11984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67" tIns="91400" rIns="182867" bIns="91400" anchor="ctr" anchorCtr="0">
            <a:noAutofit/>
          </a:bodyPr>
          <a:lstStyle/>
          <a:p>
            <a:pPr algn="ctr"/>
            <a:endParaRPr sz="373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57"/>
          <p:cNvSpPr/>
          <p:nvPr/>
        </p:nvSpPr>
        <p:spPr>
          <a:xfrm>
            <a:off x="21678003" y="5752787"/>
            <a:ext cx="1420000" cy="11984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67" tIns="91400" rIns="182867" bIns="91400" anchor="ctr" anchorCtr="0">
            <a:noAutofit/>
          </a:bodyPr>
          <a:lstStyle/>
          <a:p>
            <a:pPr algn="ctr"/>
            <a:endParaRPr sz="373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57"/>
          <p:cNvSpPr/>
          <p:nvPr/>
        </p:nvSpPr>
        <p:spPr>
          <a:xfrm>
            <a:off x="16632803" y="6807395"/>
            <a:ext cx="1712800" cy="11984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67" tIns="91400" rIns="182867" bIns="91400" anchor="ctr" anchorCtr="0">
            <a:noAutofit/>
          </a:bodyPr>
          <a:lstStyle/>
          <a:p>
            <a:pPr algn="ctr"/>
            <a:endParaRPr sz="373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57"/>
          <p:cNvSpPr/>
          <p:nvPr/>
        </p:nvSpPr>
        <p:spPr>
          <a:xfrm>
            <a:off x="16462837" y="4923939"/>
            <a:ext cx="1712800" cy="11984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67" tIns="91400" rIns="182867" bIns="91400" anchor="ctr" anchorCtr="0">
            <a:noAutofit/>
          </a:bodyPr>
          <a:lstStyle/>
          <a:p>
            <a:pPr algn="ctr"/>
            <a:endParaRPr sz="373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57"/>
          <p:cNvSpPr/>
          <p:nvPr/>
        </p:nvSpPr>
        <p:spPr>
          <a:xfrm>
            <a:off x="24817219" y="5389877"/>
            <a:ext cx="1420000" cy="11984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67" tIns="91400" rIns="182867" bIns="91400" anchor="ctr" anchorCtr="0">
            <a:noAutofit/>
          </a:bodyPr>
          <a:lstStyle/>
          <a:p>
            <a:pPr algn="ctr"/>
            <a:endParaRPr sz="373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399;p54">
            <a:extLst>
              <a:ext uri="{FF2B5EF4-FFF2-40B4-BE49-F238E27FC236}">
                <a16:creationId xmlns:a16="http://schemas.microsoft.com/office/drawing/2014/main" id="{8CD4F018-091F-9134-6EE2-390CE0D80642}"/>
              </a:ext>
            </a:extLst>
          </p:cNvPr>
          <p:cNvSpPr txBox="1">
            <a:spLocks/>
          </p:cNvSpPr>
          <p:nvPr/>
        </p:nvSpPr>
        <p:spPr>
          <a:xfrm>
            <a:off x="7069810" y="428847"/>
            <a:ext cx="22235325" cy="1387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67" tIns="91400" rIns="182867" bIns="914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2B50"/>
              </a:buClr>
              <a:buSzPts val="1400"/>
              <a:buFont typeface="Calibri"/>
              <a:buNone/>
              <a:defRPr sz="3300" b="0" i="0" u="none" strike="noStrike" cap="none">
                <a:solidFill>
                  <a:srgbClr val="0B2B5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3300"/>
            </a:pPr>
            <a:r>
              <a:rPr lang="en-US" sz="8800" dirty="0">
                <a:solidFill>
                  <a:srgbClr val="002060"/>
                </a:solidFill>
              </a:rPr>
              <a:t>Communication Model (</a:t>
            </a:r>
            <a:r>
              <a:rPr lang="en-US" sz="8800" dirty="0" err="1">
                <a:solidFill>
                  <a:srgbClr val="002060"/>
                </a:solidFill>
              </a:rPr>
              <a:t>LogGP</a:t>
            </a:r>
            <a:r>
              <a:rPr lang="en-US" sz="8800" dirty="0">
                <a:solidFill>
                  <a:srgbClr val="002060"/>
                </a:solidFill>
              </a:rPr>
              <a:t>) </a:t>
            </a:r>
            <a:endParaRPr lang="en-US" sz="8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>
          <a:extLst>
            <a:ext uri="{FF2B5EF4-FFF2-40B4-BE49-F238E27FC236}">
              <a16:creationId xmlns:a16="http://schemas.microsoft.com/office/drawing/2014/main" id="{BDE68D9A-B55F-8E4C-9B1F-BC69DDD8B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58">
            <a:extLst>
              <a:ext uri="{FF2B5EF4-FFF2-40B4-BE49-F238E27FC236}">
                <a16:creationId xmlns:a16="http://schemas.microsoft.com/office/drawing/2014/main" id="{863AF131-E5B5-A0AA-B54D-F9AC2A8B794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15410690" y="12985746"/>
            <a:ext cx="8098669" cy="730253"/>
          </a:xfrm>
          <a:noFill/>
          <a:ln>
            <a:noFill/>
          </a:ln>
        </p:spPr>
        <p:txBody>
          <a:bodyPr spcFirstLastPara="1" vert="horz" wrap="square" lIns="182867" tIns="91400" rIns="182867" bIns="91400" rtlCol="0" anchor="ctr" anchorCtr="0">
            <a:noAutofit/>
          </a:bodyPr>
          <a:lstStyle/>
          <a:p>
            <a:pPr lvl="0"/>
            <a:r>
              <a:rPr lang="en-US" dirty="0"/>
              <a:t>Liuyao Dai, 2025</a:t>
            </a:r>
          </a:p>
        </p:txBody>
      </p:sp>
      <p:sp>
        <p:nvSpPr>
          <p:cNvPr id="610" name="Google Shape;610;p58">
            <a:extLst>
              <a:ext uri="{FF2B5EF4-FFF2-40B4-BE49-F238E27FC236}">
                <a16:creationId xmlns:a16="http://schemas.microsoft.com/office/drawing/2014/main" id="{3388FF80-498C-EB3C-D740-C70177499F2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4914089" y="12985744"/>
            <a:ext cx="5565912" cy="730256"/>
          </a:xfrm>
          <a:noFill/>
          <a:ln>
            <a:noFill/>
          </a:ln>
        </p:spPr>
        <p:txBody>
          <a:bodyPr spcFirstLastPara="1" vert="horz" wrap="square" lIns="182867" tIns="91400" rIns="182867" bIns="91400" rtlCol="0" anchor="ctr" anchorCtr="0">
            <a:noAutofit/>
          </a:bodyPr>
          <a:lstStyle/>
          <a:p>
            <a:pPr lvl="0"/>
            <a:fld id="{00000000-1234-1234-1234-123412341234}" type="slidenum">
              <a:rPr lang="en"/>
              <a:pPr lvl="0"/>
              <a:t>19</a:t>
            </a:fld>
            <a:endParaRPr lang="en"/>
          </a:p>
        </p:txBody>
      </p:sp>
      <p:sp>
        <p:nvSpPr>
          <p:cNvPr id="595" name="TextBox 594">
            <a:extLst>
              <a:ext uri="{FF2B5EF4-FFF2-40B4-BE49-F238E27FC236}">
                <a16:creationId xmlns:a16="http://schemas.microsoft.com/office/drawing/2014/main" id="{331CDEC0-CC55-64B4-557E-CE425E94ACED}"/>
              </a:ext>
            </a:extLst>
          </p:cNvPr>
          <p:cNvSpPr txBox="1"/>
          <p:nvPr/>
        </p:nvSpPr>
        <p:spPr>
          <a:xfrm>
            <a:off x="9966648" y="11153168"/>
            <a:ext cx="16489808" cy="913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5333" dirty="0">
                <a:latin typeface="Calibri" panose="020F0502020204030204" pitchFamily="34" charset="0"/>
                <a:cs typeface="Calibri" panose="020F0502020204030204" pitchFamily="34" charset="0"/>
              </a:rPr>
              <a:t>1. GPU kernel is launched to compute and prepare data</a:t>
            </a:r>
            <a:endParaRPr lang="en-US" sz="5333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8" name="TextBox 597">
            <a:extLst>
              <a:ext uri="{FF2B5EF4-FFF2-40B4-BE49-F238E27FC236}">
                <a16:creationId xmlns:a16="http://schemas.microsoft.com/office/drawing/2014/main" id="{F20C5DC0-BCBD-1F5C-FC6D-AABDDA97D8A7}"/>
              </a:ext>
            </a:extLst>
          </p:cNvPr>
          <p:cNvSpPr txBox="1"/>
          <p:nvPr/>
        </p:nvSpPr>
        <p:spPr>
          <a:xfrm>
            <a:off x="2717091" y="14718805"/>
            <a:ext cx="20637771" cy="1733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sz="5333" dirty="0">
                <a:latin typeface="Calibri" panose="020F0502020204030204" pitchFamily="34" charset="0"/>
                <a:cs typeface="Calibri" panose="020F0502020204030204" pitchFamily="34" charset="0"/>
              </a:rPr>
              <a:t>2. CPU proxy begins polling the GPU to detect when the data in the FIFO; </a:t>
            </a:r>
          </a:p>
          <a:p>
            <a:pPr algn="ctr"/>
            <a:r>
              <a:rPr lang="en" sz="5333" dirty="0">
                <a:latin typeface="Calibri" panose="020F0502020204030204" pitchFamily="34" charset="0"/>
                <a:cs typeface="Calibri" panose="020F0502020204030204" pitchFamily="34" charset="0"/>
              </a:rPr>
              <a:t>Notify NIC</a:t>
            </a:r>
            <a:endParaRPr lang="en-US" sz="5333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0" name="TextBox 599">
            <a:extLst>
              <a:ext uri="{FF2B5EF4-FFF2-40B4-BE49-F238E27FC236}">
                <a16:creationId xmlns:a16="http://schemas.microsoft.com/office/drawing/2014/main" id="{4B4E413E-AAA1-29B2-F9F3-2B92360108EE}"/>
              </a:ext>
            </a:extLst>
          </p:cNvPr>
          <p:cNvSpPr txBox="1"/>
          <p:nvPr/>
        </p:nvSpPr>
        <p:spPr>
          <a:xfrm>
            <a:off x="403633" y="17611979"/>
            <a:ext cx="21291379" cy="83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ts val="2133"/>
              </a:spcBef>
              <a:buClr>
                <a:schemeClr val="dk1"/>
              </a:buClr>
              <a:buSzPts val="1200"/>
            </a:pPr>
            <a:r>
              <a:rPr lang="en-US" sz="5333" dirty="0"/>
              <a:t>3. The NIC retrieves data from the FIFO via DMA; sends it to network.</a:t>
            </a:r>
          </a:p>
        </p:txBody>
      </p:sp>
      <p:sp>
        <p:nvSpPr>
          <p:cNvPr id="602" name="TextBox 601">
            <a:extLst>
              <a:ext uri="{FF2B5EF4-FFF2-40B4-BE49-F238E27FC236}">
                <a16:creationId xmlns:a16="http://schemas.microsoft.com/office/drawing/2014/main" id="{6FD194AC-B426-7EF6-4725-DEFE85A6E07D}"/>
              </a:ext>
            </a:extLst>
          </p:cNvPr>
          <p:cNvSpPr txBox="1"/>
          <p:nvPr/>
        </p:nvSpPr>
        <p:spPr>
          <a:xfrm>
            <a:off x="-17336" y="-2458019"/>
            <a:ext cx="21291381" cy="1733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sz="5333" dirty="0">
                <a:latin typeface="Calibri" panose="020F0502020204030204" pitchFamily="34" charset="0"/>
                <a:cs typeface="Calibri" panose="020F0502020204030204" pitchFamily="34" charset="0"/>
              </a:rPr>
              <a:t>4. </a:t>
            </a:r>
            <a:r>
              <a:rPr lang="en" sz="5333" dirty="0" err="1">
                <a:latin typeface="Calibri" panose="020F0502020204030204" pitchFamily="34" charset="0"/>
                <a:cs typeface="Calibri" panose="020F0502020204030204" pitchFamily="34" charset="0"/>
              </a:rPr>
              <a:t>Recv</a:t>
            </a:r>
            <a:r>
              <a:rPr lang="en" sz="5333" dirty="0">
                <a:latin typeface="Calibri" panose="020F0502020204030204" pitchFamily="34" charset="0"/>
                <a:cs typeface="Calibri" panose="020F0502020204030204" pitchFamily="34" charset="0"/>
              </a:rPr>
              <a:t>: CPU proxy polls the NIC and forwards the data to the receiving GPU’s FIFO</a:t>
            </a:r>
            <a:endParaRPr lang="en-US" sz="5333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4" name="TextBox 603">
            <a:extLst>
              <a:ext uri="{FF2B5EF4-FFF2-40B4-BE49-F238E27FC236}">
                <a16:creationId xmlns:a16="http://schemas.microsoft.com/office/drawing/2014/main" id="{A13933DD-A8CD-293E-DE34-1E8BDCBDD07E}"/>
              </a:ext>
            </a:extLst>
          </p:cNvPr>
          <p:cNvSpPr txBox="1"/>
          <p:nvPr/>
        </p:nvSpPr>
        <p:spPr>
          <a:xfrm>
            <a:off x="-2324936" y="20593613"/>
            <a:ext cx="18284069" cy="83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ts val="2133"/>
              </a:spcBef>
              <a:buClr>
                <a:schemeClr val="dk1"/>
              </a:buClr>
              <a:buSzPts val="1200"/>
            </a:pPr>
            <a:r>
              <a:rPr lang="en-US" sz="5333" dirty="0">
                <a:latin typeface="Calibri" panose="020F0502020204030204" pitchFamily="34" charset="0"/>
                <a:cs typeface="Calibri" panose="020F0502020204030204" pitchFamily="34" charset="0"/>
              </a:rPr>
              <a:t>5. The CPU proxy polls for the completion event, updates FIFO</a:t>
            </a:r>
          </a:p>
        </p:txBody>
      </p:sp>
      <p:sp>
        <p:nvSpPr>
          <p:cNvPr id="606" name="TextBox 605">
            <a:extLst>
              <a:ext uri="{FF2B5EF4-FFF2-40B4-BE49-F238E27FC236}">
                <a16:creationId xmlns:a16="http://schemas.microsoft.com/office/drawing/2014/main" id="{C260A6B3-1A1D-14F6-E7D3-BC2319CEE3E2}"/>
              </a:ext>
            </a:extLst>
          </p:cNvPr>
          <p:cNvSpPr txBox="1"/>
          <p:nvPr/>
        </p:nvSpPr>
        <p:spPr>
          <a:xfrm>
            <a:off x="6898616" y="-4308067"/>
            <a:ext cx="16107803" cy="913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sz="5333" dirty="0">
                <a:latin typeface="Calibri" panose="020F0502020204030204" pitchFamily="34" charset="0"/>
                <a:cs typeface="Calibri" panose="020F0502020204030204" pitchFamily="34" charset="0"/>
              </a:rPr>
              <a:t>6. The sending GPU completes the data transfer </a:t>
            </a:r>
            <a:endParaRPr lang="en-US" sz="5333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2" name="TextBox 611">
            <a:extLst>
              <a:ext uri="{FF2B5EF4-FFF2-40B4-BE49-F238E27FC236}">
                <a16:creationId xmlns:a16="http://schemas.microsoft.com/office/drawing/2014/main" id="{3B6A843F-A7B1-78D0-FFB7-4C47820BC3CF}"/>
              </a:ext>
            </a:extLst>
          </p:cNvPr>
          <p:cNvSpPr txBox="1"/>
          <p:nvPr/>
        </p:nvSpPr>
        <p:spPr>
          <a:xfrm>
            <a:off x="10447764" y="1260533"/>
            <a:ext cx="22258200" cy="913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sz="5333" dirty="0">
                <a:latin typeface="Calibri" panose="020F0502020204030204" pitchFamily="34" charset="0"/>
                <a:cs typeface="Calibri" panose="020F0502020204030204" pitchFamily="34" charset="0"/>
              </a:rPr>
              <a:t>7. The receiving GPU transfers the data from the FIFO to its destination buffer</a:t>
            </a:r>
            <a:endParaRPr lang="en-US" sz="5333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4" name="Google Shape;399;p54">
            <a:extLst>
              <a:ext uri="{FF2B5EF4-FFF2-40B4-BE49-F238E27FC236}">
                <a16:creationId xmlns:a16="http://schemas.microsoft.com/office/drawing/2014/main" id="{4431BDF0-9FD6-8A86-4A9E-BE31C692BDF5}"/>
              </a:ext>
            </a:extLst>
          </p:cNvPr>
          <p:cNvSpPr txBox="1">
            <a:spLocks/>
          </p:cNvSpPr>
          <p:nvPr/>
        </p:nvSpPr>
        <p:spPr>
          <a:xfrm>
            <a:off x="7069808" y="428847"/>
            <a:ext cx="22949605" cy="1387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67" tIns="91400" rIns="182867" bIns="914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2B50"/>
              </a:buClr>
              <a:buSzPts val="1400"/>
              <a:buFont typeface="Calibri"/>
              <a:buNone/>
              <a:defRPr sz="3300" b="0" i="0" u="none" strike="noStrike" cap="none">
                <a:solidFill>
                  <a:srgbClr val="0B2B5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3300"/>
            </a:pPr>
            <a:r>
              <a:rPr lang="en-US" sz="8800" dirty="0">
                <a:solidFill>
                  <a:srgbClr val="002060"/>
                </a:solidFill>
              </a:rPr>
              <a:t>What Does Comm. In NCCL Look Like?</a:t>
            </a:r>
          </a:p>
        </p:txBody>
      </p:sp>
      <p:sp>
        <p:nvSpPr>
          <p:cNvPr id="2" name="Title 600">
            <a:extLst>
              <a:ext uri="{FF2B5EF4-FFF2-40B4-BE49-F238E27FC236}">
                <a16:creationId xmlns:a16="http://schemas.microsoft.com/office/drawing/2014/main" id="{E128B07E-A6CB-3255-4A94-3DDFD8273A23}"/>
              </a:ext>
            </a:extLst>
          </p:cNvPr>
          <p:cNvSpPr txBox="1">
            <a:spLocks/>
          </p:cNvSpPr>
          <p:nvPr/>
        </p:nvSpPr>
        <p:spPr>
          <a:xfrm>
            <a:off x="9885805" y="-5968613"/>
            <a:ext cx="14666923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67" tIns="91400" rIns="182867" bIns="914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2B50"/>
              </a:buClr>
              <a:buSzPts val="1400"/>
              <a:buFont typeface="Calibri"/>
              <a:buNone/>
              <a:defRPr sz="3300" b="0" i="0" u="none" strike="noStrike" cap="none">
                <a:solidFill>
                  <a:srgbClr val="0B2B5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333" dirty="0">
                <a:solidFill>
                  <a:schemeClr val="tx1"/>
                </a:solidFill>
              </a:rPr>
              <a:t>Usually, we call this Proxy-initiated GDR in CCLs</a:t>
            </a:r>
          </a:p>
        </p:txBody>
      </p:sp>
      <p:pic>
        <p:nvPicPr>
          <p:cNvPr id="596" name="Picture 595">
            <a:extLst>
              <a:ext uri="{FF2B5EF4-FFF2-40B4-BE49-F238E27FC236}">
                <a16:creationId xmlns:a16="http://schemas.microsoft.com/office/drawing/2014/main" id="{5F1ACF07-B068-4290-F96F-05FF3A966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0090" y="1873277"/>
            <a:ext cx="7406301" cy="907821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8D2B449-BA19-B1CD-F09A-999D0A2AD055}"/>
              </a:ext>
            </a:extLst>
          </p:cNvPr>
          <p:cNvSpPr/>
          <p:nvPr/>
        </p:nvSpPr>
        <p:spPr>
          <a:xfrm>
            <a:off x="10868144" y="6670485"/>
            <a:ext cx="315725" cy="13742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92" name="Group 591">
            <a:extLst>
              <a:ext uri="{FF2B5EF4-FFF2-40B4-BE49-F238E27FC236}">
                <a16:creationId xmlns:a16="http://schemas.microsoft.com/office/drawing/2014/main" id="{CD83C123-24B6-FF66-A9BB-F2B4B27312A6}"/>
              </a:ext>
            </a:extLst>
          </p:cNvPr>
          <p:cNvGrpSpPr/>
          <p:nvPr/>
        </p:nvGrpSpPr>
        <p:grpSpPr>
          <a:xfrm rot="16200000">
            <a:off x="11364155" y="6012627"/>
            <a:ext cx="330702" cy="204232"/>
            <a:chOff x="11902457" y="13729729"/>
            <a:chExt cx="2578121" cy="1423884"/>
          </a:xfrm>
        </p:grpSpPr>
        <p:cxnSp>
          <p:nvCxnSpPr>
            <p:cNvPr id="597" name="Straight Connector 596">
              <a:extLst>
                <a:ext uri="{FF2B5EF4-FFF2-40B4-BE49-F238E27FC236}">
                  <a16:creationId xmlns:a16="http://schemas.microsoft.com/office/drawing/2014/main" id="{7EA223CE-F467-670D-B5B1-C51AFD250F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02457" y="14448445"/>
              <a:ext cx="2454976" cy="705168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  <a:prstDash val="solid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9" name="Freeform 598">
              <a:extLst>
                <a:ext uri="{FF2B5EF4-FFF2-40B4-BE49-F238E27FC236}">
                  <a16:creationId xmlns:a16="http://schemas.microsoft.com/office/drawing/2014/main" id="{0005249C-A2FA-90C2-BF45-8DA063CDEDBD}"/>
                </a:ext>
              </a:extLst>
            </p:cNvPr>
            <p:cNvSpPr/>
            <p:nvPr/>
          </p:nvSpPr>
          <p:spPr>
            <a:xfrm>
              <a:off x="11919012" y="13729729"/>
              <a:ext cx="2561566" cy="765299"/>
            </a:xfrm>
            <a:custGeom>
              <a:avLst/>
              <a:gdLst>
                <a:gd name="connsiteX0" fmla="*/ 0 w 2561563"/>
                <a:gd name="connsiteY0" fmla="*/ 0 h 492980"/>
                <a:gd name="connsiteX1" fmla="*/ 1280160 w 2561563"/>
                <a:gd name="connsiteY1" fmla="*/ 55659 h 492980"/>
                <a:gd name="connsiteX2" fmla="*/ 2210463 w 2561563"/>
                <a:gd name="connsiteY2" fmla="*/ 166977 h 492980"/>
                <a:gd name="connsiteX3" fmla="*/ 2552369 w 2561563"/>
                <a:gd name="connsiteY3" fmla="*/ 286247 h 492980"/>
                <a:gd name="connsiteX4" fmla="*/ 2449002 w 2561563"/>
                <a:gd name="connsiteY4" fmla="*/ 437321 h 492980"/>
                <a:gd name="connsiteX5" fmla="*/ 2289976 w 2561563"/>
                <a:gd name="connsiteY5" fmla="*/ 492980 h 492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61563" h="492980">
                  <a:moveTo>
                    <a:pt x="0" y="0"/>
                  </a:moveTo>
                  <a:cubicBezTo>
                    <a:pt x="455875" y="13915"/>
                    <a:pt x="911750" y="27830"/>
                    <a:pt x="1280160" y="55659"/>
                  </a:cubicBezTo>
                  <a:cubicBezTo>
                    <a:pt x="1648571" y="83489"/>
                    <a:pt x="1998428" y="128546"/>
                    <a:pt x="2210463" y="166977"/>
                  </a:cubicBezTo>
                  <a:cubicBezTo>
                    <a:pt x="2422498" y="205408"/>
                    <a:pt x="2512612" y="241190"/>
                    <a:pt x="2552369" y="286247"/>
                  </a:cubicBezTo>
                  <a:cubicBezTo>
                    <a:pt x="2592126" y="331304"/>
                    <a:pt x="2492734" y="402866"/>
                    <a:pt x="2449002" y="437321"/>
                  </a:cubicBezTo>
                  <a:cubicBezTo>
                    <a:pt x="2405270" y="471776"/>
                    <a:pt x="2319131" y="459850"/>
                    <a:pt x="2289976" y="492980"/>
                  </a:cubicBezTo>
                </a:path>
              </a:pathLst>
            </a:custGeom>
            <a:noFill/>
            <a:ln w="12700">
              <a:solidFill>
                <a:schemeClr val="accent6">
                  <a:lumMod val="60000"/>
                  <a:lumOff val="40000"/>
                </a:schemeClr>
              </a:solidFill>
              <a:prstDash val="sysDash"/>
              <a:tailEnd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601" name="Rectangle 600">
            <a:extLst>
              <a:ext uri="{FF2B5EF4-FFF2-40B4-BE49-F238E27FC236}">
                <a16:creationId xmlns:a16="http://schemas.microsoft.com/office/drawing/2014/main" id="{D77EEE42-0DDF-DC38-B4A5-668A634E41B6}"/>
              </a:ext>
            </a:extLst>
          </p:cNvPr>
          <p:cNvSpPr/>
          <p:nvPr/>
        </p:nvSpPr>
        <p:spPr>
          <a:xfrm>
            <a:off x="10606507" y="5392193"/>
            <a:ext cx="549544" cy="224379"/>
          </a:xfrm>
          <a:prstGeom prst="rect">
            <a:avLst/>
          </a:prstGeom>
          <a:pattFill prst="wdUpDiag">
            <a:fgClr>
              <a:srgbClr val="00B0F0"/>
            </a:fgClr>
            <a:bgClr>
              <a:schemeClr val="bg1"/>
            </a:bgClr>
          </a:patt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3" name="5-Point Star 602">
            <a:extLst>
              <a:ext uri="{FF2B5EF4-FFF2-40B4-BE49-F238E27FC236}">
                <a16:creationId xmlns:a16="http://schemas.microsoft.com/office/drawing/2014/main" id="{8E98EEB6-401B-5975-26A3-2620BCB91A04}"/>
              </a:ext>
            </a:extLst>
          </p:cNvPr>
          <p:cNvSpPr>
            <a:spLocks noChangeAspect="1"/>
          </p:cNvSpPr>
          <p:nvPr/>
        </p:nvSpPr>
        <p:spPr>
          <a:xfrm>
            <a:off x="10457372" y="5169988"/>
            <a:ext cx="305602" cy="299172"/>
          </a:xfrm>
          <a:prstGeom prst="star5">
            <a:avLst/>
          </a:prstGeom>
          <a:pattFill prst="wdUpDiag">
            <a:fgClr>
              <a:srgbClr val="00B0F0"/>
            </a:fgClr>
            <a:bgClr>
              <a:schemeClr val="bg1"/>
            </a:bgClr>
          </a:patt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5" name="Rectangle 604">
            <a:extLst>
              <a:ext uri="{FF2B5EF4-FFF2-40B4-BE49-F238E27FC236}">
                <a16:creationId xmlns:a16="http://schemas.microsoft.com/office/drawing/2014/main" id="{3BFA701A-9D81-64A3-B7C4-57E31AB8A7F8}"/>
              </a:ext>
            </a:extLst>
          </p:cNvPr>
          <p:cNvSpPr/>
          <p:nvPr/>
        </p:nvSpPr>
        <p:spPr>
          <a:xfrm>
            <a:off x="12312943" y="7825198"/>
            <a:ext cx="259022" cy="224379"/>
          </a:xfrm>
          <a:prstGeom prst="rect">
            <a:avLst/>
          </a:prstGeom>
          <a:pattFill prst="openDmnd">
            <a:fgClr>
              <a:srgbClr val="00B0F0"/>
            </a:fgClr>
            <a:bgClr>
              <a:schemeClr val="bg1"/>
            </a:bgClr>
          </a:patt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7" name="Freeform 606">
            <a:extLst>
              <a:ext uri="{FF2B5EF4-FFF2-40B4-BE49-F238E27FC236}">
                <a16:creationId xmlns:a16="http://schemas.microsoft.com/office/drawing/2014/main" id="{3751DB9D-3FB5-7351-E6CE-519D8A06A8DF}"/>
              </a:ext>
            </a:extLst>
          </p:cNvPr>
          <p:cNvSpPr/>
          <p:nvPr/>
        </p:nvSpPr>
        <p:spPr>
          <a:xfrm>
            <a:off x="12312945" y="7181491"/>
            <a:ext cx="172042" cy="630859"/>
          </a:xfrm>
          <a:custGeom>
            <a:avLst/>
            <a:gdLst>
              <a:gd name="connsiteX0" fmla="*/ 0 w 449865"/>
              <a:gd name="connsiteY0" fmla="*/ 600606 h 600606"/>
              <a:gd name="connsiteX1" fmla="*/ 48898 w 449865"/>
              <a:gd name="connsiteY1" fmla="*/ 307216 h 600606"/>
              <a:gd name="connsiteX2" fmla="*/ 161365 w 449865"/>
              <a:gd name="connsiteY2" fmla="*/ 48054 h 600606"/>
              <a:gd name="connsiteX3" fmla="*/ 244492 w 449865"/>
              <a:gd name="connsiteY3" fmla="*/ 4045 h 600606"/>
              <a:gd name="connsiteX4" fmla="*/ 322729 w 449865"/>
              <a:gd name="connsiteY4" fmla="*/ 101842 h 600606"/>
              <a:gd name="connsiteX5" fmla="*/ 410747 w 449865"/>
              <a:gd name="connsiteY5" fmla="*/ 307216 h 600606"/>
              <a:gd name="connsiteX6" fmla="*/ 449865 w 449865"/>
              <a:gd name="connsiteY6" fmla="*/ 600606 h 60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9865" h="600606">
                <a:moveTo>
                  <a:pt x="0" y="600606"/>
                </a:moveTo>
                <a:cubicBezTo>
                  <a:pt x="11002" y="499957"/>
                  <a:pt x="22004" y="399308"/>
                  <a:pt x="48898" y="307216"/>
                </a:cubicBezTo>
                <a:cubicBezTo>
                  <a:pt x="75792" y="215124"/>
                  <a:pt x="128766" y="98583"/>
                  <a:pt x="161365" y="48054"/>
                </a:cubicBezTo>
                <a:cubicBezTo>
                  <a:pt x="193964" y="-2475"/>
                  <a:pt x="217598" y="-4920"/>
                  <a:pt x="244492" y="4045"/>
                </a:cubicBezTo>
                <a:cubicBezTo>
                  <a:pt x="271386" y="13010"/>
                  <a:pt x="295020" y="51314"/>
                  <a:pt x="322729" y="101842"/>
                </a:cubicBezTo>
                <a:cubicBezTo>
                  <a:pt x="350438" y="152370"/>
                  <a:pt x="389558" y="224089"/>
                  <a:pt x="410747" y="307216"/>
                </a:cubicBezTo>
                <a:cubicBezTo>
                  <a:pt x="431936" y="390343"/>
                  <a:pt x="440085" y="464505"/>
                  <a:pt x="449865" y="600606"/>
                </a:cubicBezTo>
              </a:path>
            </a:pathLst>
          </a:custGeom>
          <a:noFill/>
          <a:ln w="12700">
            <a:solidFill>
              <a:srgbClr val="C00000"/>
            </a:solidFill>
            <a:prstDash val="sysDash"/>
            <a:headEnd w="lg" len="lg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08" name="Straight Connector 607">
            <a:extLst>
              <a:ext uri="{FF2B5EF4-FFF2-40B4-BE49-F238E27FC236}">
                <a16:creationId xmlns:a16="http://schemas.microsoft.com/office/drawing/2014/main" id="{DA6BF96C-DB83-E357-37FE-B272495C1BD1}"/>
              </a:ext>
            </a:extLst>
          </p:cNvPr>
          <p:cNvCxnSpPr>
            <a:cxnSpLocks/>
          </p:cNvCxnSpPr>
          <p:nvPr/>
        </p:nvCxnSpPr>
        <p:spPr>
          <a:xfrm>
            <a:off x="12292083" y="7181489"/>
            <a:ext cx="110640" cy="314131"/>
          </a:xfrm>
          <a:prstGeom prst="line">
            <a:avLst/>
          </a:prstGeom>
          <a:ln w="12700">
            <a:solidFill>
              <a:schemeClr val="accent6">
                <a:lumMod val="60000"/>
                <a:lumOff val="40000"/>
              </a:schemeClr>
            </a:solidFill>
            <a:prstDash val="solid"/>
            <a:headEnd type="none" w="lg" len="lg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1" name="Rectangle 610">
            <a:extLst>
              <a:ext uri="{FF2B5EF4-FFF2-40B4-BE49-F238E27FC236}">
                <a16:creationId xmlns:a16="http://schemas.microsoft.com/office/drawing/2014/main" id="{73199E12-78AA-08B2-7B9F-BF41855227F8}"/>
              </a:ext>
            </a:extLst>
          </p:cNvPr>
          <p:cNvSpPr/>
          <p:nvPr/>
        </p:nvSpPr>
        <p:spPr>
          <a:xfrm>
            <a:off x="12571681" y="7825198"/>
            <a:ext cx="899724" cy="224379"/>
          </a:xfrm>
          <a:prstGeom prst="rect">
            <a:avLst/>
          </a:prstGeom>
          <a:pattFill prst="solidDmnd">
            <a:fgClr>
              <a:srgbClr val="00B0F0"/>
            </a:fgClr>
            <a:bgClr>
              <a:schemeClr val="bg1"/>
            </a:bgClr>
          </a:patt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13" name="Straight Connector 612">
            <a:extLst>
              <a:ext uri="{FF2B5EF4-FFF2-40B4-BE49-F238E27FC236}">
                <a16:creationId xmlns:a16="http://schemas.microsoft.com/office/drawing/2014/main" id="{1732D2AD-BF47-37B9-4481-D5691DF1C469}"/>
              </a:ext>
            </a:extLst>
          </p:cNvPr>
          <p:cNvCxnSpPr>
            <a:cxnSpLocks/>
            <a:stCxn id="611" idx="1"/>
          </p:cNvCxnSpPr>
          <p:nvPr/>
        </p:nvCxnSpPr>
        <p:spPr>
          <a:xfrm flipV="1">
            <a:off x="12571681" y="7660537"/>
            <a:ext cx="96397" cy="27685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4" name="Rectangle 613">
            <a:extLst>
              <a:ext uri="{FF2B5EF4-FFF2-40B4-BE49-F238E27FC236}">
                <a16:creationId xmlns:a16="http://schemas.microsoft.com/office/drawing/2014/main" id="{282EF10F-2E5B-09C8-1785-1AE13138F543}"/>
              </a:ext>
            </a:extLst>
          </p:cNvPr>
          <p:cNvSpPr/>
          <p:nvPr/>
        </p:nvSpPr>
        <p:spPr>
          <a:xfrm>
            <a:off x="12665111" y="5398665"/>
            <a:ext cx="719726" cy="224379"/>
          </a:xfrm>
          <a:prstGeom prst="rect">
            <a:avLst/>
          </a:prstGeom>
          <a:pattFill prst="lgConfetti">
            <a:fgClr>
              <a:srgbClr val="00B0F0"/>
            </a:fgClr>
            <a:bgClr>
              <a:schemeClr val="bg1"/>
            </a:bgClr>
          </a:patt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5" name="Freeform 614">
            <a:extLst>
              <a:ext uri="{FF2B5EF4-FFF2-40B4-BE49-F238E27FC236}">
                <a16:creationId xmlns:a16="http://schemas.microsoft.com/office/drawing/2014/main" id="{50E7F49C-506F-D3EA-ED52-8080681CF776}"/>
              </a:ext>
            </a:extLst>
          </p:cNvPr>
          <p:cNvSpPr/>
          <p:nvPr/>
        </p:nvSpPr>
        <p:spPr>
          <a:xfrm rot="10800000" flipH="1">
            <a:off x="12524378" y="5626394"/>
            <a:ext cx="140729" cy="658953"/>
          </a:xfrm>
          <a:custGeom>
            <a:avLst/>
            <a:gdLst>
              <a:gd name="connsiteX0" fmla="*/ 0 w 449865"/>
              <a:gd name="connsiteY0" fmla="*/ 600606 h 600606"/>
              <a:gd name="connsiteX1" fmla="*/ 48898 w 449865"/>
              <a:gd name="connsiteY1" fmla="*/ 307216 h 600606"/>
              <a:gd name="connsiteX2" fmla="*/ 161365 w 449865"/>
              <a:gd name="connsiteY2" fmla="*/ 48054 h 600606"/>
              <a:gd name="connsiteX3" fmla="*/ 244492 w 449865"/>
              <a:gd name="connsiteY3" fmla="*/ 4045 h 600606"/>
              <a:gd name="connsiteX4" fmla="*/ 322729 w 449865"/>
              <a:gd name="connsiteY4" fmla="*/ 101842 h 600606"/>
              <a:gd name="connsiteX5" fmla="*/ 410747 w 449865"/>
              <a:gd name="connsiteY5" fmla="*/ 307216 h 600606"/>
              <a:gd name="connsiteX6" fmla="*/ 449865 w 449865"/>
              <a:gd name="connsiteY6" fmla="*/ 600606 h 60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9865" h="600606">
                <a:moveTo>
                  <a:pt x="0" y="600606"/>
                </a:moveTo>
                <a:cubicBezTo>
                  <a:pt x="11002" y="499957"/>
                  <a:pt x="22004" y="399308"/>
                  <a:pt x="48898" y="307216"/>
                </a:cubicBezTo>
                <a:cubicBezTo>
                  <a:pt x="75792" y="215124"/>
                  <a:pt x="128766" y="98583"/>
                  <a:pt x="161365" y="48054"/>
                </a:cubicBezTo>
                <a:cubicBezTo>
                  <a:pt x="193964" y="-2475"/>
                  <a:pt x="217598" y="-4920"/>
                  <a:pt x="244492" y="4045"/>
                </a:cubicBezTo>
                <a:cubicBezTo>
                  <a:pt x="271386" y="13010"/>
                  <a:pt x="295020" y="51314"/>
                  <a:pt x="322729" y="101842"/>
                </a:cubicBezTo>
                <a:cubicBezTo>
                  <a:pt x="350438" y="152370"/>
                  <a:pt x="389558" y="224089"/>
                  <a:pt x="410747" y="307216"/>
                </a:cubicBezTo>
                <a:cubicBezTo>
                  <a:pt x="431936" y="390343"/>
                  <a:pt x="440085" y="464505"/>
                  <a:pt x="449865" y="600606"/>
                </a:cubicBezTo>
              </a:path>
            </a:pathLst>
          </a:custGeom>
          <a:noFill/>
          <a:ln w="12700">
            <a:solidFill>
              <a:srgbClr val="C00000"/>
            </a:solidFill>
            <a:prstDash val="sysDash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6" name="Diamond 615">
            <a:extLst>
              <a:ext uri="{FF2B5EF4-FFF2-40B4-BE49-F238E27FC236}">
                <a16:creationId xmlns:a16="http://schemas.microsoft.com/office/drawing/2014/main" id="{C0174A8B-88E4-583D-3E67-CD400FCED125}"/>
              </a:ext>
            </a:extLst>
          </p:cNvPr>
          <p:cNvSpPr/>
          <p:nvPr/>
        </p:nvSpPr>
        <p:spPr>
          <a:xfrm>
            <a:off x="12805840" y="5772582"/>
            <a:ext cx="316115" cy="299172"/>
          </a:xfrm>
          <a:prstGeom prst="diamond">
            <a:avLst/>
          </a:prstGeom>
          <a:pattFill prst="dkVert">
            <a:fgClr>
              <a:srgbClr val="C00000"/>
            </a:fgClr>
            <a:bgClr>
              <a:schemeClr val="bg1"/>
            </a:bgClr>
          </a:patt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17" name="Straight Connector 616">
            <a:extLst>
              <a:ext uri="{FF2B5EF4-FFF2-40B4-BE49-F238E27FC236}">
                <a16:creationId xmlns:a16="http://schemas.microsoft.com/office/drawing/2014/main" id="{51766685-D2DF-A4F0-77F5-2591A00AE953}"/>
              </a:ext>
            </a:extLst>
          </p:cNvPr>
          <p:cNvCxnSpPr>
            <a:cxnSpLocks/>
            <a:stCxn id="615" idx="6"/>
            <a:endCxn id="616" idx="1"/>
          </p:cNvCxnSpPr>
          <p:nvPr/>
        </p:nvCxnSpPr>
        <p:spPr>
          <a:xfrm>
            <a:off x="12665107" y="5626394"/>
            <a:ext cx="140733" cy="295774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8" name="Diamond 617">
            <a:extLst>
              <a:ext uri="{FF2B5EF4-FFF2-40B4-BE49-F238E27FC236}">
                <a16:creationId xmlns:a16="http://schemas.microsoft.com/office/drawing/2014/main" id="{A0CC7737-FC50-CCAD-57FB-34075716307B}"/>
              </a:ext>
            </a:extLst>
          </p:cNvPr>
          <p:cNvSpPr/>
          <p:nvPr/>
        </p:nvSpPr>
        <p:spPr>
          <a:xfrm>
            <a:off x="13229457" y="5523442"/>
            <a:ext cx="316115" cy="299172"/>
          </a:xfrm>
          <a:prstGeom prst="diamond">
            <a:avLst/>
          </a:prstGeom>
          <a:pattFill prst="wdUpDiag">
            <a:fgClr>
              <a:srgbClr val="00B0F0"/>
            </a:fgClr>
            <a:bgClr>
              <a:schemeClr val="bg1"/>
            </a:bgClr>
          </a:patt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9" name="Rectangle 618">
            <a:extLst>
              <a:ext uri="{FF2B5EF4-FFF2-40B4-BE49-F238E27FC236}">
                <a16:creationId xmlns:a16="http://schemas.microsoft.com/office/drawing/2014/main" id="{5BE83B0C-E5D8-6B50-2F91-230A4E4C6FE8}"/>
              </a:ext>
            </a:extLst>
          </p:cNvPr>
          <p:cNvSpPr/>
          <p:nvPr/>
        </p:nvSpPr>
        <p:spPr>
          <a:xfrm>
            <a:off x="13471405" y="7825422"/>
            <a:ext cx="371451" cy="224379"/>
          </a:xfrm>
          <a:prstGeom prst="rect">
            <a:avLst/>
          </a:prstGeom>
          <a:pattFill prst="lgConfetti">
            <a:fgClr>
              <a:srgbClr val="00B0F0"/>
            </a:fgClr>
            <a:bgClr>
              <a:schemeClr val="bg1"/>
            </a:bgClr>
          </a:patt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0" name="Diamond 619">
            <a:extLst>
              <a:ext uri="{FF2B5EF4-FFF2-40B4-BE49-F238E27FC236}">
                <a16:creationId xmlns:a16="http://schemas.microsoft.com/office/drawing/2014/main" id="{DD6FC0FC-249D-7326-288D-E977E3E6CBFB}"/>
              </a:ext>
            </a:extLst>
          </p:cNvPr>
          <p:cNvSpPr/>
          <p:nvPr/>
        </p:nvSpPr>
        <p:spPr>
          <a:xfrm>
            <a:off x="13684082" y="7975393"/>
            <a:ext cx="316115" cy="299172"/>
          </a:xfrm>
          <a:prstGeom prst="diamond">
            <a:avLst/>
          </a:prstGeom>
          <a:pattFill prst="wdUpDiag">
            <a:fgClr>
              <a:srgbClr val="00B0F0"/>
            </a:fgClr>
            <a:bgClr>
              <a:schemeClr val="bg1"/>
            </a:bgClr>
          </a:patt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1" name="Rectangle 620">
            <a:extLst>
              <a:ext uri="{FF2B5EF4-FFF2-40B4-BE49-F238E27FC236}">
                <a16:creationId xmlns:a16="http://schemas.microsoft.com/office/drawing/2014/main" id="{61307B56-C051-604B-E0D2-7336A78CC7FC}"/>
              </a:ext>
            </a:extLst>
          </p:cNvPr>
          <p:cNvSpPr/>
          <p:nvPr/>
        </p:nvSpPr>
        <p:spPr>
          <a:xfrm>
            <a:off x="11949269" y="6295641"/>
            <a:ext cx="158058" cy="224379"/>
          </a:xfrm>
          <a:prstGeom prst="rect">
            <a:avLst/>
          </a:prstGeom>
          <a:pattFill prst="sphere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63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2" name="Diamond 621">
            <a:extLst>
              <a:ext uri="{FF2B5EF4-FFF2-40B4-BE49-F238E27FC236}">
                <a16:creationId xmlns:a16="http://schemas.microsoft.com/office/drawing/2014/main" id="{FCA2CA9A-B964-E4FC-D48E-C20290AD15DD}"/>
              </a:ext>
            </a:extLst>
          </p:cNvPr>
          <p:cNvSpPr/>
          <p:nvPr/>
        </p:nvSpPr>
        <p:spPr>
          <a:xfrm>
            <a:off x="13472164" y="7386584"/>
            <a:ext cx="316115" cy="299172"/>
          </a:xfrm>
          <a:prstGeom prst="diamond">
            <a:avLst/>
          </a:prstGeom>
          <a:pattFill prst="dkVert">
            <a:fgClr>
              <a:srgbClr val="C00000"/>
            </a:fgClr>
            <a:bgClr>
              <a:schemeClr val="bg1"/>
            </a:bgClr>
          </a:patt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623" name="Group 622">
            <a:extLst>
              <a:ext uri="{FF2B5EF4-FFF2-40B4-BE49-F238E27FC236}">
                <a16:creationId xmlns:a16="http://schemas.microsoft.com/office/drawing/2014/main" id="{3970BB44-9643-3C4D-A672-06D9C69C12E6}"/>
              </a:ext>
            </a:extLst>
          </p:cNvPr>
          <p:cNvGrpSpPr/>
          <p:nvPr/>
        </p:nvGrpSpPr>
        <p:grpSpPr>
          <a:xfrm>
            <a:off x="8522372" y="5342146"/>
            <a:ext cx="5673539" cy="2840827"/>
            <a:chOff x="1735230" y="1191619"/>
            <a:chExt cx="5673539" cy="2840827"/>
          </a:xfrm>
        </p:grpSpPr>
        <p:cxnSp>
          <p:nvCxnSpPr>
            <p:cNvPr id="624" name="Straight Connector 623">
              <a:extLst>
                <a:ext uri="{FF2B5EF4-FFF2-40B4-BE49-F238E27FC236}">
                  <a16:creationId xmlns:a16="http://schemas.microsoft.com/office/drawing/2014/main" id="{0EB2BBAC-51BC-F774-42F9-A80F261CD021}"/>
                </a:ext>
              </a:extLst>
            </p:cNvPr>
            <p:cNvCxnSpPr>
              <a:cxnSpLocks/>
            </p:cNvCxnSpPr>
            <p:nvPr/>
          </p:nvCxnSpPr>
          <p:spPr>
            <a:xfrm>
              <a:off x="2667038" y="3787551"/>
              <a:ext cx="4741731" cy="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5" name="Straight Connector 624">
              <a:extLst>
                <a:ext uri="{FF2B5EF4-FFF2-40B4-BE49-F238E27FC236}">
                  <a16:creationId xmlns:a16="http://schemas.microsoft.com/office/drawing/2014/main" id="{03F16EBD-B785-F6E0-3CED-C10FC624EA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038" y="1353370"/>
              <a:ext cx="4741731" cy="581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6" name="Rectangle 625">
              <a:extLst>
                <a:ext uri="{FF2B5EF4-FFF2-40B4-BE49-F238E27FC236}">
                  <a16:creationId xmlns:a16="http://schemas.microsoft.com/office/drawing/2014/main" id="{13CB8C9B-60A0-0EB9-3AA2-F94F95C06436}"/>
                </a:ext>
              </a:extLst>
            </p:cNvPr>
            <p:cNvSpPr/>
            <p:nvPr/>
          </p:nvSpPr>
          <p:spPr>
            <a:xfrm>
              <a:off x="3009883" y="1242101"/>
              <a:ext cx="474173" cy="224379"/>
            </a:xfrm>
            <a:prstGeom prst="rect">
              <a:avLst/>
            </a:prstGeom>
            <a:pattFill prst="dkHorz">
              <a:fgClr>
                <a:srgbClr val="00B0F0"/>
              </a:fgClr>
              <a:bgClr>
                <a:schemeClr val="bg1"/>
              </a:bgClr>
            </a:patt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27" name="Rectangle 626">
              <a:extLst>
                <a:ext uri="{FF2B5EF4-FFF2-40B4-BE49-F238E27FC236}">
                  <a16:creationId xmlns:a16="http://schemas.microsoft.com/office/drawing/2014/main" id="{D533151C-A313-9C7D-BE49-F9FAF99CB0CD}"/>
                </a:ext>
              </a:extLst>
            </p:cNvPr>
            <p:cNvSpPr/>
            <p:nvPr/>
          </p:nvSpPr>
          <p:spPr>
            <a:xfrm>
              <a:off x="3484060" y="1241666"/>
              <a:ext cx="338808" cy="224379"/>
            </a:xfrm>
            <a:prstGeom prst="rect">
              <a:avLst/>
            </a:prstGeom>
            <a:pattFill prst="wdDnDiag">
              <a:fgClr>
                <a:srgbClr val="00B0F0"/>
              </a:fgClr>
              <a:bgClr>
                <a:schemeClr val="bg1"/>
              </a:bgClr>
            </a:patt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28" name="5-Point Star 627">
              <a:extLst>
                <a:ext uri="{FF2B5EF4-FFF2-40B4-BE49-F238E27FC236}">
                  <a16:creationId xmlns:a16="http://schemas.microsoft.com/office/drawing/2014/main" id="{CED8308A-B95A-426C-F2BD-9D9682B45B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56112" y="3176033"/>
              <a:ext cx="305602" cy="299172"/>
            </a:xfrm>
            <a:prstGeom prst="star5">
              <a:avLst/>
            </a:prstGeom>
            <a:pattFill prst="dkVert">
              <a:fgClr>
                <a:srgbClr val="C00000"/>
              </a:fgClr>
              <a:bgClr>
                <a:schemeClr val="bg1"/>
              </a:bgClr>
            </a:patt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629" name="Straight Connector 628">
              <a:extLst>
                <a:ext uri="{FF2B5EF4-FFF2-40B4-BE49-F238E27FC236}">
                  <a16:creationId xmlns:a16="http://schemas.microsoft.com/office/drawing/2014/main" id="{2F9A6A76-9C78-A9D2-5E54-57017FCBF9E2}"/>
                </a:ext>
              </a:extLst>
            </p:cNvPr>
            <p:cNvCxnSpPr>
              <a:cxnSpLocks/>
            </p:cNvCxnSpPr>
            <p:nvPr/>
          </p:nvCxnSpPr>
          <p:spPr>
            <a:xfrm>
              <a:off x="2667038" y="1753535"/>
              <a:ext cx="4741731" cy="0"/>
            </a:xfrm>
            <a:prstGeom prst="line">
              <a:avLst/>
            </a:prstGeom>
            <a:ln w="1905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0" name="TextBox 629">
              <a:extLst>
                <a:ext uri="{FF2B5EF4-FFF2-40B4-BE49-F238E27FC236}">
                  <a16:creationId xmlns:a16="http://schemas.microsoft.com/office/drawing/2014/main" id="{8B52EE88-2E4E-6ADD-E258-CBD99F7BC53E}"/>
                </a:ext>
              </a:extLst>
            </p:cNvPr>
            <p:cNvSpPr txBox="1"/>
            <p:nvPr/>
          </p:nvSpPr>
          <p:spPr>
            <a:xfrm>
              <a:off x="1738336" y="1191619"/>
              <a:ext cx="807513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000">
                  <a:latin typeface="Calibri" panose="020F0502020204030204" pitchFamily="34" charset="0"/>
                  <a:cs typeface="Calibri" panose="020F0502020204030204" pitchFamily="34" charset="0"/>
                </a:rPr>
                <a:t>CPU</a:t>
              </a:r>
              <a:endParaRPr lang="en-US" sz="2000" baseline="-25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631" name="Straight Connector 630">
              <a:extLst>
                <a:ext uri="{FF2B5EF4-FFF2-40B4-BE49-F238E27FC236}">
                  <a16:creationId xmlns:a16="http://schemas.microsoft.com/office/drawing/2014/main" id="{C9F0D69B-168D-8E6E-2A66-2C79F559A5CD}"/>
                </a:ext>
              </a:extLst>
            </p:cNvPr>
            <p:cNvCxnSpPr>
              <a:cxnSpLocks/>
            </p:cNvCxnSpPr>
            <p:nvPr/>
          </p:nvCxnSpPr>
          <p:spPr>
            <a:xfrm>
              <a:off x="2667038" y="2161710"/>
              <a:ext cx="4741731" cy="0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2" name="TextBox 631">
              <a:extLst>
                <a:ext uri="{FF2B5EF4-FFF2-40B4-BE49-F238E27FC236}">
                  <a16:creationId xmlns:a16="http://schemas.microsoft.com/office/drawing/2014/main" id="{97DD7656-9D62-4590-75E0-3E30AA9E4BD0}"/>
                </a:ext>
              </a:extLst>
            </p:cNvPr>
            <p:cNvSpPr txBox="1"/>
            <p:nvPr/>
          </p:nvSpPr>
          <p:spPr>
            <a:xfrm>
              <a:off x="1792948" y="1998002"/>
              <a:ext cx="698290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000">
                  <a:latin typeface="Calibri" panose="020F0502020204030204" pitchFamily="34" charset="0"/>
                  <a:cs typeface="Calibri" panose="020F0502020204030204" pitchFamily="34" charset="0"/>
                </a:rPr>
                <a:t>NIC</a:t>
              </a:r>
              <a:endParaRPr lang="en-US" sz="2000" baseline="-25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33" name="TextBox 632">
              <a:extLst>
                <a:ext uri="{FF2B5EF4-FFF2-40B4-BE49-F238E27FC236}">
                  <a16:creationId xmlns:a16="http://schemas.microsoft.com/office/drawing/2014/main" id="{CADA7031-DF5F-3235-A3DD-9AF37AA06D8A}"/>
                </a:ext>
              </a:extLst>
            </p:cNvPr>
            <p:cNvSpPr txBox="1"/>
            <p:nvPr/>
          </p:nvSpPr>
          <p:spPr>
            <a:xfrm>
              <a:off x="1735230" y="1576177"/>
              <a:ext cx="81372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000">
                  <a:latin typeface="Calibri" panose="020F0502020204030204" pitchFamily="34" charset="0"/>
                  <a:cs typeface="Calibri" panose="020F0502020204030204" pitchFamily="34" charset="0"/>
                </a:rPr>
                <a:t>GPU</a:t>
              </a:r>
              <a:endParaRPr lang="en-US" sz="2000" baseline="-25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634" name="Straight Connector 633">
              <a:extLst>
                <a:ext uri="{FF2B5EF4-FFF2-40B4-BE49-F238E27FC236}">
                  <a16:creationId xmlns:a16="http://schemas.microsoft.com/office/drawing/2014/main" id="{E548FFB1-EC63-7454-3F8A-F4A14ECA24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038" y="2979794"/>
              <a:ext cx="4741731" cy="581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5" name="TextBox 634">
              <a:extLst>
                <a:ext uri="{FF2B5EF4-FFF2-40B4-BE49-F238E27FC236}">
                  <a16:creationId xmlns:a16="http://schemas.microsoft.com/office/drawing/2014/main" id="{51A207E1-0543-210E-0614-F48BE282497F}"/>
                </a:ext>
              </a:extLst>
            </p:cNvPr>
            <p:cNvSpPr txBox="1"/>
            <p:nvPr/>
          </p:nvSpPr>
          <p:spPr>
            <a:xfrm>
              <a:off x="1792948" y="2794765"/>
              <a:ext cx="698290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000">
                  <a:latin typeface="Calibri" panose="020F0502020204030204" pitchFamily="34" charset="0"/>
                  <a:cs typeface="Calibri" panose="020F0502020204030204" pitchFamily="34" charset="0"/>
                </a:rPr>
                <a:t>NIC</a:t>
              </a:r>
              <a:endParaRPr lang="en-US" sz="2000" baseline="-25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36" name="TextBox 635">
              <a:extLst>
                <a:ext uri="{FF2B5EF4-FFF2-40B4-BE49-F238E27FC236}">
                  <a16:creationId xmlns:a16="http://schemas.microsoft.com/office/drawing/2014/main" id="{706FDCAB-7F53-C031-32C1-47A4319D5A1F}"/>
                </a:ext>
              </a:extLst>
            </p:cNvPr>
            <p:cNvSpPr txBox="1"/>
            <p:nvPr/>
          </p:nvSpPr>
          <p:spPr>
            <a:xfrm>
              <a:off x="1747465" y="3600786"/>
              <a:ext cx="789255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000">
                  <a:latin typeface="Calibri" panose="020F0502020204030204" pitchFamily="34" charset="0"/>
                  <a:cs typeface="Calibri" panose="020F0502020204030204" pitchFamily="34" charset="0"/>
                </a:rPr>
                <a:t>CPU</a:t>
              </a:r>
              <a:endParaRPr lang="en-US" sz="2000" baseline="-25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37" name="TextBox 636">
              <a:extLst>
                <a:ext uri="{FF2B5EF4-FFF2-40B4-BE49-F238E27FC236}">
                  <a16:creationId xmlns:a16="http://schemas.microsoft.com/office/drawing/2014/main" id="{B23C9785-D92E-D29D-30C8-4EA9943AD2C7}"/>
                </a:ext>
              </a:extLst>
            </p:cNvPr>
            <p:cNvSpPr txBox="1"/>
            <p:nvPr/>
          </p:nvSpPr>
          <p:spPr>
            <a:xfrm>
              <a:off x="1735232" y="3199420"/>
              <a:ext cx="813722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000">
                  <a:latin typeface="Calibri" panose="020F0502020204030204" pitchFamily="34" charset="0"/>
                  <a:cs typeface="Calibri" panose="020F0502020204030204" pitchFamily="34" charset="0"/>
                </a:rPr>
                <a:t>GPU</a:t>
              </a:r>
              <a:endParaRPr lang="en-US" sz="2000" baseline="-25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638" name="Straight Connector 637">
              <a:extLst>
                <a:ext uri="{FF2B5EF4-FFF2-40B4-BE49-F238E27FC236}">
                  <a16:creationId xmlns:a16="http://schemas.microsoft.com/office/drawing/2014/main" id="{8717464B-56D1-2881-A0F5-8916764D53DB}"/>
                </a:ext>
              </a:extLst>
            </p:cNvPr>
            <p:cNvCxnSpPr>
              <a:cxnSpLocks/>
            </p:cNvCxnSpPr>
            <p:nvPr/>
          </p:nvCxnSpPr>
          <p:spPr>
            <a:xfrm>
              <a:off x="2667038" y="3382772"/>
              <a:ext cx="4741731" cy="0"/>
            </a:xfrm>
            <a:prstGeom prst="line">
              <a:avLst/>
            </a:prstGeom>
            <a:ln w="1905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9" name="Rectangle 638">
              <a:extLst>
                <a:ext uri="{FF2B5EF4-FFF2-40B4-BE49-F238E27FC236}">
                  <a16:creationId xmlns:a16="http://schemas.microsoft.com/office/drawing/2014/main" id="{9B7BA514-D8C1-1FA3-4B03-BC799EBA297A}"/>
                </a:ext>
              </a:extLst>
            </p:cNvPr>
            <p:cNvSpPr/>
            <p:nvPr/>
          </p:nvSpPr>
          <p:spPr>
            <a:xfrm>
              <a:off x="3040639" y="3681251"/>
              <a:ext cx="474173" cy="223857"/>
            </a:xfrm>
            <a:prstGeom prst="rect">
              <a:avLst/>
            </a:prstGeom>
            <a:pattFill prst="dkHorz">
              <a:fgClr>
                <a:srgbClr val="00B0F0"/>
              </a:fgClr>
              <a:bgClr>
                <a:schemeClr val="bg1"/>
              </a:bgClr>
            </a:patt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40" name="Rectangle 639">
              <a:extLst>
                <a:ext uri="{FF2B5EF4-FFF2-40B4-BE49-F238E27FC236}">
                  <a16:creationId xmlns:a16="http://schemas.microsoft.com/office/drawing/2014/main" id="{EAA9CE66-EB3E-2C5D-508F-E63B608C86C7}"/>
                </a:ext>
              </a:extLst>
            </p:cNvPr>
            <p:cNvSpPr/>
            <p:nvPr/>
          </p:nvSpPr>
          <p:spPr>
            <a:xfrm>
              <a:off x="3437597" y="3680989"/>
              <a:ext cx="305602" cy="224379"/>
            </a:xfrm>
            <a:prstGeom prst="rect">
              <a:avLst/>
            </a:prstGeom>
            <a:pattFill prst="wdDnDiag">
              <a:fgClr>
                <a:srgbClr val="00B0F0"/>
              </a:fgClr>
              <a:bgClr>
                <a:schemeClr val="bg1"/>
              </a:bgClr>
            </a:patt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41" name="5-Point Star 640">
              <a:extLst>
                <a:ext uri="{FF2B5EF4-FFF2-40B4-BE49-F238E27FC236}">
                  <a16:creationId xmlns:a16="http://schemas.microsoft.com/office/drawing/2014/main" id="{9B39E26C-98B2-7DA2-1739-F7535016961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97468" y="3733274"/>
              <a:ext cx="305602" cy="299172"/>
            </a:xfrm>
            <a:prstGeom prst="star5">
              <a:avLst/>
            </a:prstGeom>
            <a:pattFill prst="wdUpDiag">
              <a:fgClr>
                <a:srgbClr val="00B0F0"/>
              </a:fgClr>
              <a:bgClr>
                <a:schemeClr val="bg1"/>
              </a:bgClr>
            </a:patt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642" name="Rectangle 641">
            <a:extLst>
              <a:ext uri="{FF2B5EF4-FFF2-40B4-BE49-F238E27FC236}">
                <a16:creationId xmlns:a16="http://schemas.microsoft.com/office/drawing/2014/main" id="{821C79FD-1E07-5363-13B7-67E31A9D8678}"/>
              </a:ext>
            </a:extLst>
          </p:cNvPr>
          <p:cNvSpPr/>
          <p:nvPr/>
        </p:nvSpPr>
        <p:spPr>
          <a:xfrm>
            <a:off x="11631620" y="6295641"/>
            <a:ext cx="316115" cy="224379"/>
          </a:xfrm>
          <a:prstGeom prst="rect">
            <a:avLst/>
          </a:prstGeom>
          <a:pattFill prst="dkHorz">
            <a:fgClr>
              <a:srgbClr val="FFC000"/>
            </a:fgClr>
            <a:bgClr>
              <a:schemeClr val="bg1"/>
            </a:bgClr>
          </a:patt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3" name="Freeform 642">
            <a:extLst>
              <a:ext uri="{FF2B5EF4-FFF2-40B4-BE49-F238E27FC236}">
                <a16:creationId xmlns:a16="http://schemas.microsoft.com/office/drawing/2014/main" id="{EB1BA5F5-E7BD-02A9-7475-144143E0B713}"/>
              </a:ext>
            </a:extLst>
          </p:cNvPr>
          <p:cNvSpPr/>
          <p:nvPr/>
        </p:nvSpPr>
        <p:spPr>
          <a:xfrm rot="10800000" flipH="1">
            <a:off x="11039419" y="5624896"/>
            <a:ext cx="111149" cy="166182"/>
          </a:xfrm>
          <a:custGeom>
            <a:avLst/>
            <a:gdLst>
              <a:gd name="connsiteX0" fmla="*/ 0 w 449865"/>
              <a:gd name="connsiteY0" fmla="*/ 600606 h 600606"/>
              <a:gd name="connsiteX1" fmla="*/ 48898 w 449865"/>
              <a:gd name="connsiteY1" fmla="*/ 307216 h 600606"/>
              <a:gd name="connsiteX2" fmla="*/ 161365 w 449865"/>
              <a:gd name="connsiteY2" fmla="*/ 48054 h 600606"/>
              <a:gd name="connsiteX3" fmla="*/ 244492 w 449865"/>
              <a:gd name="connsiteY3" fmla="*/ 4045 h 600606"/>
              <a:gd name="connsiteX4" fmla="*/ 322729 w 449865"/>
              <a:gd name="connsiteY4" fmla="*/ 101842 h 600606"/>
              <a:gd name="connsiteX5" fmla="*/ 410747 w 449865"/>
              <a:gd name="connsiteY5" fmla="*/ 307216 h 600606"/>
              <a:gd name="connsiteX6" fmla="*/ 449865 w 449865"/>
              <a:gd name="connsiteY6" fmla="*/ 600606 h 60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9865" h="600606">
                <a:moveTo>
                  <a:pt x="0" y="600606"/>
                </a:moveTo>
                <a:cubicBezTo>
                  <a:pt x="11002" y="499957"/>
                  <a:pt x="22004" y="399308"/>
                  <a:pt x="48898" y="307216"/>
                </a:cubicBezTo>
                <a:cubicBezTo>
                  <a:pt x="75792" y="215124"/>
                  <a:pt x="128766" y="98583"/>
                  <a:pt x="161365" y="48054"/>
                </a:cubicBezTo>
                <a:cubicBezTo>
                  <a:pt x="193964" y="-2475"/>
                  <a:pt x="217598" y="-4920"/>
                  <a:pt x="244492" y="4045"/>
                </a:cubicBezTo>
                <a:cubicBezTo>
                  <a:pt x="271386" y="13010"/>
                  <a:pt x="295020" y="51314"/>
                  <a:pt x="322729" y="101842"/>
                </a:cubicBezTo>
                <a:cubicBezTo>
                  <a:pt x="350438" y="152370"/>
                  <a:pt x="389558" y="224089"/>
                  <a:pt x="410747" y="307216"/>
                </a:cubicBezTo>
                <a:cubicBezTo>
                  <a:pt x="431936" y="390343"/>
                  <a:pt x="440085" y="464505"/>
                  <a:pt x="449865" y="600606"/>
                </a:cubicBezTo>
              </a:path>
            </a:pathLst>
          </a:custGeom>
          <a:noFill/>
          <a:ln w="12700">
            <a:solidFill>
              <a:srgbClr val="0070C0"/>
            </a:solidFill>
            <a:prstDash val="sysDash"/>
            <a:tailEnd type="stealth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4" name="Right Arrow 643">
            <a:extLst>
              <a:ext uri="{FF2B5EF4-FFF2-40B4-BE49-F238E27FC236}">
                <a16:creationId xmlns:a16="http://schemas.microsoft.com/office/drawing/2014/main" id="{9495FF0D-3346-5C29-BE3B-C786D6C2821C}"/>
              </a:ext>
            </a:extLst>
          </p:cNvPr>
          <p:cNvSpPr/>
          <p:nvPr/>
        </p:nvSpPr>
        <p:spPr>
          <a:xfrm rot="3733896">
            <a:off x="11761832" y="6783503"/>
            <a:ext cx="650770" cy="79027"/>
          </a:xfrm>
          <a:prstGeom prst="rightArrow">
            <a:avLst>
              <a:gd name="adj1" fmla="val 44194"/>
              <a:gd name="adj2" fmla="val 129749"/>
            </a:avLst>
          </a:prstGeom>
          <a:solidFill>
            <a:srgbClr val="FFAB00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5" name="Right Arrow 644">
            <a:extLst>
              <a:ext uri="{FF2B5EF4-FFF2-40B4-BE49-F238E27FC236}">
                <a16:creationId xmlns:a16="http://schemas.microsoft.com/office/drawing/2014/main" id="{2A146616-6EC0-569B-D381-6107BB41718F}"/>
              </a:ext>
            </a:extLst>
          </p:cNvPr>
          <p:cNvSpPr/>
          <p:nvPr/>
        </p:nvSpPr>
        <p:spPr>
          <a:xfrm rot="3733896">
            <a:off x="11458657" y="6783503"/>
            <a:ext cx="650770" cy="79027"/>
          </a:xfrm>
          <a:prstGeom prst="rightArrow">
            <a:avLst>
              <a:gd name="adj1" fmla="val 44194"/>
              <a:gd name="adj2" fmla="val 129749"/>
            </a:avLst>
          </a:prstGeom>
          <a:solidFill>
            <a:srgbClr val="FFAB00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6" name="Rectangle 645">
            <a:extLst>
              <a:ext uri="{FF2B5EF4-FFF2-40B4-BE49-F238E27FC236}">
                <a16:creationId xmlns:a16="http://schemas.microsoft.com/office/drawing/2014/main" id="{3CAFE943-D2C4-E357-5B0B-A26A81FB9E4B}"/>
              </a:ext>
            </a:extLst>
          </p:cNvPr>
          <p:cNvSpPr/>
          <p:nvPr/>
        </p:nvSpPr>
        <p:spPr>
          <a:xfrm>
            <a:off x="11156055" y="5392193"/>
            <a:ext cx="269530" cy="224379"/>
          </a:xfrm>
          <a:prstGeom prst="rect">
            <a:avLst/>
          </a:prstGeom>
          <a:pattFill prst="dkVert">
            <a:fgClr>
              <a:srgbClr val="00B0F0"/>
            </a:fgClr>
            <a:bgClr>
              <a:schemeClr val="bg1"/>
            </a:bgClr>
          </a:patt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47" name="Straight Connector 646">
            <a:extLst>
              <a:ext uri="{FF2B5EF4-FFF2-40B4-BE49-F238E27FC236}">
                <a16:creationId xmlns:a16="http://schemas.microsoft.com/office/drawing/2014/main" id="{9B5A6AB7-A03A-7158-632F-1002358D40E6}"/>
              </a:ext>
            </a:extLst>
          </p:cNvPr>
          <p:cNvCxnSpPr>
            <a:cxnSpLocks/>
          </p:cNvCxnSpPr>
          <p:nvPr/>
        </p:nvCxnSpPr>
        <p:spPr>
          <a:xfrm>
            <a:off x="11311546" y="5616572"/>
            <a:ext cx="126446" cy="661964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8" name="Straight Connector 647">
            <a:extLst>
              <a:ext uri="{FF2B5EF4-FFF2-40B4-BE49-F238E27FC236}">
                <a16:creationId xmlns:a16="http://schemas.microsoft.com/office/drawing/2014/main" id="{9F6A4B21-6FEB-B06E-CDF3-5E904E1D89FA}"/>
              </a:ext>
            </a:extLst>
          </p:cNvPr>
          <p:cNvCxnSpPr>
            <a:cxnSpLocks/>
            <a:endCxn id="619" idx="1"/>
          </p:cNvCxnSpPr>
          <p:nvPr/>
        </p:nvCxnSpPr>
        <p:spPr>
          <a:xfrm>
            <a:off x="13318089" y="7678059"/>
            <a:ext cx="153316" cy="259552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9" name="Rectangle 648">
            <a:extLst>
              <a:ext uri="{FF2B5EF4-FFF2-40B4-BE49-F238E27FC236}">
                <a16:creationId xmlns:a16="http://schemas.microsoft.com/office/drawing/2014/main" id="{CD01578B-52C5-26DD-59C7-CA6CBC7CFBD7}"/>
              </a:ext>
            </a:extLst>
          </p:cNvPr>
          <p:cNvSpPr>
            <a:spLocks/>
          </p:cNvSpPr>
          <p:nvPr/>
        </p:nvSpPr>
        <p:spPr>
          <a:xfrm>
            <a:off x="12672632" y="7412345"/>
            <a:ext cx="645458" cy="224379"/>
          </a:xfrm>
          <a:prstGeom prst="rect">
            <a:avLst/>
          </a:prstGeom>
          <a:pattFill prst="smGrid">
            <a:fgClr>
              <a:srgbClr val="C00000"/>
            </a:fgClr>
            <a:bgClr>
              <a:schemeClr val="bg1"/>
            </a:bgClr>
          </a:patt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0" name="Freeform 649">
            <a:extLst>
              <a:ext uri="{FF2B5EF4-FFF2-40B4-BE49-F238E27FC236}">
                <a16:creationId xmlns:a16="http://schemas.microsoft.com/office/drawing/2014/main" id="{FD63B3F5-C2F5-FFD2-69C3-9A1DD1D4AF4C}"/>
              </a:ext>
            </a:extLst>
          </p:cNvPr>
          <p:cNvSpPr/>
          <p:nvPr/>
        </p:nvSpPr>
        <p:spPr>
          <a:xfrm rot="10800000" flipH="1" flipV="1">
            <a:off x="11069761" y="6600429"/>
            <a:ext cx="267167" cy="132717"/>
          </a:xfrm>
          <a:custGeom>
            <a:avLst/>
            <a:gdLst>
              <a:gd name="connsiteX0" fmla="*/ 0 w 449865"/>
              <a:gd name="connsiteY0" fmla="*/ 600606 h 600606"/>
              <a:gd name="connsiteX1" fmla="*/ 48898 w 449865"/>
              <a:gd name="connsiteY1" fmla="*/ 307216 h 600606"/>
              <a:gd name="connsiteX2" fmla="*/ 161365 w 449865"/>
              <a:gd name="connsiteY2" fmla="*/ 48054 h 600606"/>
              <a:gd name="connsiteX3" fmla="*/ 244492 w 449865"/>
              <a:gd name="connsiteY3" fmla="*/ 4045 h 600606"/>
              <a:gd name="connsiteX4" fmla="*/ 322729 w 449865"/>
              <a:gd name="connsiteY4" fmla="*/ 101842 h 600606"/>
              <a:gd name="connsiteX5" fmla="*/ 410747 w 449865"/>
              <a:gd name="connsiteY5" fmla="*/ 307216 h 600606"/>
              <a:gd name="connsiteX6" fmla="*/ 449865 w 449865"/>
              <a:gd name="connsiteY6" fmla="*/ 600606 h 60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9865" h="600606">
                <a:moveTo>
                  <a:pt x="0" y="600606"/>
                </a:moveTo>
                <a:cubicBezTo>
                  <a:pt x="11002" y="499957"/>
                  <a:pt x="22004" y="399308"/>
                  <a:pt x="48898" y="307216"/>
                </a:cubicBezTo>
                <a:cubicBezTo>
                  <a:pt x="75792" y="215124"/>
                  <a:pt x="128766" y="98583"/>
                  <a:pt x="161365" y="48054"/>
                </a:cubicBezTo>
                <a:cubicBezTo>
                  <a:pt x="193964" y="-2475"/>
                  <a:pt x="217598" y="-4920"/>
                  <a:pt x="244492" y="4045"/>
                </a:cubicBezTo>
                <a:cubicBezTo>
                  <a:pt x="271386" y="13010"/>
                  <a:pt x="295020" y="51314"/>
                  <a:pt x="322729" y="101842"/>
                </a:cubicBezTo>
                <a:cubicBezTo>
                  <a:pt x="350438" y="152370"/>
                  <a:pt x="389558" y="224089"/>
                  <a:pt x="410747" y="307216"/>
                </a:cubicBezTo>
                <a:cubicBezTo>
                  <a:pt x="431936" y="390343"/>
                  <a:pt x="440085" y="464505"/>
                  <a:pt x="449865" y="600606"/>
                </a:cubicBezTo>
              </a:path>
            </a:pathLst>
          </a:custGeom>
          <a:noFill/>
          <a:ln w="12700">
            <a:solidFill>
              <a:srgbClr val="0070C0"/>
            </a:solidFill>
            <a:prstDash val="solid"/>
            <a:tailEnd type="stealth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1" name="Rectangle 650">
            <a:extLst>
              <a:ext uri="{FF2B5EF4-FFF2-40B4-BE49-F238E27FC236}">
                <a16:creationId xmlns:a16="http://schemas.microsoft.com/office/drawing/2014/main" id="{25A72D3B-9359-DAF3-BE99-04109607A5C4}"/>
              </a:ext>
            </a:extLst>
          </p:cNvPr>
          <p:cNvSpPr/>
          <p:nvPr/>
        </p:nvSpPr>
        <p:spPr>
          <a:xfrm>
            <a:off x="10881650" y="6677707"/>
            <a:ext cx="315725" cy="137423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2" name="Oval 651">
            <a:extLst>
              <a:ext uri="{FF2B5EF4-FFF2-40B4-BE49-F238E27FC236}">
                <a16:creationId xmlns:a16="http://schemas.microsoft.com/office/drawing/2014/main" id="{A374B3ED-CEA0-6338-D17B-1970B1F262C2}"/>
              </a:ext>
            </a:extLst>
          </p:cNvPr>
          <p:cNvSpPr/>
          <p:nvPr/>
        </p:nvSpPr>
        <p:spPr>
          <a:xfrm>
            <a:off x="11285011" y="6170608"/>
            <a:ext cx="459698" cy="245513"/>
          </a:xfrm>
          <a:prstGeom prst="ellipse">
            <a:avLst/>
          </a:prstGeom>
          <a:noFill/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53" name="Straight Connector 652">
            <a:extLst>
              <a:ext uri="{FF2B5EF4-FFF2-40B4-BE49-F238E27FC236}">
                <a16:creationId xmlns:a16="http://schemas.microsoft.com/office/drawing/2014/main" id="{6AB5CE21-5469-62D8-E2E4-2D76D7D6256B}"/>
              </a:ext>
            </a:extLst>
          </p:cNvPr>
          <p:cNvCxnSpPr>
            <a:cxnSpLocks/>
            <a:stCxn id="652" idx="3"/>
          </p:cNvCxnSpPr>
          <p:nvPr/>
        </p:nvCxnSpPr>
        <p:spPr>
          <a:xfrm flipH="1">
            <a:off x="11166185" y="6380166"/>
            <a:ext cx="186148" cy="148408"/>
          </a:xfrm>
          <a:prstGeom prst="line">
            <a:avLst/>
          </a:prstGeom>
          <a:ln w="6350">
            <a:solidFill>
              <a:schemeClr val="tx1"/>
            </a:solidFill>
            <a:prstDash val="solid"/>
            <a:headEnd type="none" w="lg" len="lg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4" name="Rectangle 653">
            <a:extLst>
              <a:ext uri="{FF2B5EF4-FFF2-40B4-BE49-F238E27FC236}">
                <a16:creationId xmlns:a16="http://schemas.microsoft.com/office/drawing/2014/main" id="{7FA71EFC-84FE-1F16-0615-6E523E87E6F2}"/>
              </a:ext>
            </a:extLst>
          </p:cNvPr>
          <p:cNvSpPr/>
          <p:nvPr/>
        </p:nvSpPr>
        <p:spPr>
          <a:xfrm>
            <a:off x="13346211" y="6619784"/>
            <a:ext cx="315725" cy="137423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55" name="Straight Connector 654">
            <a:extLst>
              <a:ext uri="{FF2B5EF4-FFF2-40B4-BE49-F238E27FC236}">
                <a16:creationId xmlns:a16="http://schemas.microsoft.com/office/drawing/2014/main" id="{B9A0EEAB-CB4B-69DA-43BA-68B1D4777C92}"/>
              </a:ext>
            </a:extLst>
          </p:cNvPr>
          <p:cNvCxnSpPr>
            <a:cxnSpLocks/>
            <a:stCxn id="656" idx="6"/>
            <a:endCxn id="664" idx="2"/>
          </p:cNvCxnSpPr>
          <p:nvPr/>
        </p:nvCxnSpPr>
        <p:spPr>
          <a:xfrm>
            <a:off x="12781744" y="6398570"/>
            <a:ext cx="476555" cy="289964"/>
          </a:xfrm>
          <a:prstGeom prst="line">
            <a:avLst/>
          </a:prstGeom>
          <a:ln w="6350">
            <a:solidFill>
              <a:schemeClr val="tx1"/>
            </a:solidFill>
            <a:prstDash val="solid"/>
            <a:headEnd type="none" w="lg" len="lg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6" name="Oval 655">
            <a:extLst>
              <a:ext uri="{FF2B5EF4-FFF2-40B4-BE49-F238E27FC236}">
                <a16:creationId xmlns:a16="http://schemas.microsoft.com/office/drawing/2014/main" id="{09218DEB-0F20-EA02-759E-F0E0B196C28D}"/>
              </a:ext>
            </a:extLst>
          </p:cNvPr>
          <p:cNvSpPr/>
          <p:nvPr/>
        </p:nvSpPr>
        <p:spPr>
          <a:xfrm>
            <a:off x="12464921" y="6227218"/>
            <a:ext cx="316822" cy="342702"/>
          </a:xfrm>
          <a:prstGeom prst="ellipse">
            <a:avLst/>
          </a:prstGeom>
          <a:noFill/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57" name="Graphic 656" descr="Badge with solid fill">
            <a:extLst>
              <a:ext uri="{FF2B5EF4-FFF2-40B4-BE49-F238E27FC236}">
                <a16:creationId xmlns:a16="http://schemas.microsoft.com/office/drawing/2014/main" id="{198D3A89-20C1-252B-D35E-047ACC1BC2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75813" y="5486936"/>
            <a:ext cx="474173" cy="448758"/>
          </a:xfrm>
          <a:prstGeom prst="rect">
            <a:avLst/>
          </a:prstGeom>
        </p:spPr>
      </p:pic>
      <p:pic>
        <p:nvPicPr>
          <p:cNvPr id="658" name="Graphic 657" descr="Badge 3 with solid fill">
            <a:extLst>
              <a:ext uri="{FF2B5EF4-FFF2-40B4-BE49-F238E27FC236}">
                <a16:creationId xmlns:a16="http://schemas.microsoft.com/office/drawing/2014/main" id="{087156FB-B205-3B9B-6207-2A87D9B584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00747" y="6500215"/>
            <a:ext cx="474173" cy="448758"/>
          </a:xfrm>
          <a:prstGeom prst="rect">
            <a:avLst/>
          </a:prstGeom>
        </p:spPr>
      </p:pic>
      <p:pic>
        <p:nvPicPr>
          <p:cNvPr id="659" name="Graphic 658" descr="Badge 4 with solid fill">
            <a:extLst>
              <a:ext uri="{FF2B5EF4-FFF2-40B4-BE49-F238E27FC236}">
                <a16:creationId xmlns:a16="http://schemas.microsoft.com/office/drawing/2014/main" id="{6785F69D-C3B7-1EA0-F0D5-9C3F27AF1AB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575311" y="6686247"/>
            <a:ext cx="474173" cy="448758"/>
          </a:xfrm>
          <a:prstGeom prst="rect">
            <a:avLst/>
          </a:prstGeom>
        </p:spPr>
      </p:pic>
      <p:pic>
        <p:nvPicPr>
          <p:cNvPr id="660" name="Graphic 659" descr="Badge 5 with solid fill">
            <a:extLst>
              <a:ext uri="{FF2B5EF4-FFF2-40B4-BE49-F238E27FC236}">
                <a16:creationId xmlns:a16="http://schemas.microsoft.com/office/drawing/2014/main" id="{4ECA42A5-97F1-E049-2FB9-C5A6A321557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644237" y="6469152"/>
            <a:ext cx="474173" cy="448758"/>
          </a:xfrm>
          <a:prstGeom prst="rect">
            <a:avLst/>
          </a:prstGeom>
        </p:spPr>
      </p:pic>
      <p:pic>
        <p:nvPicPr>
          <p:cNvPr id="661" name="Graphic 660" descr="Badge 6 with solid fill">
            <a:extLst>
              <a:ext uri="{FF2B5EF4-FFF2-40B4-BE49-F238E27FC236}">
                <a16:creationId xmlns:a16="http://schemas.microsoft.com/office/drawing/2014/main" id="{C91E6799-176C-67D8-61FB-58204A84023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962259" y="5487386"/>
            <a:ext cx="474173" cy="448758"/>
          </a:xfrm>
          <a:prstGeom prst="rect">
            <a:avLst/>
          </a:prstGeom>
        </p:spPr>
      </p:pic>
      <p:pic>
        <p:nvPicPr>
          <p:cNvPr id="662" name="Graphic 661" descr="Badge 7 with solid fill">
            <a:extLst>
              <a:ext uri="{FF2B5EF4-FFF2-40B4-BE49-F238E27FC236}">
                <a16:creationId xmlns:a16="http://schemas.microsoft.com/office/drawing/2014/main" id="{01B72908-177C-4C1A-5EDE-7DAE05F8BC6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3681705" y="7113680"/>
            <a:ext cx="474173" cy="448758"/>
          </a:xfrm>
          <a:prstGeom prst="rect">
            <a:avLst/>
          </a:prstGeom>
        </p:spPr>
      </p:pic>
      <p:sp>
        <p:nvSpPr>
          <p:cNvPr id="663" name="Oval 662">
            <a:extLst>
              <a:ext uri="{FF2B5EF4-FFF2-40B4-BE49-F238E27FC236}">
                <a16:creationId xmlns:a16="http://schemas.microsoft.com/office/drawing/2014/main" id="{BF301B0E-638E-5BA1-A196-7C53E6D757E4}"/>
              </a:ext>
            </a:extLst>
          </p:cNvPr>
          <p:cNvSpPr/>
          <p:nvPr/>
        </p:nvSpPr>
        <p:spPr>
          <a:xfrm>
            <a:off x="10703496" y="6532031"/>
            <a:ext cx="747711" cy="411669"/>
          </a:xfrm>
          <a:prstGeom prst="ellipse">
            <a:avLst/>
          </a:prstGeom>
          <a:noFill/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64" name="Oval 663">
            <a:extLst>
              <a:ext uri="{FF2B5EF4-FFF2-40B4-BE49-F238E27FC236}">
                <a16:creationId xmlns:a16="http://schemas.microsoft.com/office/drawing/2014/main" id="{69193C47-7C68-17D7-1816-AA39B8878808}"/>
              </a:ext>
            </a:extLst>
          </p:cNvPr>
          <p:cNvSpPr/>
          <p:nvPr/>
        </p:nvSpPr>
        <p:spPr>
          <a:xfrm>
            <a:off x="13258299" y="6497825"/>
            <a:ext cx="576328" cy="381418"/>
          </a:xfrm>
          <a:prstGeom prst="ellipse">
            <a:avLst/>
          </a:prstGeom>
          <a:noFill/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65" name="Oval 664">
            <a:extLst>
              <a:ext uri="{FF2B5EF4-FFF2-40B4-BE49-F238E27FC236}">
                <a16:creationId xmlns:a16="http://schemas.microsoft.com/office/drawing/2014/main" id="{2F40BA2B-F7D5-7370-2AE8-95F1E67EF2A2}"/>
              </a:ext>
            </a:extLst>
          </p:cNvPr>
          <p:cNvSpPr/>
          <p:nvPr/>
        </p:nvSpPr>
        <p:spPr>
          <a:xfrm>
            <a:off x="10886827" y="5299593"/>
            <a:ext cx="672302" cy="579023"/>
          </a:xfrm>
          <a:prstGeom prst="ellipse">
            <a:avLst/>
          </a:prstGeom>
          <a:noFill/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66" name="Oval 665">
            <a:extLst>
              <a:ext uri="{FF2B5EF4-FFF2-40B4-BE49-F238E27FC236}">
                <a16:creationId xmlns:a16="http://schemas.microsoft.com/office/drawing/2014/main" id="{CCA32DA0-3598-3B07-F066-96F618579C61}"/>
              </a:ext>
            </a:extLst>
          </p:cNvPr>
          <p:cNvSpPr/>
          <p:nvPr/>
        </p:nvSpPr>
        <p:spPr>
          <a:xfrm>
            <a:off x="12124696" y="6949285"/>
            <a:ext cx="805342" cy="345365"/>
          </a:xfrm>
          <a:prstGeom prst="ellipse">
            <a:avLst/>
          </a:prstGeom>
          <a:noFill/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67" name="Oval 666">
            <a:extLst>
              <a:ext uri="{FF2B5EF4-FFF2-40B4-BE49-F238E27FC236}">
                <a16:creationId xmlns:a16="http://schemas.microsoft.com/office/drawing/2014/main" id="{629F0ED4-A64C-C2E6-857C-B8E5C6CF8123}"/>
              </a:ext>
            </a:extLst>
          </p:cNvPr>
          <p:cNvSpPr/>
          <p:nvPr/>
        </p:nvSpPr>
        <p:spPr>
          <a:xfrm>
            <a:off x="12253117" y="5357867"/>
            <a:ext cx="612842" cy="434084"/>
          </a:xfrm>
          <a:prstGeom prst="ellipse">
            <a:avLst/>
          </a:prstGeom>
          <a:noFill/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68" name="Oval 667">
            <a:extLst>
              <a:ext uri="{FF2B5EF4-FFF2-40B4-BE49-F238E27FC236}">
                <a16:creationId xmlns:a16="http://schemas.microsoft.com/office/drawing/2014/main" id="{C28080FD-2277-8827-C10E-E7F5FBC319ED}"/>
              </a:ext>
            </a:extLst>
          </p:cNvPr>
          <p:cNvSpPr/>
          <p:nvPr/>
        </p:nvSpPr>
        <p:spPr>
          <a:xfrm>
            <a:off x="12962675" y="7194002"/>
            <a:ext cx="950630" cy="798188"/>
          </a:xfrm>
          <a:prstGeom prst="ellipse">
            <a:avLst/>
          </a:prstGeom>
          <a:noFill/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69" name="Right Arrow 668">
            <a:extLst>
              <a:ext uri="{FF2B5EF4-FFF2-40B4-BE49-F238E27FC236}">
                <a16:creationId xmlns:a16="http://schemas.microsoft.com/office/drawing/2014/main" id="{FC87AF24-2D4C-462C-7E09-A738A61718EF}"/>
              </a:ext>
            </a:extLst>
          </p:cNvPr>
          <p:cNvSpPr/>
          <p:nvPr/>
        </p:nvSpPr>
        <p:spPr>
          <a:xfrm rot="3733896">
            <a:off x="11610245" y="6783503"/>
            <a:ext cx="650770" cy="79027"/>
          </a:xfrm>
          <a:prstGeom prst="rightArrow">
            <a:avLst>
              <a:gd name="adj1" fmla="val 44194"/>
              <a:gd name="adj2" fmla="val 129749"/>
            </a:avLst>
          </a:prstGeom>
          <a:solidFill>
            <a:srgbClr val="FFAB00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022A9E50-1515-EB19-AFB3-BF2AE0F97692}"/>
              </a:ext>
            </a:extLst>
          </p:cNvPr>
          <p:cNvSpPr>
            <a:spLocks/>
          </p:cNvSpPr>
          <p:nvPr/>
        </p:nvSpPr>
        <p:spPr>
          <a:xfrm>
            <a:off x="12524373" y="5399304"/>
            <a:ext cx="140734" cy="224379"/>
          </a:xfrm>
          <a:prstGeom prst="rect">
            <a:avLst/>
          </a:prstGeom>
          <a:pattFill prst="shingle">
            <a:fgClr>
              <a:srgbClr val="C00000"/>
            </a:fgClr>
            <a:bgClr>
              <a:schemeClr val="bg1"/>
            </a:bgClr>
          </a:patt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42146572-2BA2-CB27-FE16-82BEF07FB866}"/>
              </a:ext>
            </a:extLst>
          </p:cNvPr>
          <p:cNvSpPr>
            <a:spLocks/>
          </p:cNvSpPr>
          <p:nvPr/>
        </p:nvSpPr>
        <p:spPr>
          <a:xfrm>
            <a:off x="10498171" y="5791451"/>
            <a:ext cx="596899" cy="224379"/>
          </a:xfrm>
          <a:prstGeom prst="rect">
            <a:avLst/>
          </a:prstGeom>
          <a:pattFill prst="ltVert">
            <a:fgClr>
              <a:srgbClr val="C00000"/>
            </a:fgClr>
            <a:bgClr>
              <a:schemeClr val="bg1"/>
            </a:bgClr>
          </a:patt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2" name="5-Point Star 671">
            <a:extLst>
              <a:ext uri="{FF2B5EF4-FFF2-40B4-BE49-F238E27FC236}">
                <a16:creationId xmlns:a16="http://schemas.microsoft.com/office/drawing/2014/main" id="{1E02A148-93A3-385D-ABE9-FBAE77F11F45}"/>
              </a:ext>
            </a:extLst>
          </p:cNvPr>
          <p:cNvSpPr>
            <a:spLocks noChangeAspect="1"/>
          </p:cNvSpPr>
          <p:nvPr/>
        </p:nvSpPr>
        <p:spPr>
          <a:xfrm>
            <a:off x="10343254" y="5543225"/>
            <a:ext cx="305602" cy="299172"/>
          </a:xfrm>
          <a:prstGeom prst="star5">
            <a:avLst/>
          </a:prstGeom>
          <a:pattFill prst="dkVert">
            <a:fgClr>
              <a:srgbClr val="C00000"/>
            </a:fgClr>
            <a:bgClr>
              <a:schemeClr val="bg1"/>
            </a:bgClr>
          </a:patt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73" name="Straight Connector 672">
            <a:extLst>
              <a:ext uri="{FF2B5EF4-FFF2-40B4-BE49-F238E27FC236}">
                <a16:creationId xmlns:a16="http://schemas.microsoft.com/office/drawing/2014/main" id="{4A019C36-8B65-8192-7796-AF0B0ED5D535}"/>
              </a:ext>
            </a:extLst>
          </p:cNvPr>
          <p:cNvCxnSpPr>
            <a:cxnSpLocks/>
            <a:stCxn id="679" idx="4"/>
            <a:endCxn id="678" idx="7"/>
          </p:cNvCxnSpPr>
          <p:nvPr/>
        </p:nvCxnSpPr>
        <p:spPr>
          <a:xfrm flipH="1">
            <a:off x="10211234" y="6082437"/>
            <a:ext cx="388966" cy="469676"/>
          </a:xfrm>
          <a:prstGeom prst="line">
            <a:avLst/>
          </a:prstGeom>
          <a:ln w="6350">
            <a:solidFill>
              <a:schemeClr val="tx1"/>
            </a:solidFill>
            <a:prstDash val="solid"/>
            <a:headEnd type="none" w="lg" len="lg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4" name="Rectangle 673">
            <a:extLst>
              <a:ext uri="{FF2B5EF4-FFF2-40B4-BE49-F238E27FC236}">
                <a16:creationId xmlns:a16="http://schemas.microsoft.com/office/drawing/2014/main" id="{1936B532-6D1E-D256-E8C4-18DA25BC5302}"/>
              </a:ext>
            </a:extLst>
          </p:cNvPr>
          <p:cNvSpPr/>
          <p:nvPr/>
        </p:nvSpPr>
        <p:spPr>
          <a:xfrm>
            <a:off x="9585436" y="6654713"/>
            <a:ext cx="315725" cy="13742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5" name="Freeform 674">
            <a:extLst>
              <a:ext uri="{FF2B5EF4-FFF2-40B4-BE49-F238E27FC236}">
                <a16:creationId xmlns:a16="http://schemas.microsoft.com/office/drawing/2014/main" id="{B502AF88-5325-0F57-275B-13647CFCDA63}"/>
              </a:ext>
            </a:extLst>
          </p:cNvPr>
          <p:cNvSpPr/>
          <p:nvPr/>
        </p:nvSpPr>
        <p:spPr>
          <a:xfrm rot="10800000" flipH="1" flipV="1">
            <a:off x="9767550" y="6519291"/>
            <a:ext cx="267167" cy="149414"/>
          </a:xfrm>
          <a:custGeom>
            <a:avLst/>
            <a:gdLst>
              <a:gd name="connsiteX0" fmla="*/ 0 w 449865"/>
              <a:gd name="connsiteY0" fmla="*/ 600606 h 600606"/>
              <a:gd name="connsiteX1" fmla="*/ 48898 w 449865"/>
              <a:gd name="connsiteY1" fmla="*/ 307216 h 600606"/>
              <a:gd name="connsiteX2" fmla="*/ 161365 w 449865"/>
              <a:gd name="connsiteY2" fmla="*/ 48054 h 600606"/>
              <a:gd name="connsiteX3" fmla="*/ 244492 w 449865"/>
              <a:gd name="connsiteY3" fmla="*/ 4045 h 600606"/>
              <a:gd name="connsiteX4" fmla="*/ 322729 w 449865"/>
              <a:gd name="connsiteY4" fmla="*/ 101842 h 600606"/>
              <a:gd name="connsiteX5" fmla="*/ 410747 w 449865"/>
              <a:gd name="connsiteY5" fmla="*/ 307216 h 600606"/>
              <a:gd name="connsiteX6" fmla="*/ 449865 w 449865"/>
              <a:gd name="connsiteY6" fmla="*/ 600606 h 60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9865" h="600606">
                <a:moveTo>
                  <a:pt x="0" y="600606"/>
                </a:moveTo>
                <a:cubicBezTo>
                  <a:pt x="11002" y="499957"/>
                  <a:pt x="22004" y="399308"/>
                  <a:pt x="48898" y="307216"/>
                </a:cubicBezTo>
                <a:cubicBezTo>
                  <a:pt x="75792" y="215124"/>
                  <a:pt x="128766" y="98583"/>
                  <a:pt x="161365" y="48054"/>
                </a:cubicBezTo>
                <a:cubicBezTo>
                  <a:pt x="193964" y="-2475"/>
                  <a:pt x="217598" y="-4920"/>
                  <a:pt x="244492" y="4045"/>
                </a:cubicBezTo>
                <a:cubicBezTo>
                  <a:pt x="271386" y="13010"/>
                  <a:pt x="295020" y="51314"/>
                  <a:pt x="322729" y="101842"/>
                </a:cubicBezTo>
                <a:cubicBezTo>
                  <a:pt x="350438" y="152370"/>
                  <a:pt x="389558" y="224089"/>
                  <a:pt x="410747" y="307216"/>
                </a:cubicBezTo>
                <a:cubicBezTo>
                  <a:pt x="431936" y="390343"/>
                  <a:pt x="440085" y="464505"/>
                  <a:pt x="449865" y="600606"/>
                </a:cubicBezTo>
              </a:path>
            </a:pathLst>
          </a:custGeom>
          <a:noFill/>
          <a:ln w="12700">
            <a:solidFill>
              <a:srgbClr val="0070C0"/>
            </a:solidFill>
            <a:prstDash val="solid"/>
            <a:tailEnd type="stealth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6" name="Rectangle 675">
            <a:extLst>
              <a:ext uri="{FF2B5EF4-FFF2-40B4-BE49-F238E27FC236}">
                <a16:creationId xmlns:a16="http://schemas.microsoft.com/office/drawing/2014/main" id="{FAE91061-91D1-2CA7-A3DA-E0C9DE2A5446}"/>
              </a:ext>
            </a:extLst>
          </p:cNvPr>
          <p:cNvSpPr/>
          <p:nvPr/>
        </p:nvSpPr>
        <p:spPr>
          <a:xfrm>
            <a:off x="9965286" y="6677307"/>
            <a:ext cx="315725" cy="137423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77" name="Graphic 676" descr="Badge 1 with solid fill">
            <a:extLst>
              <a:ext uri="{FF2B5EF4-FFF2-40B4-BE49-F238E27FC236}">
                <a16:creationId xmlns:a16="http://schemas.microsoft.com/office/drawing/2014/main" id="{E8C27B50-7AB4-8B8B-3232-253651D64F4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113367" y="6513971"/>
            <a:ext cx="474173" cy="448758"/>
          </a:xfrm>
          <a:prstGeom prst="rect">
            <a:avLst/>
          </a:prstGeom>
        </p:spPr>
      </p:pic>
      <p:sp>
        <p:nvSpPr>
          <p:cNvPr id="678" name="Oval 677">
            <a:extLst>
              <a:ext uri="{FF2B5EF4-FFF2-40B4-BE49-F238E27FC236}">
                <a16:creationId xmlns:a16="http://schemas.microsoft.com/office/drawing/2014/main" id="{EF0E1A22-C8FF-2007-72B3-1F908339E61E}"/>
              </a:ext>
            </a:extLst>
          </p:cNvPr>
          <p:cNvSpPr/>
          <p:nvPr/>
        </p:nvSpPr>
        <p:spPr>
          <a:xfrm>
            <a:off x="9277478" y="6477801"/>
            <a:ext cx="1093964" cy="507438"/>
          </a:xfrm>
          <a:prstGeom prst="ellipse">
            <a:avLst/>
          </a:prstGeom>
          <a:noFill/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9" name="Oval 678">
            <a:extLst>
              <a:ext uri="{FF2B5EF4-FFF2-40B4-BE49-F238E27FC236}">
                <a16:creationId xmlns:a16="http://schemas.microsoft.com/office/drawing/2014/main" id="{312F6934-02A1-C283-96CE-CB1FB99ACBD2}"/>
              </a:ext>
            </a:extLst>
          </p:cNvPr>
          <p:cNvSpPr/>
          <p:nvPr/>
        </p:nvSpPr>
        <p:spPr>
          <a:xfrm>
            <a:off x="10464701" y="5859671"/>
            <a:ext cx="270995" cy="222766"/>
          </a:xfrm>
          <a:prstGeom prst="ellipse">
            <a:avLst/>
          </a:prstGeom>
          <a:noFill/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8883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5" grpId="0"/>
      <p:bldP spid="595" grpId="1"/>
      <p:bldP spid="598" grpId="0"/>
      <p:bldP spid="598" grpId="1"/>
      <p:bldP spid="600" grpId="0"/>
      <p:bldP spid="600" grpId="1"/>
      <p:bldP spid="602" grpId="0"/>
      <p:bldP spid="602" grpId="1"/>
      <p:bldP spid="604" grpId="0"/>
      <p:bldP spid="604" grpId="1"/>
      <p:bldP spid="606" grpId="0"/>
      <p:bldP spid="606" grpId="1"/>
      <p:bldP spid="612" grpId="0"/>
      <p:bldP spid="612" grpId="1"/>
      <p:bldP spid="2" grpId="0"/>
      <p:bldP spid="3" grpId="0" animBg="1"/>
      <p:bldP spid="601" grpId="0" animBg="1"/>
      <p:bldP spid="603" grpId="0" animBg="1"/>
      <p:bldP spid="605" grpId="0" animBg="1"/>
      <p:bldP spid="607" grpId="0" animBg="1"/>
      <p:bldP spid="611" grpId="0" animBg="1"/>
      <p:bldP spid="614" grpId="0" animBg="1"/>
      <p:bldP spid="615" grpId="0" animBg="1"/>
      <p:bldP spid="616" grpId="0" animBg="1"/>
      <p:bldP spid="618" grpId="0" animBg="1"/>
      <p:bldP spid="619" grpId="0" animBg="1"/>
      <p:bldP spid="620" grpId="0" animBg="1"/>
      <p:bldP spid="621" grpId="0" animBg="1"/>
      <p:bldP spid="622" grpId="0" animBg="1"/>
      <p:bldP spid="642" grpId="0" animBg="1"/>
      <p:bldP spid="643" grpId="0" animBg="1"/>
      <p:bldP spid="644" grpId="0" animBg="1"/>
      <p:bldP spid="645" grpId="0" animBg="1"/>
      <p:bldP spid="646" grpId="0" animBg="1"/>
      <p:bldP spid="649" grpId="0" animBg="1"/>
      <p:bldP spid="650" grpId="0" animBg="1"/>
      <p:bldP spid="651" grpId="0" animBg="1"/>
      <p:bldP spid="652" grpId="0" animBg="1"/>
      <p:bldP spid="654" grpId="0" animBg="1"/>
      <p:bldP spid="656" grpId="0" animBg="1"/>
      <p:bldP spid="663" grpId="0" animBg="1"/>
      <p:bldP spid="664" grpId="0" animBg="1"/>
      <p:bldP spid="665" grpId="0" animBg="1"/>
      <p:bldP spid="666" grpId="0" animBg="1"/>
      <p:bldP spid="667" grpId="0" animBg="1"/>
      <p:bldP spid="668" grpId="0" animBg="1"/>
      <p:bldP spid="669" grpId="0" animBg="1"/>
      <p:bldP spid="670" grpId="0" animBg="1"/>
      <p:bldP spid="671" grpId="0" animBg="1"/>
      <p:bldP spid="672" grpId="0" animBg="1"/>
      <p:bldP spid="674" grpId="0" animBg="1"/>
      <p:bldP spid="675" grpId="0" animBg="1"/>
      <p:bldP spid="676" grpId="0" animBg="1"/>
      <p:bldP spid="678" grpId="0" animBg="1"/>
      <p:bldP spid="67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9AAE01-CDB9-B3C1-68A3-1942CD72440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21607504" y="2395992"/>
            <a:ext cx="7642672" cy="9957936"/>
          </a:xfrm>
        </p:spPr>
        <p:txBody>
          <a:bodyPr>
            <a:normAutofit/>
          </a:bodyPr>
          <a:lstStyle/>
          <a:p>
            <a:r>
              <a:rPr lang="en-US" dirty="0"/>
              <a:t>L: time of proxy polled the data in the FIFO and post the </a:t>
            </a:r>
            <a:r>
              <a:rPr lang="en-US" dirty="0" err="1"/>
              <a:t>isend</a:t>
            </a:r>
            <a:r>
              <a:rPr lang="en-US" dirty="0"/>
              <a:t> (step 2) to proxy polled the complete event, </a:t>
            </a:r>
            <a:r>
              <a:rPr lang="en-US" dirty="0" err="1"/>
              <a:t>updata</a:t>
            </a:r>
            <a:r>
              <a:rPr lang="en-US" dirty="0"/>
              <a:t> the FIFO (step 5), data size should be very small, </a:t>
            </a:r>
            <a:r>
              <a:rPr lang="en-US" dirty="0" err="1"/>
              <a:t>ie</a:t>
            </a:r>
            <a:r>
              <a:rPr lang="en-US" dirty="0"/>
              <a:t>. 4 B.    </a:t>
            </a:r>
          </a:p>
          <a:p>
            <a:r>
              <a:rPr lang="en-US" dirty="0"/>
              <a:t>G*s: NIC send data (size: s) to network (step 3).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1C56E43-7F7C-0682-9D72-383600D2A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LogGP</a:t>
            </a:r>
            <a:r>
              <a:rPr lang="en-US" dirty="0"/>
              <a:t> Parameters in NCCL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B18E72-2F03-2E78-608B-BDF88EED3F7E}"/>
              </a:ext>
            </a:extLst>
          </p:cNvPr>
          <p:cNvSpPr/>
          <p:nvPr/>
        </p:nvSpPr>
        <p:spPr>
          <a:xfrm>
            <a:off x="10722355" y="6765925"/>
            <a:ext cx="315725" cy="13742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42FC2E2-051F-0E88-3718-54ED8AD5B414}"/>
              </a:ext>
            </a:extLst>
          </p:cNvPr>
          <p:cNvGrpSpPr/>
          <p:nvPr/>
        </p:nvGrpSpPr>
        <p:grpSpPr>
          <a:xfrm rot="16200000">
            <a:off x="11218366" y="6108067"/>
            <a:ext cx="330702" cy="204232"/>
            <a:chOff x="11902457" y="13729729"/>
            <a:chExt cx="2578121" cy="1423884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E40DAFA-165C-822D-F7E9-A918F516AF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02457" y="14448445"/>
              <a:ext cx="2454976" cy="705168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  <a:prstDash val="solid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BB0ACCA-4817-8E61-0C2B-F0C1986E753C}"/>
                </a:ext>
              </a:extLst>
            </p:cNvPr>
            <p:cNvSpPr/>
            <p:nvPr/>
          </p:nvSpPr>
          <p:spPr>
            <a:xfrm>
              <a:off x="11919012" y="13729729"/>
              <a:ext cx="2561566" cy="765299"/>
            </a:xfrm>
            <a:custGeom>
              <a:avLst/>
              <a:gdLst>
                <a:gd name="connsiteX0" fmla="*/ 0 w 2561563"/>
                <a:gd name="connsiteY0" fmla="*/ 0 h 492980"/>
                <a:gd name="connsiteX1" fmla="*/ 1280160 w 2561563"/>
                <a:gd name="connsiteY1" fmla="*/ 55659 h 492980"/>
                <a:gd name="connsiteX2" fmla="*/ 2210463 w 2561563"/>
                <a:gd name="connsiteY2" fmla="*/ 166977 h 492980"/>
                <a:gd name="connsiteX3" fmla="*/ 2552369 w 2561563"/>
                <a:gd name="connsiteY3" fmla="*/ 286247 h 492980"/>
                <a:gd name="connsiteX4" fmla="*/ 2449002 w 2561563"/>
                <a:gd name="connsiteY4" fmla="*/ 437321 h 492980"/>
                <a:gd name="connsiteX5" fmla="*/ 2289976 w 2561563"/>
                <a:gd name="connsiteY5" fmla="*/ 492980 h 492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61563" h="492980">
                  <a:moveTo>
                    <a:pt x="0" y="0"/>
                  </a:moveTo>
                  <a:cubicBezTo>
                    <a:pt x="455875" y="13915"/>
                    <a:pt x="911750" y="27830"/>
                    <a:pt x="1280160" y="55659"/>
                  </a:cubicBezTo>
                  <a:cubicBezTo>
                    <a:pt x="1648571" y="83489"/>
                    <a:pt x="1998428" y="128546"/>
                    <a:pt x="2210463" y="166977"/>
                  </a:cubicBezTo>
                  <a:cubicBezTo>
                    <a:pt x="2422498" y="205408"/>
                    <a:pt x="2512612" y="241190"/>
                    <a:pt x="2552369" y="286247"/>
                  </a:cubicBezTo>
                  <a:cubicBezTo>
                    <a:pt x="2592126" y="331304"/>
                    <a:pt x="2492734" y="402866"/>
                    <a:pt x="2449002" y="437321"/>
                  </a:cubicBezTo>
                  <a:cubicBezTo>
                    <a:pt x="2405270" y="471776"/>
                    <a:pt x="2319131" y="459850"/>
                    <a:pt x="2289976" y="492980"/>
                  </a:cubicBezTo>
                </a:path>
              </a:pathLst>
            </a:custGeom>
            <a:noFill/>
            <a:ln w="12700">
              <a:solidFill>
                <a:schemeClr val="accent6">
                  <a:lumMod val="60000"/>
                  <a:lumOff val="40000"/>
                </a:schemeClr>
              </a:solidFill>
              <a:prstDash val="sysDash"/>
              <a:tailEnd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88FEC394-7CB9-91B8-4B1B-1BE5D18D9D8A}"/>
              </a:ext>
            </a:extLst>
          </p:cNvPr>
          <p:cNvSpPr/>
          <p:nvPr/>
        </p:nvSpPr>
        <p:spPr>
          <a:xfrm>
            <a:off x="10460718" y="5487633"/>
            <a:ext cx="549544" cy="224379"/>
          </a:xfrm>
          <a:prstGeom prst="rect">
            <a:avLst/>
          </a:prstGeom>
          <a:pattFill prst="wdUpDiag">
            <a:fgClr>
              <a:srgbClr val="00B0F0"/>
            </a:fgClr>
            <a:bgClr>
              <a:schemeClr val="bg1"/>
            </a:bgClr>
          </a:patt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5-Point Star 8">
            <a:extLst>
              <a:ext uri="{FF2B5EF4-FFF2-40B4-BE49-F238E27FC236}">
                <a16:creationId xmlns:a16="http://schemas.microsoft.com/office/drawing/2014/main" id="{E399EFB7-5F1C-CE4C-4670-BBFBE0E6942A}"/>
              </a:ext>
            </a:extLst>
          </p:cNvPr>
          <p:cNvSpPr>
            <a:spLocks noChangeAspect="1"/>
          </p:cNvSpPr>
          <p:nvPr/>
        </p:nvSpPr>
        <p:spPr>
          <a:xfrm>
            <a:off x="10311583" y="5265428"/>
            <a:ext cx="305602" cy="299172"/>
          </a:xfrm>
          <a:prstGeom prst="star5">
            <a:avLst/>
          </a:prstGeom>
          <a:pattFill prst="wdUpDiag">
            <a:fgClr>
              <a:srgbClr val="00B0F0"/>
            </a:fgClr>
            <a:bgClr>
              <a:schemeClr val="bg1"/>
            </a:bgClr>
          </a:patt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4A32EF-8160-7991-D585-469E60C61755}"/>
              </a:ext>
            </a:extLst>
          </p:cNvPr>
          <p:cNvSpPr/>
          <p:nvPr/>
        </p:nvSpPr>
        <p:spPr>
          <a:xfrm>
            <a:off x="12167154" y="7920638"/>
            <a:ext cx="259022" cy="224379"/>
          </a:xfrm>
          <a:prstGeom prst="rect">
            <a:avLst/>
          </a:prstGeom>
          <a:pattFill prst="openDmnd">
            <a:fgClr>
              <a:srgbClr val="00B0F0"/>
            </a:fgClr>
            <a:bgClr>
              <a:schemeClr val="bg1"/>
            </a:bgClr>
          </a:patt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675DF773-EA32-48D1-C1E3-1C939D91574E}"/>
              </a:ext>
            </a:extLst>
          </p:cNvPr>
          <p:cNvSpPr/>
          <p:nvPr/>
        </p:nvSpPr>
        <p:spPr>
          <a:xfrm>
            <a:off x="12167156" y="7276931"/>
            <a:ext cx="172042" cy="630859"/>
          </a:xfrm>
          <a:custGeom>
            <a:avLst/>
            <a:gdLst>
              <a:gd name="connsiteX0" fmla="*/ 0 w 449865"/>
              <a:gd name="connsiteY0" fmla="*/ 600606 h 600606"/>
              <a:gd name="connsiteX1" fmla="*/ 48898 w 449865"/>
              <a:gd name="connsiteY1" fmla="*/ 307216 h 600606"/>
              <a:gd name="connsiteX2" fmla="*/ 161365 w 449865"/>
              <a:gd name="connsiteY2" fmla="*/ 48054 h 600606"/>
              <a:gd name="connsiteX3" fmla="*/ 244492 w 449865"/>
              <a:gd name="connsiteY3" fmla="*/ 4045 h 600606"/>
              <a:gd name="connsiteX4" fmla="*/ 322729 w 449865"/>
              <a:gd name="connsiteY4" fmla="*/ 101842 h 600606"/>
              <a:gd name="connsiteX5" fmla="*/ 410747 w 449865"/>
              <a:gd name="connsiteY5" fmla="*/ 307216 h 600606"/>
              <a:gd name="connsiteX6" fmla="*/ 449865 w 449865"/>
              <a:gd name="connsiteY6" fmla="*/ 600606 h 60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9865" h="600606">
                <a:moveTo>
                  <a:pt x="0" y="600606"/>
                </a:moveTo>
                <a:cubicBezTo>
                  <a:pt x="11002" y="499957"/>
                  <a:pt x="22004" y="399308"/>
                  <a:pt x="48898" y="307216"/>
                </a:cubicBezTo>
                <a:cubicBezTo>
                  <a:pt x="75792" y="215124"/>
                  <a:pt x="128766" y="98583"/>
                  <a:pt x="161365" y="48054"/>
                </a:cubicBezTo>
                <a:cubicBezTo>
                  <a:pt x="193964" y="-2475"/>
                  <a:pt x="217598" y="-4920"/>
                  <a:pt x="244492" y="4045"/>
                </a:cubicBezTo>
                <a:cubicBezTo>
                  <a:pt x="271386" y="13010"/>
                  <a:pt x="295020" y="51314"/>
                  <a:pt x="322729" y="101842"/>
                </a:cubicBezTo>
                <a:cubicBezTo>
                  <a:pt x="350438" y="152370"/>
                  <a:pt x="389558" y="224089"/>
                  <a:pt x="410747" y="307216"/>
                </a:cubicBezTo>
                <a:cubicBezTo>
                  <a:pt x="431936" y="390343"/>
                  <a:pt x="440085" y="464505"/>
                  <a:pt x="449865" y="600606"/>
                </a:cubicBezTo>
              </a:path>
            </a:pathLst>
          </a:custGeom>
          <a:noFill/>
          <a:ln w="12700">
            <a:solidFill>
              <a:srgbClr val="C00000"/>
            </a:solidFill>
            <a:prstDash val="sysDash"/>
            <a:headEnd w="lg" len="lg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3645A95-99F0-2CA4-FA6F-4E1DC5FDAE74}"/>
              </a:ext>
            </a:extLst>
          </p:cNvPr>
          <p:cNvCxnSpPr>
            <a:cxnSpLocks/>
          </p:cNvCxnSpPr>
          <p:nvPr/>
        </p:nvCxnSpPr>
        <p:spPr>
          <a:xfrm>
            <a:off x="12146294" y="7276929"/>
            <a:ext cx="110640" cy="314131"/>
          </a:xfrm>
          <a:prstGeom prst="line">
            <a:avLst/>
          </a:prstGeom>
          <a:ln w="12700">
            <a:solidFill>
              <a:schemeClr val="accent6">
                <a:lumMod val="60000"/>
                <a:lumOff val="40000"/>
              </a:schemeClr>
            </a:solidFill>
            <a:prstDash val="solid"/>
            <a:headEnd type="none" w="lg" len="lg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96832DB9-DE7B-2C20-9C16-6904EDA5836D}"/>
              </a:ext>
            </a:extLst>
          </p:cNvPr>
          <p:cNvSpPr/>
          <p:nvPr/>
        </p:nvSpPr>
        <p:spPr>
          <a:xfrm>
            <a:off x="12425892" y="7920638"/>
            <a:ext cx="899724" cy="224379"/>
          </a:xfrm>
          <a:prstGeom prst="rect">
            <a:avLst/>
          </a:prstGeom>
          <a:pattFill prst="solidDmnd">
            <a:fgClr>
              <a:srgbClr val="00B0F0"/>
            </a:fgClr>
            <a:bgClr>
              <a:schemeClr val="bg1"/>
            </a:bgClr>
          </a:patt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18B0EA6-2407-63A0-E1A3-975B7E380E91}"/>
              </a:ext>
            </a:extLst>
          </p:cNvPr>
          <p:cNvCxnSpPr>
            <a:cxnSpLocks/>
            <a:stCxn id="13" idx="1"/>
          </p:cNvCxnSpPr>
          <p:nvPr/>
        </p:nvCxnSpPr>
        <p:spPr>
          <a:xfrm flipV="1">
            <a:off x="12425892" y="7755977"/>
            <a:ext cx="96397" cy="27685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DF53AF7C-4D22-EDAC-516F-FF339F9F7F98}"/>
              </a:ext>
            </a:extLst>
          </p:cNvPr>
          <p:cNvSpPr/>
          <p:nvPr/>
        </p:nvSpPr>
        <p:spPr>
          <a:xfrm>
            <a:off x="12519322" y="5494105"/>
            <a:ext cx="719726" cy="224379"/>
          </a:xfrm>
          <a:prstGeom prst="rect">
            <a:avLst/>
          </a:prstGeom>
          <a:pattFill prst="lgConfetti">
            <a:fgClr>
              <a:srgbClr val="00B0F0"/>
            </a:fgClr>
            <a:bgClr>
              <a:schemeClr val="bg1"/>
            </a:bgClr>
          </a:patt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C63C47A-E8C8-FBBC-B21B-026D0E16B716}"/>
              </a:ext>
            </a:extLst>
          </p:cNvPr>
          <p:cNvSpPr/>
          <p:nvPr/>
        </p:nvSpPr>
        <p:spPr>
          <a:xfrm rot="10800000" flipH="1">
            <a:off x="12378589" y="5721834"/>
            <a:ext cx="140729" cy="658953"/>
          </a:xfrm>
          <a:custGeom>
            <a:avLst/>
            <a:gdLst>
              <a:gd name="connsiteX0" fmla="*/ 0 w 449865"/>
              <a:gd name="connsiteY0" fmla="*/ 600606 h 600606"/>
              <a:gd name="connsiteX1" fmla="*/ 48898 w 449865"/>
              <a:gd name="connsiteY1" fmla="*/ 307216 h 600606"/>
              <a:gd name="connsiteX2" fmla="*/ 161365 w 449865"/>
              <a:gd name="connsiteY2" fmla="*/ 48054 h 600606"/>
              <a:gd name="connsiteX3" fmla="*/ 244492 w 449865"/>
              <a:gd name="connsiteY3" fmla="*/ 4045 h 600606"/>
              <a:gd name="connsiteX4" fmla="*/ 322729 w 449865"/>
              <a:gd name="connsiteY4" fmla="*/ 101842 h 600606"/>
              <a:gd name="connsiteX5" fmla="*/ 410747 w 449865"/>
              <a:gd name="connsiteY5" fmla="*/ 307216 h 600606"/>
              <a:gd name="connsiteX6" fmla="*/ 449865 w 449865"/>
              <a:gd name="connsiteY6" fmla="*/ 600606 h 60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9865" h="600606">
                <a:moveTo>
                  <a:pt x="0" y="600606"/>
                </a:moveTo>
                <a:cubicBezTo>
                  <a:pt x="11002" y="499957"/>
                  <a:pt x="22004" y="399308"/>
                  <a:pt x="48898" y="307216"/>
                </a:cubicBezTo>
                <a:cubicBezTo>
                  <a:pt x="75792" y="215124"/>
                  <a:pt x="128766" y="98583"/>
                  <a:pt x="161365" y="48054"/>
                </a:cubicBezTo>
                <a:cubicBezTo>
                  <a:pt x="193964" y="-2475"/>
                  <a:pt x="217598" y="-4920"/>
                  <a:pt x="244492" y="4045"/>
                </a:cubicBezTo>
                <a:cubicBezTo>
                  <a:pt x="271386" y="13010"/>
                  <a:pt x="295020" y="51314"/>
                  <a:pt x="322729" y="101842"/>
                </a:cubicBezTo>
                <a:cubicBezTo>
                  <a:pt x="350438" y="152370"/>
                  <a:pt x="389558" y="224089"/>
                  <a:pt x="410747" y="307216"/>
                </a:cubicBezTo>
                <a:cubicBezTo>
                  <a:pt x="431936" y="390343"/>
                  <a:pt x="440085" y="464505"/>
                  <a:pt x="449865" y="600606"/>
                </a:cubicBezTo>
              </a:path>
            </a:pathLst>
          </a:custGeom>
          <a:noFill/>
          <a:ln w="12700">
            <a:solidFill>
              <a:srgbClr val="C00000"/>
            </a:solidFill>
            <a:prstDash val="sysDash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F4D0A6FA-7491-3D67-CDD5-FB8AED3BF9A1}"/>
              </a:ext>
            </a:extLst>
          </p:cNvPr>
          <p:cNvSpPr/>
          <p:nvPr/>
        </p:nvSpPr>
        <p:spPr>
          <a:xfrm>
            <a:off x="12660051" y="5868022"/>
            <a:ext cx="316115" cy="299172"/>
          </a:xfrm>
          <a:prstGeom prst="diamond">
            <a:avLst/>
          </a:prstGeom>
          <a:pattFill prst="dkVert">
            <a:fgClr>
              <a:srgbClr val="C00000"/>
            </a:fgClr>
            <a:bgClr>
              <a:schemeClr val="bg1"/>
            </a:bgClr>
          </a:patt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E7BEC1A-8BC0-5F4A-6132-C55229501E79}"/>
              </a:ext>
            </a:extLst>
          </p:cNvPr>
          <p:cNvCxnSpPr>
            <a:cxnSpLocks/>
            <a:stCxn id="16" idx="6"/>
            <a:endCxn id="17" idx="1"/>
          </p:cNvCxnSpPr>
          <p:nvPr/>
        </p:nvCxnSpPr>
        <p:spPr>
          <a:xfrm>
            <a:off x="12519318" y="5721834"/>
            <a:ext cx="140733" cy="295774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Diamond 18">
            <a:extLst>
              <a:ext uri="{FF2B5EF4-FFF2-40B4-BE49-F238E27FC236}">
                <a16:creationId xmlns:a16="http://schemas.microsoft.com/office/drawing/2014/main" id="{7AE32C04-7ABC-45BE-ADF4-A1834DDEEEAA}"/>
              </a:ext>
            </a:extLst>
          </p:cNvPr>
          <p:cNvSpPr/>
          <p:nvPr/>
        </p:nvSpPr>
        <p:spPr>
          <a:xfrm>
            <a:off x="13083668" y="5618882"/>
            <a:ext cx="316115" cy="299172"/>
          </a:xfrm>
          <a:prstGeom prst="diamond">
            <a:avLst/>
          </a:prstGeom>
          <a:pattFill prst="wdUpDiag">
            <a:fgClr>
              <a:srgbClr val="00B0F0"/>
            </a:fgClr>
            <a:bgClr>
              <a:schemeClr val="bg1"/>
            </a:bgClr>
          </a:patt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FC179EB-7911-9F7B-2F59-303B31FADB31}"/>
              </a:ext>
            </a:extLst>
          </p:cNvPr>
          <p:cNvSpPr/>
          <p:nvPr/>
        </p:nvSpPr>
        <p:spPr>
          <a:xfrm>
            <a:off x="13325616" y="7920862"/>
            <a:ext cx="371451" cy="224379"/>
          </a:xfrm>
          <a:prstGeom prst="rect">
            <a:avLst/>
          </a:prstGeom>
          <a:pattFill prst="lgConfetti">
            <a:fgClr>
              <a:srgbClr val="00B0F0"/>
            </a:fgClr>
            <a:bgClr>
              <a:schemeClr val="bg1"/>
            </a:bgClr>
          </a:patt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Diamond 20">
            <a:extLst>
              <a:ext uri="{FF2B5EF4-FFF2-40B4-BE49-F238E27FC236}">
                <a16:creationId xmlns:a16="http://schemas.microsoft.com/office/drawing/2014/main" id="{3CA8249B-DBE5-464B-D69D-D430314AED47}"/>
              </a:ext>
            </a:extLst>
          </p:cNvPr>
          <p:cNvSpPr/>
          <p:nvPr/>
        </p:nvSpPr>
        <p:spPr>
          <a:xfrm>
            <a:off x="13538293" y="8070833"/>
            <a:ext cx="316115" cy="299172"/>
          </a:xfrm>
          <a:prstGeom prst="diamond">
            <a:avLst/>
          </a:prstGeom>
          <a:pattFill prst="wdUpDiag">
            <a:fgClr>
              <a:srgbClr val="00B0F0"/>
            </a:fgClr>
            <a:bgClr>
              <a:schemeClr val="bg1"/>
            </a:bgClr>
          </a:patt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ECD8FD-63C8-0670-D5E8-17893597EB84}"/>
              </a:ext>
            </a:extLst>
          </p:cNvPr>
          <p:cNvSpPr/>
          <p:nvPr/>
        </p:nvSpPr>
        <p:spPr>
          <a:xfrm>
            <a:off x="11803480" y="6391081"/>
            <a:ext cx="158058" cy="224379"/>
          </a:xfrm>
          <a:prstGeom prst="rect">
            <a:avLst/>
          </a:prstGeom>
          <a:pattFill prst="sphere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63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Diamond 22">
            <a:extLst>
              <a:ext uri="{FF2B5EF4-FFF2-40B4-BE49-F238E27FC236}">
                <a16:creationId xmlns:a16="http://schemas.microsoft.com/office/drawing/2014/main" id="{A54A8610-3E18-433E-AD58-586BD0719529}"/>
              </a:ext>
            </a:extLst>
          </p:cNvPr>
          <p:cNvSpPr/>
          <p:nvPr/>
        </p:nvSpPr>
        <p:spPr>
          <a:xfrm>
            <a:off x="13326375" y="7482024"/>
            <a:ext cx="316115" cy="299172"/>
          </a:xfrm>
          <a:prstGeom prst="diamond">
            <a:avLst/>
          </a:prstGeom>
          <a:pattFill prst="dkVert">
            <a:fgClr>
              <a:srgbClr val="C00000"/>
            </a:fgClr>
            <a:bgClr>
              <a:schemeClr val="bg1"/>
            </a:bgClr>
          </a:patt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2277C960-ECEB-2A62-BCD0-E1B4E8D0F2DB}"/>
              </a:ext>
            </a:extLst>
          </p:cNvPr>
          <p:cNvGrpSpPr/>
          <p:nvPr/>
        </p:nvGrpSpPr>
        <p:grpSpPr>
          <a:xfrm>
            <a:off x="8376583" y="5437586"/>
            <a:ext cx="5673539" cy="2840827"/>
            <a:chOff x="1735230" y="1191619"/>
            <a:chExt cx="5673539" cy="2840827"/>
          </a:xfrm>
        </p:grpSpPr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1D3B3A01-065C-92AC-4CDF-57D65201964B}"/>
                </a:ext>
              </a:extLst>
            </p:cNvPr>
            <p:cNvCxnSpPr>
              <a:cxnSpLocks/>
            </p:cNvCxnSpPr>
            <p:nvPr/>
          </p:nvCxnSpPr>
          <p:spPr>
            <a:xfrm>
              <a:off x="2667038" y="3787551"/>
              <a:ext cx="4741731" cy="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47E3B00F-3252-5352-CE97-D0DC2B65DC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038" y="1353370"/>
              <a:ext cx="4741731" cy="581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A9313C41-4B77-3E53-03B7-9785EE99D726}"/>
                </a:ext>
              </a:extLst>
            </p:cNvPr>
            <p:cNvSpPr/>
            <p:nvPr/>
          </p:nvSpPr>
          <p:spPr>
            <a:xfrm>
              <a:off x="3009883" y="1242101"/>
              <a:ext cx="474173" cy="224379"/>
            </a:xfrm>
            <a:prstGeom prst="rect">
              <a:avLst/>
            </a:prstGeom>
            <a:pattFill prst="dkHorz">
              <a:fgClr>
                <a:srgbClr val="00B0F0"/>
              </a:fgClr>
              <a:bgClr>
                <a:schemeClr val="bg1"/>
              </a:bgClr>
            </a:patt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3182CBC0-4D80-B8B6-07C2-BA0680AF86BA}"/>
                </a:ext>
              </a:extLst>
            </p:cNvPr>
            <p:cNvSpPr/>
            <p:nvPr/>
          </p:nvSpPr>
          <p:spPr>
            <a:xfrm>
              <a:off x="3484060" y="1241666"/>
              <a:ext cx="338808" cy="224379"/>
            </a:xfrm>
            <a:prstGeom prst="rect">
              <a:avLst/>
            </a:prstGeom>
            <a:pattFill prst="wdDnDiag">
              <a:fgClr>
                <a:srgbClr val="00B0F0"/>
              </a:fgClr>
              <a:bgClr>
                <a:schemeClr val="bg1"/>
              </a:bgClr>
            </a:patt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" name="5-Point Star 105">
              <a:extLst>
                <a:ext uri="{FF2B5EF4-FFF2-40B4-BE49-F238E27FC236}">
                  <a16:creationId xmlns:a16="http://schemas.microsoft.com/office/drawing/2014/main" id="{66DB883D-5AD9-6074-C784-6078262BEA8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56112" y="3176033"/>
              <a:ext cx="305602" cy="299172"/>
            </a:xfrm>
            <a:prstGeom prst="star5">
              <a:avLst/>
            </a:prstGeom>
            <a:pattFill prst="dkVert">
              <a:fgClr>
                <a:srgbClr val="C00000"/>
              </a:fgClr>
              <a:bgClr>
                <a:schemeClr val="bg1"/>
              </a:bgClr>
            </a:patt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BAA66B0B-7CA8-6E57-6891-FAA66E9C1F8D}"/>
                </a:ext>
              </a:extLst>
            </p:cNvPr>
            <p:cNvCxnSpPr>
              <a:cxnSpLocks/>
            </p:cNvCxnSpPr>
            <p:nvPr/>
          </p:nvCxnSpPr>
          <p:spPr>
            <a:xfrm>
              <a:off x="2667038" y="1753535"/>
              <a:ext cx="4741731" cy="0"/>
            </a:xfrm>
            <a:prstGeom prst="line">
              <a:avLst/>
            </a:prstGeom>
            <a:ln w="1905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982DFCEB-51AE-6F8A-B783-1CDF854C9519}"/>
                </a:ext>
              </a:extLst>
            </p:cNvPr>
            <p:cNvSpPr txBox="1"/>
            <p:nvPr/>
          </p:nvSpPr>
          <p:spPr>
            <a:xfrm>
              <a:off x="1738336" y="1191619"/>
              <a:ext cx="807513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000">
                  <a:latin typeface="Calibri" panose="020F0502020204030204" pitchFamily="34" charset="0"/>
                  <a:cs typeface="Calibri" panose="020F0502020204030204" pitchFamily="34" charset="0"/>
                </a:rPr>
                <a:t>CPU</a:t>
              </a:r>
              <a:endParaRPr lang="en-US" sz="2000" baseline="-25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FB70BE27-3AE8-B1F4-0D18-32954704D9ED}"/>
                </a:ext>
              </a:extLst>
            </p:cNvPr>
            <p:cNvCxnSpPr>
              <a:cxnSpLocks/>
            </p:cNvCxnSpPr>
            <p:nvPr/>
          </p:nvCxnSpPr>
          <p:spPr>
            <a:xfrm>
              <a:off x="2667038" y="2161710"/>
              <a:ext cx="4741731" cy="0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CD8A6D91-6C08-F691-8901-6F159AB2ACD5}"/>
                </a:ext>
              </a:extLst>
            </p:cNvPr>
            <p:cNvSpPr txBox="1"/>
            <p:nvPr/>
          </p:nvSpPr>
          <p:spPr>
            <a:xfrm>
              <a:off x="1792948" y="1998002"/>
              <a:ext cx="698290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NIC</a:t>
              </a:r>
              <a:endParaRPr lang="en-US" sz="2000" baseline="-250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EC1B0CFF-2D6B-2E86-AC6D-0F11E80FA2D4}"/>
                </a:ext>
              </a:extLst>
            </p:cNvPr>
            <p:cNvSpPr txBox="1"/>
            <p:nvPr/>
          </p:nvSpPr>
          <p:spPr>
            <a:xfrm>
              <a:off x="1735230" y="1576177"/>
              <a:ext cx="81372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000">
                  <a:latin typeface="Calibri" panose="020F0502020204030204" pitchFamily="34" charset="0"/>
                  <a:cs typeface="Calibri" panose="020F0502020204030204" pitchFamily="34" charset="0"/>
                </a:rPr>
                <a:t>GPU</a:t>
              </a:r>
              <a:endParaRPr lang="en-US" sz="2000" baseline="-25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022509CD-9163-3CFE-D56E-F8B1D348AB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038" y="2979794"/>
              <a:ext cx="4741731" cy="581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849A2C98-E68C-2A58-EFDD-1DA6FA830944}"/>
                </a:ext>
              </a:extLst>
            </p:cNvPr>
            <p:cNvSpPr txBox="1"/>
            <p:nvPr/>
          </p:nvSpPr>
          <p:spPr>
            <a:xfrm>
              <a:off x="1792948" y="2794765"/>
              <a:ext cx="698290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000">
                  <a:latin typeface="Calibri" panose="020F0502020204030204" pitchFamily="34" charset="0"/>
                  <a:cs typeface="Calibri" panose="020F0502020204030204" pitchFamily="34" charset="0"/>
                </a:rPr>
                <a:t>NIC</a:t>
              </a:r>
              <a:endParaRPr lang="en-US" sz="2000" baseline="-25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4AE2C4CD-25C7-E172-8BB2-9BCC30FD2F60}"/>
                </a:ext>
              </a:extLst>
            </p:cNvPr>
            <p:cNvSpPr txBox="1"/>
            <p:nvPr/>
          </p:nvSpPr>
          <p:spPr>
            <a:xfrm>
              <a:off x="1747465" y="3600786"/>
              <a:ext cx="789255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000">
                  <a:latin typeface="Calibri" panose="020F0502020204030204" pitchFamily="34" charset="0"/>
                  <a:cs typeface="Calibri" panose="020F0502020204030204" pitchFamily="34" charset="0"/>
                </a:rPr>
                <a:t>CPU</a:t>
              </a:r>
              <a:endParaRPr lang="en-US" sz="2000" baseline="-25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A985D3EB-9B16-753A-7A5A-1D75BBE48056}"/>
                </a:ext>
              </a:extLst>
            </p:cNvPr>
            <p:cNvSpPr txBox="1"/>
            <p:nvPr/>
          </p:nvSpPr>
          <p:spPr>
            <a:xfrm>
              <a:off x="1735232" y="3199420"/>
              <a:ext cx="813722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000">
                  <a:latin typeface="Calibri" panose="020F0502020204030204" pitchFamily="34" charset="0"/>
                  <a:cs typeface="Calibri" panose="020F0502020204030204" pitchFamily="34" charset="0"/>
                </a:rPr>
                <a:t>GPU</a:t>
              </a:r>
              <a:endParaRPr lang="en-US" sz="2000" baseline="-25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86E40F62-C26C-3B90-0011-5670E4C19F80}"/>
                </a:ext>
              </a:extLst>
            </p:cNvPr>
            <p:cNvCxnSpPr>
              <a:cxnSpLocks/>
            </p:cNvCxnSpPr>
            <p:nvPr/>
          </p:nvCxnSpPr>
          <p:spPr>
            <a:xfrm>
              <a:off x="2667038" y="3382772"/>
              <a:ext cx="4741731" cy="0"/>
            </a:xfrm>
            <a:prstGeom prst="line">
              <a:avLst/>
            </a:prstGeom>
            <a:ln w="1905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0AF0181F-0BFC-ADCD-3AE5-8E8F533C67ED}"/>
                </a:ext>
              </a:extLst>
            </p:cNvPr>
            <p:cNvSpPr/>
            <p:nvPr/>
          </p:nvSpPr>
          <p:spPr>
            <a:xfrm>
              <a:off x="3040639" y="3681251"/>
              <a:ext cx="474173" cy="223857"/>
            </a:xfrm>
            <a:prstGeom prst="rect">
              <a:avLst/>
            </a:prstGeom>
            <a:pattFill prst="dkHorz">
              <a:fgClr>
                <a:srgbClr val="00B0F0"/>
              </a:fgClr>
              <a:bgClr>
                <a:schemeClr val="bg1"/>
              </a:bgClr>
            </a:patt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455815EB-1775-79C0-30C8-CCCCF4550595}"/>
                </a:ext>
              </a:extLst>
            </p:cNvPr>
            <p:cNvSpPr/>
            <p:nvPr/>
          </p:nvSpPr>
          <p:spPr>
            <a:xfrm>
              <a:off x="3437597" y="3680989"/>
              <a:ext cx="305602" cy="224379"/>
            </a:xfrm>
            <a:prstGeom prst="rect">
              <a:avLst/>
            </a:prstGeom>
            <a:pattFill prst="wdDnDiag">
              <a:fgClr>
                <a:srgbClr val="00B0F0"/>
              </a:fgClr>
              <a:bgClr>
                <a:schemeClr val="bg1"/>
              </a:bgClr>
            </a:patt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9" name="5-Point Star 118">
              <a:extLst>
                <a:ext uri="{FF2B5EF4-FFF2-40B4-BE49-F238E27FC236}">
                  <a16:creationId xmlns:a16="http://schemas.microsoft.com/office/drawing/2014/main" id="{CD729C3C-79A8-74CA-C507-C1CF24A2C9A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97468" y="3733274"/>
              <a:ext cx="305602" cy="299172"/>
            </a:xfrm>
            <a:prstGeom prst="star5">
              <a:avLst/>
            </a:prstGeom>
            <a:pattFill prst="wdUpDiag">
              <a:fgClr>
                <a:srgbClr val="00B0F0"/>
              </a:fgClr>
              <a:bgClr>
                <a:schemeClr val="bg1"/>
              </a:bgClr>
            </a:patt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20" name="Rectangle 119">
            <a:extLst>
              <a:ext uri="{FF2B5EF4-FFF2-40B4-BE49-F238E27FC236}">
                <a16:creationId xmlns:a16="http://schemas.microsoft.com/office/drawing/2014/main" id="{C549F034-8B01-0590-E3A1-80DFA5963E36}"/>
              </a:ext>
            </a:extLst>
          </p:cNvPr>
          <p:cNvSpPr/>
          <p:nvPr/>
        </p:nvSpPr>
        <p:spPr>
          <a:xfrm>
            <a:off x="11485831" y="6391081"/>
            <a:ext cx="316115" cy="224379"/>
          </a:xfrm>
          <a:prstGeom prst="rect">
            <a:avLst/>
          </a:prstGeom>
          <a:pattFill prst="dkHorz">
            <a:fgClr>
              <a:srgbClr val="FFC000"/>
            </a:fgClr>
            <a:bgClr>
              <a:schemeClr val="bg1"/>
            </a:bgClr>
          </a:patt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1" name="Freeform 120">
            <a:extLst>
              <a:ext uri="{FF2B5EF4-FFF2-40B4-BE49-F238E27FC236}">
                <a16:creationId xmlns:a16="http://schemas.microsoft.com/office/drawing/2014/main" id="{D1C78455-2B55-8AD5-90F3-1F8BC933BE6A}"/>
              </a:ext>
            </a:extLst>
          </p:cNvPr>
          <p:cNvSpPr/>
          <p:nvPr/>
        </p:nvSpPr>
        <p:spPr>
          <a:xfrm rot="10800000" flipH="1">
            <a:off x="10893630" y="5720336"/>
            <a:ext cx="111149" cy="166182"/>
          </a:xfrm>
          <a:custGeom>
            <a:avLst/>
            <a:gdLst>
              <a:gd name="connsiteX0" fmla="*/ 0 w 449865"/>
              <a:gd name="connsiteY0" fmla="*/ 600606 h 600606"/>
              <a:gd name="connsiteX1" fmla="*/ 48898 w 449865"/>
              <a:gd name="connsiteY1" fmla="*/ 307216 h 600606"/>
              <a:gd name="connsiteX2" fmla="*/ 161365 w 449865"/>
              <a:gd name="connsiteY2" fmla="*/ 48054 h 600606"/>
              <a:gd name="connsiteX3" fmla="*/ 244492 w 449865"/>
              <a:gd name="connsiteY3" fmla="*/ 4045 h 600606"/>
              <a:gd name="connsiteX4" fmla="*/ 322729 w 449865"/>
              <a:gd name="connsiteY4" fmla="*/ 101842 h 600606"/>
              <a:gd name="connsiteX5" fmla="*/ 410747 w 449865"/>
              <a:gd name="connsiteY5" fmla="*/ 307216 h 600606"/>
              <a:gd name="connsiteX6" fmla="*/ 449865 w 449865"/>
              <a:gd name="connsiteY6" fmla="*/ 600606 h 60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9865" h="600606">
                <a:moveTo>
                  <a:pt x="0" y="600606"/>
                </a:moveTo>
                <a:cubicBezTo>
                  <a:pt x="11002" y="499957"/>
                  <a:pt x="22004" y="399308"/>
                  <a:pt x="48898" y="307216"/>
                </a:cubicBezTo>
                <a:cubicBezTo>
                  <a:pt x="75792" y="215124"/>
                  <a:pt x="128766" y="98583"/>
                  <a:pt x="161365" y="48054"/>
                </a:cubicBezTo>
                <a:cubicBezTo>
                  <a:pt x="193964" y="-2475"/>
                  <a:pt x="217598" y="-4920"/>
                  <a:pt x="244492" y="4045"/>
                </a:cubicBezTo>
                <a:cubicBezTo>
                  <a:pt x="271386" y="13010"/>
                  <a:pt x="295020" y="51314"/>
                  <a:pt x="322729" y="101842"/>
                </a:cubicBezTo>
                <a:cubicBezTo>
                  <a:pt x="350438" y="152370"/>
                  <a:pt x="389558" y="224089"/>
                  <a:pt x="410747" y="307216"/>
                </a:cubicBezTo>
                <a:cubicBezTo>
                  <a:pt x="431936" y="390343"/>
                  <a:pt x="440085" y="464505"/>
                  <a:pt x="449865" y="600606"/>
                </a:cubicBezTo>
              </a:path>
            </a:pathLst>
          </a:custGeom>
          <a:noFill/>
          <a:ln w="12700">
            <a:solidFill>
              <a:srgbClr val="0070C0"/>
            </a:solidFill>
            <a:prstDash val="sysDash"/>
            <a:tailEnd type="stealth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2" name="Right Arrow 121">
            <a:extLst>
              <a:ext uri="{FF2B5EF4-FFF2-40B4-BE49-F238E27FC236}">
                <a16:creationId xmlns:a16="http://schemas.microsoft.com/office/drawing/2014/main" id="{1CE8325E-B3CB-025F-DE7E-5E075451ECE1}"/>
              </a:ext>
            </a:extLst>
          </p:cNvPr>
          <p:cNvSpPr/>
          <p:nvPr/>
        </p:nvSpPr>
        <p:spPr>
          <a:xfrm rot="3733896">
            <a:off x="11616043" y="6878943"/>
            <a:ext cx="650770" cy="79027"/>
          </a:xfrm>
          <a:prstGeom prst="rightArrow">
            <a:avLst>
              <a:gd name="adj1" fmla="val 44194"/>
              <a:gd name="adj2" fmla="val 129749"/>
            </a:avLst>
          </a:prstGeom>
          <a:solidFill>
            <a:srgbClr val="FFAB00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3" name="Right Arrow 122">
            <a:extLst>
              <a:ext uri="{FF2B5EF4-FFF2-40B4-BE49-F238E27FC236}">
                <a16:creationId xmlns:a16="http://schemas.microsoft.com/office/drawing/2014/main" id="{EEC479C4-66E9-9E25-B705-95A5F7D403B5}"/>
              </a:ext>
            </a:extLst>
          </p:cNvPr>
          <p:cNvSpPr/>
          <p:nvPr/>
        </p:nvSpPr>
        <p:spPr>
          <a:xfrm rot="3733896">
            <a:off x="11312868" y="6878943"/>
            <a:ext cx="650770" cy="79027"/>
          </a:xfrm>
          <a:prstGeom prst="rightArrow">
            <a:avLst>
              <a:gd name="adj1" fmla="val 44194"/>
              <a:gd name="adj2" fmla="val 129749"/>
            </a:avLst>
          </a:prstGeom>
          <a:solidFill>
            <a:srgbClr val="FFAB00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811DE5FF-363C-1E0C-2265-E680F5A0D3EA}"/>
              </a:ext>
            </a:extLst>
          </p:cNvPr>
          <p:cNvSpPr/>
          <p:nvPr/>
        </p:nvSpPr>
        <p:spPr>
          <a:xfrm>
            <a:off x="11010266" y="5487633"/>
            <a:ext cx="269530" cy="224379"/>
          </a:xfrm>
          <a:prstGeom prst="rect">
            <a:avLst/>
          </a:prstGeom>
          <a:pattFill prst="dkVert">
            <a:fgClr>
              <a:srgbClr val="00B0F0"/>
            </a:fgClr>
            <a:bgClr>
              <a:schemeClr val="bg1"/>
            </a:bgClr>
          </a:patt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C9F0C126-6BA3-A561-EA44-D44A1E37D141}"/>
              </a:ext>
            </a:extLst>
          </p:cNvPr>
          <p:cNvCxnSpPr>
            <a:cxnSpLocks/>
          </p:cNvCxnSpPr>
          <p:nvPr/>
        </p:nvCxnSpPr>
        <p:spPr>
          <a:xfrm>
            <a:off x="11165757" y="5712012"/>
            <a:ext cx="126446" cy="661964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A7A18B55-A5AC-80F9-DDB9-EAD9BF6EC7B4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13172300" y="7773499"/>
            <a:ext cx="153316" cy="259552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Rectangle 126">
            <a:extLst>
              <a:ext uri="{FF2B5EF4-FFF2-40B4-BE49-F238E27FC236}">
                <a16:creationId xmlns:a16="http://schemas.microsoft.com/office/drawing/2014/main" id="{7362450C-268A-3785-F1FD-96F0F661E45D}"/>
              </a:ext>
            </a:extLst>
          </p:cNvPr>
          <p:cNvSpPr>
            <a:spLocks/>
          </p:cNvSpPr>
          <p:nvPr/>
        </p:nvSpPr>
        <p:spPr>
          <a:xfrm>
            <a:off x="12526843" y="7507785"/>
            <a:ext cx="645458" cy="224379"/>
          </a:xfrm>
          <a:prstGeom prst="rect">
            <a:avLst/>
          </a:prstGeom>
          <a:pattFill prst="smGrid">
            <a:fgClr>
              <a:srgbClr val="C00000"/>
            </a:fgClr>
            <a:bgClr>
              <a:schemeClr val="bg1"/>
            </a:bgClr>
          </a:patt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8" name="Freeform 127">
            <a:extLst>
              <a:ext uri="{FF2B5EF4-FFF2-40B4-BE49-F238E27FC236}">
                <a16:creationId xmlns:a16="http://schemas.microsoft.com/office/drawing/2014/main" id="{C74BC1ED-D1E6-3214-F6BE-C76FEDDC3939}"/>
              </a:ext>
            </a:extLst>
          </p:cNvPr>
          <p:cNvSpPr/>
          <p:nvPr/>
        </p:nvSpPr>
        <p:spPr>
          <a:xfrm rot="10800000" flipH="1" flipV="1">
            <a:off x="10923972" y="6695869"/>
            <a:ext cx="267167" cy="132717"/>
          </a:xfrm>
          <a:custGeom>
            <a:avLst/>
            <a:gdLst>
              <a:gd name="connsiteX0" fmla="*/ 0 w 449865"/>
              <a:gd name="connsiteY0" fmla="*/ 600606 h 600606"/>
              <a:gd name="connsiteX1" fmla="*/ 48898 w 449865"/>
              <a:gd name="connsiteY1" fmla="*/ 307216 h 600606"/>
              <a:gd name="connsiteX2" fmla="*/ 161365 w 449865"/>
              <a:gd name="connsiteY2" fmla="*/ 48054 h 600606"/>
              <a:gd name="connsiteX3" fmla="*/ 244492 w 449865"/>
              <a:gd name="connsiteY3" fmla="*/ 4045 h 600606"/>
              <a:gd name="connsiteX4" fmla="*/ 322729 w 449865"/>
              <a:gd name="connsiteY4" fmla="*/ 101842 h 600606"/>
              <a:gd name="connsiteX5" fmla="*/ 410747 w 449865"/>
              <a:gd name="connsiteY5" fmla="*/ 307216 h 600606"/>
              <a:gd name="connsiteX6" fmla="*/ 449865 w 449865"/>
              <a:gd name="connsiteY6" fmla="*/ 600606 h 60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9865" h="600606">
                <a:moveTo>
                  <a:pt x="0" y="600606"/>
                </a:moveTo>
                <a:cubicBezTo>
                  <a:pt x="11002" y="499957"/>
                  <a:pt x="22004" y="399308"/>
                  <a:pt x="48898" y="307216"/>
                </a:cubicBezTo>
                <a:cubicBezTo>
                  <a:pt x="75792" y="215124"/>
                  <a:pt x="128766" y="98583"/>
                  <a:pt x="161365" y="48054"/>
                </a:cubicBezTo>
                <a:cubicBezTo>
                  <a:pt x="193964" y="-2475"/>
                  <a:pt x="217598" y="-4920"/>
                  <a:pt x="244492" y="4045"/>
                </a:cubicBezTo>
                <a:cubicBezTo>
                  <a:pt x="271386" y="13010"/>
                  <a:pt x="295020" y="51314"/>
                  <a:pt x="322729" y="101842"/>
                </a:cubicBezTo>
                <a:cubicBezTo>
                  <a:pt x="350438" y="152370"/>
                  <a:pt x="389558" y="224089"/>
                  <a:pt x="410747" y="307216"/>
                </a:cubicBezTo>
                <a:cubicBezTo>
                  <a:pt x="431936" y="390343"/>
                  <a:pt x="440085" y="464505"/>
                  <a:pt x="449865" y="600606"/>
                </a:cubicBezTo>
              </a:path>
            </a:pathLst>
          </a:custGeom>
          <a:noFill/>
          <a:ln w="12700">
            <a:solidFill>
              <a:srgbClr val="0070C0"/>
            </a:solidFill>
            <a:prstDash val="solid"/>
            <a:tailEnd type="stealth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BC3B97DF-D624-21B7-4230-4DCE745CBA1C}"/>
              </a:ext>
            </a:extLst>
          </p:cNvPr>
          <p:cNvSpPr/>
          <p:nvPr/>
        </p:nvSpPr>
        <p:spPr>
          <a:xfrm>
            <a:off x="10735861" y="6773147"/>
            <a:ext cx="315725" cy="137423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53018C40-A392-21D6-258B-01FEC30A5D56}"/>
              </a:ext>
            </a:extLst>
          </p:cNvPr>
          <p:cNvSpPr/>
          <p:nvPr/>
        </p:nvSpPr>
        <p:spPr>
          <a:xfrm>
            <a:off x="11139222" y="6266048"/>
            <a:ext cx="459698" cy="245513"/>
          </a:xfrm>
          <a:prstGeom prst="ellipse">
            <a:avLst/>
          </a:prstGeom>
          <a:noFill/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D1FE9CB9-7287-8688-65FE-074CD8F36981}"/>
              </a:ext>
            </a:extLst>
          </p:cNvPr>
          <p:cNvCxnSpPr>
            <a:cxnSpLocks/>
            <a:stCxn id="130" idx="3"/>
          </p:cNvCxnSpPr>
          <p:nvPr/>
        </p:nvCxnSpPr>
        <p:spPr>
          <a:xfrm flipH="1">
            <a:off x="11020396" y="6475606"/>
            <a:ext cx="186148" cy="148408"/>
          </a:xfrm>
          <a:prstGeom prst="line">
            <a:avLst/>
          </a:prstGeom>
          <a:ln w="6350">
            <a:solidFill>
              <a:schemeClr val="tx1"/>
            </a:solidFill>
            <a:prstDash val="solid"/>
            <a:headEnd type="none" w="lg" len="lg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Rectangle 131">
            <a:extLst>
              <a:ext uri="{FF2B5EF4-FFF2-40B4-BE49-F238E27FC236}">
                <a16:creationId xmlns:a16="http://schemas.microsoft.com/office/drawing/2014/main" id="{14F542EA-4EC5-3945-D31F-31E050B30FF9}"/>
              </a:ext>
            </a:extLst>
          </p:cNvPr>
          <p:cNvSpPr/>
          <p:nvPr/>
        </p:nvSpPr>
        <p:spPr>
          <a:xfrm>
            <a:off x="13200422" y="6715224"/>
            <a:ext cx="315725" cy="137423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47D7BA42-E7E4-656C-111F-8B3A6CF26293}"/>
              </a:ext>
            </a:extLst>
          </p:cNvPr>
          <p:cNvCxnSpPr>
            <a:cxnSpLocks/>
            <a:stCxn id="134" idx="6"/>
            <a:endCxn id="142" idx="2"/>
          </p:cNvCxnSpPr>
          <p:nvPr/>
        </p:nvCxnSpPr>
        <p:spPr>
          <a:xfrm>
            <a:off x="12635955" y="6494010"/>
            <a:ext cx="476555" cy="289964"/>
          </a:xfrm>
          <a:prstGeom prst="line">
            <a:avLst/>
          </a:prstGeom>
          <a:ln w="6350">
            <a:solidFill>
              <a:schemeClr val="tx1"/>
            </a:solidFill>
            <a:prstDash val="solid"/>
            <a:headEnd type="none" w="lg" len="lg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Oval 133">
            <a:extLst>
              <a:ext uri="{FF2B5EF4-FFF2-40B4-BE49-F238E27FC236}">
                <a16:creationId xmlns:a16="http://schemas.microsoft.com/office/drawing/2014/main" id="{D6EAA47A-93FC-5894-89F7-0DF0DB1D4CBF}"/>
              </a:ext>
            </a:extLst>
          </p:cNvPr>
          <p:cNvSpPr/>
          <p:nvPr/>
        </p:nvSpPr>
        <p:spPr>
          <a:xfrm>
            <a:off x="12319132" y="6322658"/>
            <a:ext cx="316822" cy="342702"/>
          </a:xfrm>
          <a:prstGeom prst="ellipse">
            <a:avLst/>
          </a:prstGeom>
          <a:noFill/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5" name="Graphic 134" descr="Badge with solid fill">
            <a:extLst>
              <a:ext uri="{FF2B5EF4-FFF2-40B4-BE49-F238E27FC236}">
                <a16:creationId xmlns:a16="http://schemas.microsoft.com/office/drawing/2014/main" id="{92690217-4997-5D8E-D52D-9923B6A921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30024" y="5582376"/>
            <a:ext cx="474173" cy="448758"/>
          </a:xfrm>
          <a:prstGeom prst="rect">
            <a:avLst/>
          </a:prstGeom>
        </p:spPr>
      </p:pic>
      <p:pic>
        <p:nvPicPr>
          <p:cNvPr id="136" name="Graphic 135" descr="Badge 3 with solid fill">
            <a:extLst>
              <a:ext uri="{FF2B5EF4-FFF2-40B4-BE49-F238E27FC236}">
                <a16:creationId xmlns:a16="http://schemas.microsoft.com/office/drawing/2014/main" id="{2B47A92C-67E7-D98C-B45C-CC8FF18721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54958" y="6595655"/>
            <a:ext cx="474173" cy="448758"/>
          </a:xfrm>
          <a:prstGeom prst="rect">
            <a:avLst/>
          </a:prstGeom>
        </p:spPr>
      </p:pic>
      <p:pic>
        <p:nvPicPr>
          <p:cNvPr id="137" name="Graphic 136" descr="Badge 4 with solid fill">
            <a:extLst>
              <a:ext uri="{FF2B5EF4-FFF2-40B4-BE49-F238E27FC236}">
                <a16:creationId xmlns:a16="http://schemas.microsoft.com/office/drawing/2014/main" id="{51DDFF04-E3C7-CB23-C1B4-AECDA144FE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429522" y="6781687"/>
            <a:ext cx="474173" cy="448758"/>
          </a:xfrm>
          <a:prstGeom prst="rect">
            <a:avLst/>
          </a:prstGeom>
        </p:spPr>
      </p:pic>
      <p:pic>
        <p:nvPicPr>
          <p:cNvPr id="138" name="Graphic 137" descr="Badge 5 with solid fill">
            <a:extLst>
              <a:ext uri="{FF2B5EF4-FFF2-40B4-BE49-F238E27FC236}">
                <a16:creationId xmlns:a16="http://schemas.microsoft.com/office/drawing/2014/main" id="{40424EC7-09DB-EF64-CA1E-A364B8EA24C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498448" y="6564592"/>
            <a:ext cx="474173" cy="448758"/>
          </a:xfrm>
          <a:prstGeom prst="rect">
            <a:avLst/>
          </a:prstGeom>
        </p:spPr>
      </p:pic>
      <p:pic>
        <p:nvPicPr>
          <p:cNvPr id="139" name="Graphic 138" descr="Badge 6 with solid fill">
            <a:extLst>
              <a:ext uri="{FF2B5EF4-FFF2-40B4-BE49-F238E27FC236}">
                <a16:creationId xmlns:a16="http://schemas.microsoft.com/office/drawing/2014/main" id="{B134E60B-BC01-E89D-AEC3-0BE737B0DB4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816470" y="5582826"/>
            <a:ext cx="474173" cy="448758"/>
          </a:xfrm>
          <a:prstGeom prst="rect">
            <a:avLst/>
          </a:prstGeom>
        </p:spPr>
      </p:pic>
      <p:pic>
        <p:nvPicPr>
          <p:cNvPr id="140" name="Graphic 139" descr="Badge 7 with solid fill">
            <a:extLst>
              <a:ext uri="{FF2B5EF4-FFF2-40B4-BE49-F238E27FC236}">
                <a16:creationId xmlns:a16="http://schemas.microsoft.com/office/drawing/2014/main" id="{39F23283-F27A-59EA-1F54-DE130ADDEC8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535916" y="7209120"/>
            <a:ext cx="474173" cy="448758"/>
          </a:xfrm>
          <a:prstGeom prst="rect">
            <a:avLst/>
          </a:prstGeom>
        </p:spPr>
      </p:pic>
      <p:sp>
        <p:nvSpPr>
          <p:cNvPr id="141" name="Oval 140">
            <a:extLst>
              <a:ext uri="{FF2B5EF4-FFF2-40B4-BE49-F238E27FC236}">
                <a16:creationId xmlns:a16="http://schemas.microsoft.com/office/drawing/2014/main" id="{F05B3A4C-EB58-2C78-086B-8548B15183D2}"/>
              </a:ext>
            </a:extLst>
          </p:cNvPr>
          <p:cNvSpPr/>
          <p:nvPr/>
        </p:nvSpPr>
        <p:spPr>
          <a:xfrm>
            <a:off x="10557707" y="6627471"/>
            <a:ext cx="747711" cy="411669"/>
          </a:xfrm>
          <a:prstGeom prst="ellipse">
            <a:avLst/>
          </a:prstGeom>
          <a:noFill/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96313592-6CC8-FE96-BC4C-C2701FA3CA0E}"/>
              </a:ext>
            </a:extLst>
          </p:cNvPr>
          <p:cNvSpPr/>
          <p:nvPr/>
        </p:nvSpPr>
        <p:spPr>
          <a:xfrm>
            <a:off x="13112510" y="6593265"/>
            <a:ext cx="576328" cy="381418"/>
          </a:xfrm>
          <a:prstGeom prst="ellipse">
            <a:avLst/>
          </a:prstGeom>
          <a:noFill/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2A4DB0DB-DD67-C48B-4494-22C9E695C946}"/>
              </a:ext>
            </a:extLst>
          </p:cNvPr>
          <p:cNvSpPr/>
          <p:nvPr/>
        </p:nvSpPr>
        <p:spPr>
          <a:xfrm>
            <a:off x="10741038" y="5395033"/>
            <a:ext cx="672302" cy="579023"/>
          </a:xfrm>
          <a:prstGeom prst="ellipse">
            <a:avLst/>
          </a:prstGeom>
          <a:noFill/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34E7A9BB-9EC6-BC47-E384-931B92FB8AF3}"/>
              </a:ext>
            </a:extLst>
          </p:cNvPr>
          <p:cNvSpPr/>
          <p:nvPr/>
        </p:nvSpPr>
        <p:spPr>
          <a:xfrm>
            <a:off x="11978907" y="7044725"/>
            <a:ext cx="805342" cy="345365"/>
          </a:xfrm>
          <a:prstGeom prst="ellipse">
            <a:avLst/>
          </a:prstGeom>
          <a:noFill/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0D8E6E71-2981-9E99-6FCF-51BF353F002D}"/>
              </a:ext>
            </a:extLst>
          </p:cNvPr>
          <p:cNvSpPr/>
          <p:nvPr/>
        </p:nvSpPr>
        <p:spPr>
          <a:xfrm>
            <a:off x="12107328" y="5453307"/>
            <a:ext cx="612842" cy="434084"/>
          </a:xfrm>
          <a:prstGeom prst="ellipse">
            <a:avLst/>
          </a:prstGeom>
          <a:noFill/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57F9EF12-C201-9EBC-9388-695F20D9806D}"/>
              </a:ext>
            </a:extLst>
          </p:cNvPr>
          <p:cNvSpPr/>
          <p:nvPr/>
        </p:nvSpPr>
        <p:spPr>
          <a:xfrm>
            <a:off x="12816886" y="7289442"/>
            <a:ext cx="950630" cy="798188"/>
          </a:xfrm>
          <a:prstGeom prst="ellipse">
            <a:avLst/>
          </a:prstGeom>
          <a:noFill/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7" name="Right Arrow 146">
            <a:extLst>
              <a:ext uri="{FF2B5EF4-FFF2-40B4-BE49-F238E27FC236}">
                <a16:creationId xmlns:a16="http://schemas.microsoft.com/office/drawing/2014/main" id="{D5597367-D34B-0D6D-4FE9-CF4D36092B0C}"/>
              </a:ext>
            </a:extLst>
          </p:cNvPr>
          <p:cNvSpPr/>
          <p:nvPr/>
        </p:nvSpPr>
        <p:spPr>
          <a:xfrm rot="3733896">
            <a:off x="11464456" y="6878943"/>
            <a:ext cx="650770" cy="79027"/>
          </a:xfrm>
          <a:prstGeom prst="rightArrow">
            <a:avLst>
              <a:gd name="adj1" fmla="val 44194"/>
              <a:gd name="adj2" fmla="val 129749"/>
            </a:avLst>
          </a:prstGeom>
          <a:solidFill>
            <a:srgbClr val="FFAB00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ADC3F571-DA96-648E-4F14-D99498219369}"/>
              </a:ext>
            </a:extLst>
          </p:cNvPr>
          <p:cNvSpPr>
            <a:spLocks/>
          </p:cNvSpPr>
          <p:nvPr/>
        </p:nvSpPr>
        <p:spPr>
          <a:xfrm>
            <a:off x="12378584" y="5494744"/>
            <a:ext cx="140734" cy="224379"/>
          </a:xfrm>
          <a:prstGeom prst="rect">
            <a:avLst/>
          </a:prstGeom>
          <a:pattFill prst="shingle">
            <a:fgClr>
              <a:srgbClr val="C00000"/>
            </a:fgClr>
            <a:bgClr>
              <a:schemeClr val="bg1"/>
            </a:bgClr>
          </a:patt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C5FC8BB5-9AD9-B95F-74B7-72909D1027E7}"/>
              </a:ext>
            </a:extLst>
          </p:cNvPr>
          <p:cNvSpPr>
            <a:spLocks/>
          </p:cNvSpPr>
          <p:nvPr/>
        </p:nvSpPr>
        <p:spPr>
          <a:xfrm>
            <a:off x="10352382" y="5886891"/>
            <a:ext cx="596899" cy="224379"/>
          </a:xfrm>
          <a:prstGeom prst="rect">
            <a:avLst/>
          </a:prstGeom>
          <a:pattFill prst="ltVert">
            <a:fgClr>
              <a:srgbClr val="C00000"/>
            </a:fgClr>
            <a:bgClr>
              <a:schemeClr val="bg1"/>
            </a:bgClr>
          </a:patt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0" name="5-Point Star 149">
            <a:extLst>
              <a:ext uri="{FF2B5EF4-FFF2-40B4-BE49-F238E27FC236}">
                <a16:creationId xmlns:a16="http://schemas.microsoft.com/office/drawing/2014/main" id="{15387F67-2048-4184-0856-2C240D796F64}"/>
              </a:ext>
            </a:extLst>
          </p:cNvPr>
          <p:cNvSpPr>
            <a:spLocks noChangeAspect="1"/>
          </p:cNvSpPr>
          <p:nvPr/>
        </p:nvSpPr>
        <p:spPr>
          <a:xfrm>
            <a:off x="10197465" y="5638665"/>
            <a:ext cx="305602" cy="299172"/>
          </a:xfrm>
          <a:prstGeom prst="star5">
            <a:avLst/>
          </a:prstGeom>
          <a:pattFill prst="dkVert">
            <a:fgClr>
              <a:srgbClr val="C00000"/>
            </a:fgClr>
            <a:bgClr>
              <a:schemeClr val="bg1"/>
            </a:bgClr>
          </a:patt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EFC7E87C-D423-14D2-313B-C21DBC0BDD48}"/>
              </a:ext>
            </a:extLst>
          </p:cNvPr>
          <p:cNvCxnSpPr>
            <a:cxnSpLocks/>
            <a:stCxn id="157" idx="4"/>
            <a:endCxn id="156" idx="7"/>
          </p:cNvCxnSpPr>
          <p:nvPr/>
        </p:nvCxnSpPr>
        <p:spPr>
          <a:xfrm flipH="1">
            <a:off x="10065445" y="6177877"/>
            <a:ext cx="388966" cy="469676"/>
          </a:xfrm>
          <a:prstGeom prst="line">
            <a:avLst/>
          </a:prstGeom>
          <a:ln w="6350">
            <a:solidFill>
              <a:schemeClr val="tx1"/>
            </a:solidFill>
            <a:prstDash val="solid"/>
            <a:headEnd type="none" w="lg" len="lg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angle 151">
            <a:extLst>
              <a:ext uri="{FF2B5EF4-FFF2-40B4-BE49-F238E27FC236}">
                <a16:creationId xmlns:a16="http://schemas.microsoft.com/office/drawing/2014/main" id="{923B6AD8-ADDF-E41F-E480-E979EC7FE09B}"/>
              </a:ext>
            </a:extLst>
          </p:cNvPr>
          <p:cNvSpPr/>
          <p:nvPr/>
        </p:nvSpPr>
        <p:spPr>
          <a:xfrm>
            <a:off x="9439647" y="6750153"/>
            <a:ext cx="315725" cy="13742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3" name="Freeform 152">
            <a:extLst>
              <a:ext uri="{FF2B5EF4-FFF2-40B4-BE49-F238E27FC236}">
                <a16:creationId xmlns:a16="http://schemas.microsoft.com/office/drawing/2014/main" id="{6ACC99F6-03C6-34F7-76EC-42A8D9D3C809}"/>
              </a:ext>
            </a:extLst>
          </p:cNvPr>
          <p:cNvSpPr/>
          <p:nvPr/>
        </p:nvSpPr>
        <p:spPr>
          <a:xfrm rot="10800000" flipH="1" flipV="1">
            <a:off x="9621761" y="6614731"/>
            <a:ext cx="267167" cy="149414"/>
          </a:xfrm>
          <a:custGeom>
            <a:avLst/>
            <a:gdLst>
              <a:gd name="connsiteX0" fmla="*/ 0 w 449865"/>
              <a:gd name="connsiteY0" fmla="*/ 600606 h 600606"/>
              <a:gd name="connsiteX1" fmla="*/ 48898 w 449865"/>
              <a:gd name="connsiteY1" fmla="*/ 307216 h 600606"/>
              <a:gd name="connsiteX2" fmla="*/ 161365 w 449865"/>
              <a:gd name="connsiteY2" fmla="*/ 48054 h 600606"/>
              <a:gd name="connsiteX3" fmla="*/ 244492 w 449865"/>
              <a:gd name="connsiteY3" fmla="*/ 4045 h 600606"/>
              <a:gd name="connsiteX4" fmla="*/ 322729 w 449865"/>
              <a:gd name="connsiteY4" fmla="*/ 101842 h 600606"/>
              <a:gd name="connsiteX5" fmla="*/ 410747 w 449865"/>
              <a:gd name="connsiteY5" fmla="*/ 307216 h 600606"/>
              <a:gd name="connsiteX6" fmla="*/ 449865 w 449865"/>
              <a:gd name="connsiteY6" fmla="*/ 600606 h 60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9865" h="600606">
                <a:moveTo>
                  <a:pt x="0" y="600606"/>
                </a:moveTo>
                <a:cubicBezTo>
                  <a:pt x="11002" y="499957"/>
                  <a:pt x="22004" y="399308"/>
                  <a:pt x="48898" y="307216"/>
                </a:cubicBezTo>
                <a:cubicBezTo>
                  <a:pt x="75792" y="215124"/>
                  <a:pt x="128766" y="98583"/>
                  <a:pt x="161365" y="48054"/>
                </a:cubicBezTo>
                <a:cubicBezTo>
                  <a:pt x="193964" y="-2475"/>
                  <a:pt x="217598" y="-4920"/>
                  <a:pt x="244492" y="4045"/>
                </a:cubicBezTo>
                <a:cubicBezTo>
                  <a:pt x="271386" y="13010"/>
                  <a:pt x="295020" y="51314"/>
                  <a:pt x="322729" y="101842"/>
                </a:cubicBezTo>
                <a:cubicBezTo>
                  <a:pt x="350438" y="152370"/>
                  <a:pt x="389558" y="224089"/>
                  <a:pt x="410747" y="307216"/>
                </a:cubicBezTo>
                <a:cubicBezTo>
                  <a:pt x="431936" y="390343"/>
                  <a:pt x="440085" y="464505"/>
                  <a:pt x="449865" y="600606"/>
                </a:cubicBezTo>
              </a:path>
            </a:pathLst>
          </a:custGeom>
          <a:noFill/>
          <a:ln w="12700">
            <a:solidFill>
              <a:srgbClr val="0070C0"/>
            </a:solidFill>
            <a:prstDash val="solid"/>
            <a:tailEnd type="stealth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F7D1B4DE-8F7B-A40A-C665-693DD7B61ED6}"/>
              </a:ext>
            </a:extLst>
          </p:cNvPr>
          <p:cNvSpPr/>
          <p:nvPr/>
        </p:nvSpPr>
        <p:spPr>
          <a:xfrm>
            <a:off x="9819497" y="6772747"/>
            <a:ext cx="315725" cy="137423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5" name="Graphic 154" descr="Badge 1 with solid fill">
            <a:extLst>
              <a:ext uri="{FF2B5EF4-FFF2-40B4-BE49-F238E27FC236}">
                <a16:creationId xmlns:a16="http://schemas.microsoft.com/office/drawing/2014/main" id="{A4B6198E-DC1B-0819-81DA-595A92B237E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967578" y="6609411"/>
            <a:ext cx="474173" cy="448758"/>
          </a:xfrm>
          <a:prstGeom prst="rect">
            <a:avLst/>
          </a:prstGeom>
        </p:spPr>
      </p:pic>
      <p:sp>
        <p:nvSpPr>
          <p:cNvPr id="156" name="Oval 155">
            <a:extLst>
              <a:ext uri="{FF2B5EF4-FFF2-40B4-BE49-F238E27FC236}">
                <a16:creationId xmlns:a16="http://schemas.microsoft.com/office/drawing/2014/main" id="{C2E07B33-0A75-253C-1F4F-9F2B80044612}"/>
              </a:ext>
            </a:extLst>
          </p:cNvPr>
          <p:cNvSpPr/>
          <p:nvPr/>
        </p:nvSpPr>
        <p:spPr>
          <a:xfrm>
            <a:off x="9131689" y="6573241"/>
            <a:ext cx="1093964" cy="507438"/>
          </a:xfrm>
          <a:prstGeom prst="ellipse">
            <a:avLst/>
          </a:prstGeom>
          <a:noFill/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677DFF13-FCA7-01EB-9257-626A32011B5F}"/>
              </a:ext>
            </a:extLst>
          </p:cNvPr>
          <p:cNvSpPr/>
          <p:nvPr/>
        </p:nvSpPr>
        <p:spPr>
          <a:xfrm>
            <a:off x="10318912" y="5955111"/>
            <a:ext cx="270995" cy="222766"/>
          </a:xfrm>
          <a:prstGeom prst="ellipse">
            <a:avLst/>
          </a:prstGeom>
          <a:noFill/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8" name="Left Brace 157">
            <a:extLst>
              <a:ext uri="{FF2B5EF4-FFF2-40B4-BE49-F238E27FC236}">
                <a16:creationId xmlns:a16="http://schemas.microsoft.com/office/drawing/2014/main" id="{0D63FDB0-46D9-CA20-DC63-42D972D5D3BF}"/>
              </a:ext>
            </a:extLst>
          </p:cNvPr>
          <p:cNvSpPr/>
          <p:nvPr/>
        </p:nvSpPr>
        <p:spPr>
          <a:xfrm>
            <a:off x="8167080" y="5474897"/>
            <a:ext cx="361642" cy="1057641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478BB982-8451-6334-1878-401CAC0BB4A1}"/>
              </a:ext>
            </a:extLst>
          </p:cNvPr>
          <p:cNvSpPr txBox="1"/>
          <p:nvPr/>
        </p:nvSpPr>
        <p:spPr>
          <a:xfrm>
            <a:off x="7876222" y="5845191"/>
            <a:ext cx="37786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160" name="Left Brace 159">
            <a:extLst>
              <a:ext uri="{FF2B5EF4-FFF2-40B4-BE49-F238E27FC236}">
                <a16:creationId xmlns:a16="http://schemas.microsoft.com/office/drawing/2014/main" id="{BD9B09E5-013A-2E3D-D3BF-41BA253433C7}"/>
              </a:ext>
            </a:extLst>
          </p:cNvPr>
          <p:cNvSpPr/>
          <p:nvPr/>
        </p:nvSpPr>
        <p:spPr>
          <a:xfrm>
            <a:off x="8164092" y="7079109"/>
            <a:ext cx="361642" cy="1057641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E8D2CE3D-5579-AE35-A885-D0DBFD54867B}"/>
              </a:ext>
            </a:extLst>
          </p:cNvPr>
          <p:cNvSpPr txBox="1"/>
          <p:nvPr/>
        </p:nvSpPr>
        <p:spPr>
          <a:xfrm>
            <a:off x="7873234" y="7449403"/>
            <a:ext cx="37786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178306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9" grpId="0" animBg="1"/>
      <p:bldP spid="10" grpId="0" animBg="1"/>
      <p:bldP spid="11" grpId="0" animBg="1"/>
      <p:bldP spid="13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7" grpId="0" animBg="1"/>
      <p:bldP spid="128" grpId="0" animBg="1"/>
      <p:bldP spid="129" grpId="0" animBg="1"/>
      <p:bldP spid="130" grpId="0" animBg="1"/>
      <p:bldP spid="132" grpId="0" animBg="1"/>
      <p:bldP spid="134" grpId="0" animBg="1"/>
      <p:bldP spid="141" grpId="0" animBg="1"/>
      <p:bldP spid="142" grpId="0" animBg="1"/>
      <p:bldP spid="143" grpId="0" animBg="1"/>
      <p:bldP spid="144" grpId="0" animBg="1"/>
      <p:bldP spid="145" grpId="0" animBg="1"/>
      <p:bldP spid="146" grpId="0" animBg="1"/>
      <p:bldP spid="147" grpId="0" animBg="1"/>
      <p:bldP spid="148" grpId="0" animBg="1"/>
      <p:bldP spid="149" grpId="0" animBg="1"/>
      <p:bldP spid="150" grpId="0" animBg="1"/>
      <p:bldP spid="152" grpId="0" animBg="1"/>
      <p:bldP spid="153" grpId="0" animBg="1"/>
      <p:bldP spid="154" grpId="0" animBg="1"/>
      <p:bldP spid="156" grpId="0" animBg="1"/>
      <p:bldP spid="15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4"/>
          <p:cNvSpPr txBox="1">
            <a:spLocks noGrp="1"/>
          </p:cNvSpPr>
          <p:nvPr>
            <p:ph type="ftr" idx="11"/>
          </p:nvPr>
        </p:nvSpPr>
        <p:spPr>
          <a:xfrm>
            <a:off x="15410688" y="12985744"/>
            <a:ext cx="8098400" cy="730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82867" tIns="91400" rIns="182867" bIns="91400" rtlCol="0" anchor="ctr" anchorCtr="0">
            <a:noAutofit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">
                <a:solidFill>
                  <a:srgbClr val="FFFFFF"/>
                </a:solidFill>
              </a:rPr>
              <a:t>PADSYS Lab</a:t>
            </a:r>
            <a:r>
              <a:rPr lang="en"/>
              <a:t>, </a:t>
            </a:r>
            <a:r>
              <a:rPr lang="en" err="1"/>
              <a:t>Liuyao</a:t>
            </a:r>
            <a:r>
              <a:rPr lang="en"/>
              <a:t> Dai, 2025</a:t>
            </a:r>
            <a:endParaRPr/>
          </a:p>
        </p:txBody>
      </p:sp>
      <p:sp>
        <p:nvSpPr>
          <p:cNvPr id="402" name="Google Shape;402;p54"/>
          <p:cNvSpPr txBox="1">
            <a:spLocks noGrp="1"/>
          </p:cNvSpPr>
          <p:nvPr>
            <p:ph type="sldNum" idx="12"/>
          </p:nvPr>
        </p:nvSpPr>
        <p:spPr>
          <a:xfrm>
            <a:off x="24914088" y="12985744"/>
            <a:ext cx="5565600" cy="730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82867" tIns="91400" rIns="182867" bIns="91400" rtlCol="0" anchor="ctr" anchorCtr="0">
            <a:noAutofit/>
          </a:bodyPr>
          <a:lstStyle/>
          <a:p>
            <a:pPr>
              <a:buClr>
                <a:schemeClr val="lt1"/>
              </a:buClr>
              <a:buSzPts val="900"/>
            </a:pPr>
            <a:fld id="{00000000-1234-1234-1234-123412341234}" type="slidenum">
              <a:rPr lang="en"/>
              <a:pPr>
                <a:buClr>
                  <a:schemeClr val="lt1"/>
                </a:buClr>
                <a:buSzPts val="900"/>
              </a:pPr>
              <a:t>21</a:t>
            </a:fld>
            <a:endParaRPr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7DBB15C-2520-BAD4-4A0C-D5CC3BD96E8C}"/>
              </a:ext>
            </a:extLst>
          </p:cNvPr>
          <p:cNvCxnSpPr>
            <a:cxnSpLocks/>
          </p:cNvCxnSpPr>
          <p:nvPr/>
        </p:nvCxnSpPr>
        <p:spPr>
          <a:xfrm>
            <a:off x="5980623" y="4711245"/>
            <a:ext cx="274320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151B0D4-34CD-8820-E813-682E5143D0D9}"/>
              </a:ext>
            </a:extLst>
          </p:cNvPr>
          <p:cNvCxnSpPr>
            <a:cxnSpLocks/>
          </p:cNvCxnSpPr>
          <p:nvPr/>
        </p:nvCxnSpPr>
        <p:spPr>
          <a:xfrm>
            <a:off x="5980623" y="5024153"/>
            <a:ext cx="274320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0ABB1D-1E9C-4EF0-120B-3F2B220C08D0}"/>
              </a:ext>
            </a:extLst>
          </p:cNvPr>
          <p:cNvCxnSpPr>
            <a:cxnSpLocks/>
          </p:cNvCxnSpPr>
          <p:nvPr/>
        </p:nvCxnSpPr>
        <p:spPr>
          <a:xfrm>
            <a:off x="5980623" y="5337061"/>
            <a:ext cx="274320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917244A-67DD-632E-131C-4CCD565D297E}"/>
              </a:ext>
            </a:extLst>
          </p:cNvPr>
          <p:cNvSpPr txBox="1"/>
          <p:nvPr/>
        </p:nvSpPr>
        <p:spPr>
          <a:xfrm>
            <a:off x="5398597" y="4841089"/>
            <a:ext cx="626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CPU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D22A14-7E24-C245-5817-931ED841395F}"/>
              </a:ext>
            </a:extLst>
          </p:cNvPr>
          <p:cNvSpPr txBox="1"/>
          <p:nvPr/>
        </p:nvSpPr>
        <p:spPr>
          <a:xfrm>
            <a:off x="5398597" y="4526579"/>
            <a:ext cx="626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GPU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79DF17-09B1-AD92-D619-D405B2DBD3E5}"/>
              </a:ext>
            </a:extLst>
          </p:cNvPr>
          <p:cNvSpPr txBox="1"/>
          <p:nvPr/>
        </p:nvSpPr>
        <p:spPr>
          <a:xfrm>
            <a:off x="5448024" y="5152395"/>
            <a:ext cx="527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NIC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8BF01EB-3774-8395-B9F0-0957DB9DB875}"/>
              </a:ext>
            </a:extLst>
          </p:cNvPr>
          <p:cNvCxnSpPr>
            <a:cxnSpLocks/>
          </p:cNvCxnSpPr>
          <p:nvPr/>
        </p:nvCxnSpPr>
        <p:spPr>
          <a:xfrm>
            <a:off x="5947168" y="6047518"/>
            <a:ext cx="274320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12687E-71BE-BD1E-49E2-FC2C93F6005A}"/>
              </a:ext>
            </a:extLst>
          </p:cNvPr>
          <p:cNvCxnSpPr>
            <a:cxnSpLocks/>
          </p:cNvCxnSpPr>
          <p:nvPr/>
        </p:nvCxnSpPr>
        <p:spPr>
          <a:xfrm>
            <a:off x="5947168" y="6360426"/>
            <a:ext cx="274320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FB0CBE-5ED3-8527-2E0F-CDCBED42F0FD}"/>
              </a:ext>
            </a:extLst>
          </p:cNvPr>
          <p:cNvCxnSpPr>
            <a:cxnSpLocks/>
          </p:cNvCxnSpPr>
          <p:nvPr/>
        </p:nvCxnSpPr>
        <p:spPr>
          <a:xfrm>
            <a:off x="5947168" y="6673334"/>
            <a:ext cx="274320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6821052-AF7F-71A3-EF8F-1844767A241C}"/>
              </a:ext>
            </a:extLst>
          </p:cNvPr>
          <p:cNvSpPr txBox="1"/>
          <p:nvPr/>
        </p:nvSpPr>
        <p:spPr>
          <a:xfrm>
            <a:off x="5398597" y="6177362"/>
            <a:ext cx="626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CPU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561A57-BE67-4378-AE7B-67B94C2D54D0}"/>
              </a:ext>
            </a:extLst>
          </p:cNvPr>
          <p:cNvSpPr txBox="1"/>
          <p:nvPr/>
        </p:nvSpPr>
        <p:spPr>
          <a:xfrm>
            <a:off x="5398597" y="5862852"/>
            <a:ext cx="626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NIC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5C1992-6E2D-0757-B850-B7C4200F1347}"/>
              </a:ext>
            </a:extLst>
          </p:cNvPr>
          <p:cNvSpPr txBox="1"/>
          <p:nvPr/>
        </p:nvSpPr>
        <p:spPr>
          <a:xfrm>
            <a:off x="5398597" y="6488668"/>
            <a:ext cx="626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GPU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218FE34-6F92-9D2A-64D9-22172992A0CE}"/>
              </a:ext>
            </a:extLst>
          </p:cNvPr>
          <p:cNvCxnSpPr/>
          <p:nvPr/>
        </p:nvCxnSpPr>
        <p:spPr>
          <a:xfrm>
            <a:off x="6650177" y="5356418"/>
            <a:ext cx="616874" cy="6911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2DAB7E6-4899-7825-5745-D50BBFC06A0B}"/>
              </a:ext>
            </a:extLst>
          </p:cNvPr>
          <p:cNvSpPr txBox="1"/>
          <p:nvPr/>
        </p:nvSpPr>
        <p:spPr>
          <a:xfrm>
            <a:off x="7675511" y="4949097"/>
            <a:ext cx="257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</a:rPr>
              <a:t>L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A0B9D0B-AA08-EB57-584E-97B4DA4D87FE}"/>
              </a:ext>
            </a:extLst>
          </p:cNvPr>
          <p:cNvCxnSpPr>
            <a:cxnSpLocks/>
          </p:cNvCxnSpPr>
          <p:nvPr/>
        </p:nvCxnSpPr>
        <p:spPr>
          <a:xfrm>
            <a:off x="7496123" y="5270084"/>
            <a:ext cx="621739" cy="2944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reeform 17">
            <a:extLst>
              <a:ext uri="{FF2B5EF4-FFF2-40B4-BE49-F238E27FC236}">
                <a16:creationId xmlns:a16="http://schemas.microsoft.com/office/drawing/2014/main" id="{8FD3555E-D4A6-6AAA-783D-7C0929011442}"/>
              </a:ext>
            </a:extLst>
          </p:cNvPr>
          <p:cNvSpPr/>
          <p:nvPr/>
        </p:nvSpPr>
        <p:spPr>
          <a:xfrm rot="10800000" flipH="1">
            <a:off x="8280787" y="5024151"/>
            <a:ext cx="79787" cy="312904"/>
          </a:xfrm>
          <a:custGeom>
            <a:avLst/>
            <a:gdLst>
              <a:gd name="connsiteX0" fmla="*/ 0 w 449865"/>
              <a:gd name="connsiteY0" fmla="*/ 600606 h 600606"/>
              <a:gd name="connsiteX1" fmla="*/ 48898 w 449865"/>
              <a:gd name="connsiteY1" fmla="*/ 307216 h 600606"/>
              <a:gd name="connsiteX2" fmla="*/ 161365 w 449865"/>
              <a:gd name="connsiteY2" fmla="*/ 48054 h 600606"/>
              <a:gd name="connsiteX3" fmla="*/ 244492 w 449865"/>
              <a:gd name="connsiteY3" fmla="*/ 4045 h 600606"/>
              <a:gd name="connsiteX4" fmla="*/ 322729 w 449865"/>
              <a:gd name="connsiteY4" fmla="*/ 101842 h 600606"/>
              <a:gd name="connsiteX5" fmla="*/ 410747 w 449865"/>
              <a:gd name="connsiteY5" fmla="*/ 307216 h 600606"/>
              <a:gd name="connsiteX6" fmla="*/ 449865 w 449865"/>
              <a:gd name="connsiteY6" fmla="*/ 600606 h 60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9865" h="600606">
                <a:moveTo>
                  <a:pt x="0" y="600606"/>
                </a:moveTo>
                <a:cubicBezTo>
                  <a:pt x="11002" y="499957"/>
                  <a:pt x="22004" y="399308"/>
                  <a:pt x="48898" y="307216"/>
                </a:cubicBezTo>
                <a:cubicBezTo>
                  <a:pt x="75792" y="215124"/>
                  <a:pt x="128766" y="98583"/>
                  <a:pt x="161365" y="48054"/>
                </a:cubicBezTo>
                <a:cubicBezTo>
                  <a:pt x="193964" y="-2475"/>
                  <a:pt x="217598" y="-4920"/>
                  <a:pt x="244492" y="4045"/>
                </a:cubicBezTo>
                <a:cubicBezTo>
                  <a:pt x="271386" y="13010"/>
                  <a:pt x="295020" y="51314"/>
                  <a:pt x="322729" y="101842"/>
                </a:cubicBezTo>
                <a:cubicBezTo>
                  <a:pt x="350438" y="152370"/>
                  <a:pt x="389558" y="224089"/>
                  <a:pt x="410747" y="307216"/>
                </a:cubicBezTo>
                <a:cubicBezTo>
                  <a:pt x="431936" y="390343"/>
                  <a:pt x="440085" y="464505"/>
                  <a:pt x="449865" y="600606"/>
                </a:cubicBezTo>
              </a:path>
            </a:pathLst>
          </a:custGeom>
          <a:noFill/>
          <a:ln w="12700">
            <a:solidFill>
              <a:srgbClr val="C00000"/>
            </a:solidFill>
            <a:prstDash val="sysDash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A091A1A-8416-668A-0534-8C97A4E4E687}"/>
              </a:ext>
            </a:extLst>
          </p:cNvPr>
          <p:cNvCxnSpPr/>
          <p:nvPr/>
        </p:nvCxnSpPr>
        <p:spPr>
          <a:xfrm>
            <a:off x="7504126" y="5347502"/>
            <a:ext cx="616874" cy="6911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FB6CA5F-D609-4D83-592D-76643115E60E}"/>
              </a:ext>
            </a:extLst>
          </p:cNvPr>
          <p:cNvCxnSpPr/>
          <p:nvPr/>
        </p:nvCxnSpPr>
        <p:spPr>
          <a:xfrm>
            <a:off x="7077151" y="5356415"/>
            <a:ext cx="616874" cy="6911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30515AE-2801-CA5E-CA67-6B3215A2D8A5}"/>
              </a:ext>
            </a:extLst>
          </p:cNvPr>
          <p:cNvGrpSpPr/>
          <p:nvPr/>
        </p:nvGrpSpPr>
        <p:grpSpPr>
          <a:xfrm rot="16200000">
            <a:off x="6251556" y="4931153"/>
            <a:ext cx="621359" cy="181542"/>
            <a:chOff x="11902457" y="13729729"/>
            <a:chExt cx="2578121" cy="1423884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BDC09D27-6E8C-9086-44D6-1284504B15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02457" y="14448445"/>
              <a:ext cx="2454976" cy="705168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  <a:prstDash val="solid"/>
              <a:headEnd type="none" w="lg" len="lg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9987DFBC-446A-A625-AFCE-5BB6C7190D53}"/>
                </a:ext>
              </a:extLst>
            </p:cNvPr>
            <p:cNvSpPr/>
            <p:nvPr/>
          </p:nvSpPr>
          <p:spPr>
            <a:xfrm>
              <a:off x="11919012" y="13729729"/>
              <a:ext cx="2561566" cy="765299"/>
            </a:xfrm>
            <a:custGeom>
              <a:avLst/>
              <a:gdLst>
                <a:gd name="connsiteX0" fmla="*/ 0 w 2561563"/>
                <a:gd name="connsiteY0" fmla="*/ 0 h 492980"/>
                <a:gd name="connsiteX1" fmla="*/ 1280160 w 2561563"/>
                <a:gd name="connsiteY1" fmla="*/ 55659 h 492980"/>
                <a:gd name="connsiteX2" fmla="*/ 2210463 w 2561563"/>
                <a:gd name="connsiteY2" fmla="*/ 166977 h 492980"/>
                <a:gd name="connsiteX3" fmla="*/ 2552369 w 2561563"/>
                <a:gd name="connsiteY3" fmla="*/ 286247 h 492980"/>
                <a:gd name="connsiteX4" fmla="*/ 2449002 w 2561563"/>
                <a:gd name="connsiteY4" fmla="*/ 437321 h 492980"/>
                <a:gd name="connsiteX5" fmla="*/ 2289976 w 2561563"/>
                <a:gd name="connsiteY5" fmla="*/ 492980 h 492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61563" h="492980">
                  <a:moveTo>
                    <a:pt x="0" y="0"/>
                  </a:moveTo>
                  <a:cubicBezTo>
                    <a:pt x="455875" y="13915"/>
                    <a:pt x="911750" y="27830"/>
                    <a:pt x="1280160" y="55659"/>
                  </a:cubicBezTo>
                  <a:cubicBezTo>
                    <a:pt x="1648571" y="83489"/>
                    <a:pt x="1998428" y="128546"/>
                    <a:pt x="2210463" y="166977"/>
                  </a:cubicBezTo>
                  <a:cubicBezTo>
                    <a:pt x="2422498" y="205408"/>
                    <a:pt x="2512612" y="241190"/>
                    <a:pt x="2552369" y="286247"/>
                  </a:cubicBezTo>
                  <a:cubicBezTo>
                    <a:pt x="2592126" y="331304"/>
                    <a:pt x="2492734" y="402866"/>
                    <a:pt x="2449002" y="437321"/>
                  </a:cubicBezTo>
                  <a:cubicBezTo>
                    <a:pt x="2405270" y="471776"/>
                    <a:pt x="2319131" y="459850"/>
                    <a:pt x="2289976" y="492980"/>
                  </a:cubicBezTo>
                </a:path>
              </a:pathLst>
            </a:custGeom>
            <a:noFill/>
            <a:ln w="12700">
              <a:solidFill>
                <a:schemeClr val="accent6">
                  <a:lumMod val="60000"/>
                  <a:lumOff val="40000"/>
                </a:schemeClr>
              </a:solidFill>
              <a:prstDash val="sysDash"/>
              <a:tailEnd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2" name="Freeform 21">
            <a:extLst>
              <a:ext uri="{FF2B5EF4-FFF2-40B4-BE49-F238E27FC236}">
                <a16:creationId xmlns:a16="http://schemas.microsoft.com/office/drawing/2014/main" id="{1209A2FA-F05D-5042-5AFC-EED09FA08A6E}"/>
              </a:ext>
            </a:extLst>
          </p:cNvPr>
          <p:cNvSpPr/>
          <p:nvPr/>
        </p:nvSpPr>
        <p:spPr>
          <a:xfrm>
            <a:off x="6272553" y="4712539"/>
            <a:ext cx="111149" cy="311612"/>
          </a:xfrm>
          <a:custGeom>
            <a:avLst/>
            <a:gdLst>
              <a:gd name="connsiteX0" fmla="*/ 0 w 449865"/>
              <a:gd name="connsiteY0" fmla="*/ 600606 h 600606"/>
              <a:gd name="connsiteX1" fmla="*/ 48898 w 449865"/>
              <a:gd name="connsiteY1" fmla="*/ 307216 h 600606"/>
              <a:gd name="connsiteX2" fmla="*/ 161365 w 449865"/>
              <a:gd name="connsiteY2" fmla="*/ 48054 h 600606"/>
              <a:gd name="connsiteX3" fmla="*/ 244492 w 449865"/>
              <a:gd name="connsiteY3" fmla="*/ 4045 h 600606"/>
              <a:gd name="connsiteX4" fmla="*/ 322729 w 449865"/>
              <a:gd name="connsiteY4" fmla="*/ 101842 h 600606"/>
              <a:gd name="connsiteX5" fmla="*/ 410747 w 449865"/>
              <a:gd name="connsiteY5" fmla="*/ 307216 h 600606"/>
              <a:gd name="connsiteX6" fmla="*/ 449865 w 449865"/>
              <a:gd name="connsiteY6" fmla="*/ 600606 h 60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9865" h="600606">
                <a:moveTo>
                  <a:pt x="0" y="600606"/>
                </a:moveTo>
                <a:cubicBezTo>
                  <a:pt x="11002" y="499957"/>
                  <a:pt x="22004" y="399308"/>
                  <a:pt x="48898" y="307216"/>
                </a:cubicBezTo>
                <a:cubicBezTo>
                  <a:pt x="75792" y="215124"/>
                  <a:pt x="128766" y="98583"/>
                  <a:pt x="161365" y="48054"/>
                </a:cubicBezTo>
                <a:cubicBezTo>
                  <a:pt x="193964" y="-2475"/>
                  <a:pt x="217598" y="-4920"/>
                  <a:pt x="244492" y="4045"/>
                </a:cubicBezTo>
                <a:cubicBezTo>
                  <a:pt x="271386" y="13010"/>
                  <a:pt x="295020" y="51314"/>
                  <a:pt x="322729" y="101842"/>
                </a:cubicBezTo>
                <a:cubicBezTo>
                  <a:pt x="350438" y="152370"/>
                  <a:pt x="389558" y="224089"/>
                  <a:pt x="410747" y="307216"/>
                </a:cubicBezTo>
                <a:cubicBezTo>
                  <a:pt x="431936" y="390343"/>
                  <a:pt x="440085" y="464505"/>
                  <a:pt x="449865" y="600606"/>
                </a:cubicBezTo>
              </a:path>
            </a:pathLst>
          </a:custGeom>
          <a:noFill/>
          <a:ln w="12700">
            <a:solidFill>
              <a:srgbClr val="0070C0"/>
            </a:solidFill>
            <a:prstDash val="sysDash"/>
            <a:tailEnd type="stealth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789C699-84FB-D6B6-EA5B-27DCD22DC0C2}"/>
              </a:ext>
            </a:extLst>
          </p:cNvPr>
          <p:cNvCxnSpPr>
            <a:cxnSpLocks/>
          </p:cNvCxnSpPr>
          <p:nvPr/>
        </p:nvCxnSpPr>
        <p:spPr>
          <a:xfrm>
            <a:off x="6389080" y="5032738"/>
            <a:ext cx="90302" cy="304318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9F110F6-CE74-0920-5BF6-A30F3D2D5B2D}"/>
                  </a:ext>
                </a:extLst>
              </p:cNvPr>
              <p:cNvSpPr txBox="1"/>
              <p:nvPr/>
            </p:nvSpPr>
            <p:spPr>
              <a:xfrm>
                <a:off x="5379726" y="4102171"/>
                <a:ext cx="2183475" cy="4452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𝑠𝑦𝑛𝑐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𝑝𝑜𝑙𝑙</m:t>
                        </m:r>
                      </m:sup>
                    </m:sSubSup>
                  </m:oMath>
                </a14:m>
                <a:r>
                  <a:rPr lang="en-US" dirty="0"/>
                  <a:t>+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𝑐𝑜𝑚𝑚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𝑝𝑜𝑠𝑡</m:t>
                        </m:r>
                      </m:sup>
                    </m:sSub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9F110F6-CE74-0920-5BF6-A30F3D2D5B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9726" y="4102171"/>
                <a:ext cx="2183475" cy="445250"/>
              </a:xfrm>
              <a:prstGeom prst="rect">
                <a:avLst/>
              </a:prstGeom>
              <a:blipFill>
                <a:blip r:embed="rId3"/>
                <a:stretch>
                  <a:fillRect b="-13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23A2F1D-531C-371D-32B8-D462967BE821}"/>
              </a:ext>
            </a:extLst>
          </p:cNvPr>
          <p:cNvCxnSpPr>
            <a:cxnSpLocks/>
          </p:cNvCxnSpPr>
          <p:nvPr/>
        </p:nvCxnSpPr>
        <p:spPr>
          <a:xfrm>
            <a:off x="6272553" y="4569121"/>
            <a:ext cx="0" cy="45503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45E21FF-2C49-1C78-FDF2-70A7FC282C88}"/>
              </a:ext>
            </a:extLst>
          </p:cNvPr>
          <p:cNvCxnSpPr>
            <a:cxnSpLocks/>
          </p:cNvCxnSpPr>
          <p:nvPr/>
        </p:nvCxnSpPr>
        <p:spPr>
          <a:xfrm>
            <a:off x="6272553" y="4638925"/>
            <a:ext cx="380452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249DD69-3AAC-D893-7D2D-4C6616869A8E}"/>
              </a:ext>
            </a:extLst>
          </p:cNvPr>
          <p:cNvCxnSpPr>
            <a:cxnSpLocks/>
          </p:cNvCxnSpPr>
          <p:nvPr/>
        </p:nvCxnSpPr>
        <p:spPr>
          <a:xfrm>
            <a:off x="6653880" y="4569121"/>
            <a:ext cx="0" cy="691132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A18F15A-BB7D-E7CC-7B65-78BFC66542FF}"/>
              </a:ext>
            </a:extLst>
          </p:cNvPr>
          <p:cNvCxnSpPr>
            <a:cxnSpLocks/>
          </p:cNvCxnSpPr>
          <p:nvPr/>
        </p:nvCxnSpPr>
        <p:spPr>
          <a:xfrm>
            <a:off x="8360575" y="4569121"/>
            <a:ext cx="0" cy="45503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62333B1-8EA2-26BF-9447-E00F0B407F57}"/>
              </a:ext>
            </a:extLst>
          </p:cNvPr>
          <p:cNvCxnSpPr>
            <a:cxnSpLocks/>
          </p:cNvCxnSpPr>
          <p:nvPr/>
        </p:nvCxnSpPr>
        <p:spPr>
          <a:xfrm>
            <a:off x="8121000" y="4569121"/>
            <a:ext cx="0" cy="1478397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063733E-A370-38DD-C285-45F613C6EF73}"/>
              </a:ext>
            </a:extLst>
          </p:cNvPr>
          <p:cNvCxnSpPr>
            <a:cxnSpLocks/>
          </p:cNvCxnSpPr>
          <p:nvPr/>
        </p:nvCxnSpPr>
        <p:spPr>
          <a:xfrm>
            <a:off x="8117862" y="4638925"/>
            <a:ext cx="242713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67569E7-C0E8-EBCE-B11B-F476BA87541C}"/>
              </a:ext>
            </a:extLst>
          </p:cNvPr>
          <p:cNvCxnSpPr>
            <a:cxnSpLocks/>
          </p:cNvCxnSpPr>
          <p:nvPr/>
        </p:nvCxnSpPr>
        <p:spPr>
          <a:xfrm>
            <a:off x="7504126" y="5198554"/>
            <a:ext cx="0" cy="148948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630B70B-1BBE-DF73-5A2B-2BB444245D80}"/>
              </a:ext>
            </a:extLst>
          </p:cNvPr>
          <p:cNvCxnSpPr>
            <a:cxnSpLocks/>
          </p:cNvCxnSpPr>
          <p:nvPr/>
        </p:nvCxnSpPr>
        <p:spPr>
          <a:xfrm>
            <a:off x="6653005" y="5269734"/>
            <a:ext cx="851121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10F5EAB-6117-8257-27E7-9898C2AE120B}"/>
                  </a:ext>
                </a:extLst>
              </p:cNvPr>
              <p:cNvSpPr txBox="1"/>
              <p:nvPr/>
            </p:nvSpPr>
            <p:spPr>
              <a:xfrm>
                <a:off x="6663369" y="4962663"/>
                <a:ext cx="875293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10F5EAB-6117-8257-27E7-9898C2AE1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3369" y="4962663"/>
                <a:ext cx="875293" cy="3629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EF88888-1E63-AEC0-F629-5264F0BBDE98}"/>
                  </a:ext>
                </a:extLst>
              </p:cNvPr>
              <p:cNvSpPr txBox="1"/>
              <p:nvPr/>
            </p:nvSpPr>
            <p:spPr>
              <a:xfrm>
                <a:off x="5242774" y="7042666"/>
                <a:ext cx="4151988" cy="72224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Cambria Math" panose="02040503050406030204" pitchFamily="18" charset="0"/>
                  </a:rPr>
                  <a:t>For  Roofline model: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𝑠𝑦𝑛𝑐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𝑝𝑜𝑙𝑙</m:t>
                          </m:r>
                        </m:sup>
                      </m:sSubSup>
                      <m:r>
                        <m:rPr>
                          <m:nor/>
                        </m:rPr>
                        <a:rPr lang="en-US" dirty="0"/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𝑐𝑜𝑚𝑚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𝑝𝑜𝑠𝑡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𝑐𝑜𝑚𝑚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𝑐𝑜𝑚𝑝𝑙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EF88888-1E63-AEC0-F629-5264F0BBDE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2774" y="7042666"/>
                <a:ext cx="4151988" cy="722249"/>
              </a:xfrm>
              <a:prstGeom prst="rect">
                <a:avLst/>
              </a:prstGeom>
              <a:blipFill>
                <a:blip r:embed="rId5"/>
                <a:stretch>
                  <a:fillRect t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93E1CC7-EFD4-B0F9-21C8-67AF6047AADE}"/>
                  </a:ext>
                </a:extLst>
              </p:cNvPr>
              <p:cNvSpPr txBox="1"/>
              <p:nvPr/>
            </p:nvSpPr>
            <p:spPr>
              <a:xfrm>
                <a:off x="7720166" y="4110563"/>
                <a:ext cx="1038103" cy="4142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𝑐𝑜𝑚𝑚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𝑐𝑜𝑚𝑝𝑙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93E1CC7-EFD4-B0F9-21C8-67AF6047AA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0166" y="4110563"/>
                <a:ext cx="1038103" cy="414281"/>
              </a:xfrm>
              <a:prstGeom prst="rect">
                <a:avLst/>
              </a:prstGeom>
              <a:blipFill>
                <a:blip r:embed="rId6"/>
                <a:stretch>
                  <a:fillRect l="-36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Oval 55">
            <a:extLst>
              <a:ext uri="{FF2B5EF4-FFF2-40B4-BE49-F238E27FC236}">
                <a16:creationId xmlns:a16="http://schemas.microsoft.com/office/drawing/2014/main" id="{5FC23425-860E-C2D0-7454-F8810F80AD25}"/>
              </a:ext>
            </a:extLst>
          </p:cNvPr>
          <p:cNvSpPr>
            <a:spLocks noChangeAspect="1"/>
          </p:cNvSpPr>
          <p:nvPr/>
        </p:nvSpPr>
        <p:spPr>
          <a:xfrm>
            <a:off x="20035114" y="2780352"/>
            <a:ext cx="640080" cy="6400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P</a:t>
            </a:r>
            <a:r>
              <a:rPr lang="en-US" sz="2400" baseline="-25000" dirty="0"/>
              <a:t>0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41D099BB-E16D-8B03-C30C-C6431E679215}"/>
              </a:ext>
            </a:extLst>
          </p:cNvPr>
          <p:cNvSpPr>
            <a:spLocks noChangeAspect="1"/>
          </p:cNvSpPr>
          <p:nvPr/>
        </p:nvSpPr>
        <p:spPr>
          <a:xfrm>
            <a:off x="21783235" y="2779110"/>
            <a:ext cx="640080" cy="6400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P</a:t>
            </a:r>
            <a:r>
              <a:rPr lang="en-US" sz="2400" baseline="-25000" dirty="0"/>
              <a:t>1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6FF062F8-57B6-B8A0-4711-F7FAA92AD44C}"/>
              </a:ext>
            </a:extLst>
          </p:cNvPr>
          <p:cNvCxnSpPr>
            <a:cxnSpLocks/>
            <a:stCxn id="56" idx="6"/>
            <a:endCxn id="57" idx="2"/>
          </p:cNvCxnSpPr>
          <p:nvPr/>
        </p:nvCxnSpPr>
        <p:spPr>
          <a:xfrm flipV="1">
            <a:off x="20675194" y="3099150"/>
            <a:ext cx="1108041" cy="12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2" name="TextBox 451">
                <a:extLst>
                  <a:ext uri="{FF2B5EF4-FFF2-40B4-BE49-F238E27FC236}">
                    <a16:creationId xmlns:a16="http://schemas.microsoft.com/office/drawing/2014/main" id="{50BBBABA-1E26-6501-1C85-8345BA817DF1}"/>
                  </a:ext>
                </a:extLst>
              </p:cNvPr>
              <p:cNvSpPr txBox="1"/>
              <p:nvPr/>
            </p:nvSpPr>
            <p:spPr>
              <a:xfrm>
                <a:off x="20626329" y="2705793"/>
                <a:ext cx="12057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2" name="TextBox 451">
                <a:extLst>
                  <a:ext uri="{FF2B5EF4-FFF2-40B4-BE49-F238E27FC236}">
                    <a16:creationId xmlns:a16="http://schemas.microsoft.com/office/drawing/2014/main" id="{50BBBABA-1E26-6501-1C85-8345BA817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26329" y="2705793"/>
                <a:ext cx="1205771" cy="369332"/>
              </a:xfrm>
              <a:prstGeom prst="rect">
                <a:avLst/>
              </a:prstGeom>
              <a:blipFill>
                <a:blip r:embed="rId7"/>
                <a:stretch>
                  <a:fillRect b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4" name="Oval 453">
            <a:extLst>
              <a:ext uri="{FF2B5EF4-FFF2-40B4-BE49-F238E27FC236}">
                <a16:creationId xmlns:a16="http://schemas.microsoft.com/office/drawing/2014/main" id="{498E8DF9-EC73-DA21-224D-2B00FA51BAA7}"/>
              </a:ext>
            </a:extLst>
          </p:cNvPr>
          <p:cNvSpPr>
            <a:spLocks noChangeAspect="1"/>
          </p:cNvSpPr>
          <p:nvPr/>
        </p:nvSpPr>
        <p:spPr>
          <a:xfrm>
            <a:off x="13605287" y="1918906"/>
            <a:ext cx="640080" cy="6400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P</a:t>
            </a:r>
            <a:r>
              <a:rPr lang="en-US" sz="2400" baseline="-25000" dirty="0"/>
              <a:t>0</a:t>
            </a:r>
          </a:p>
        </p:txBody>
      </p:sp>
      <p:sp>
        <p:nvSpPr>
          <p:cNvPr id="456" name="Oval 455">
            <a:extLst>
              <a:ext uri="{FF2B5EF4-FFF2-40B4-BE49-F238E27FC236}">
                <a16:creationId xmlns:a16="http://schemas.microsoft.com/office/drawing/2014/main" id="{3990106F-9D54-9017-A1D6-0858091BC61C}"/>
              </a:ext>
            </a:extLst>
          </p:cNvPr>
          <p:cNvSpPr>
            <a:spLocks noChangeAspect="1"/>
          </p:cNvSpPr>
          <p:nvPr/>
        </p:nvSpPr>
        <p:spPr>
          <a:xfrm>
            <a:off x="14907973" y="1918906"/>
            <a:ext cx="640080" cy="6400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P</a:t>
            </a:r>
            <a:r>
              <a:rPr lang="en-US" sz="2400" baseline="-25000" dirty="0"/>
              <a:t>1</a:t>
            </a:r>
          </a:p>
        </p:txBody>
      </p:sp>
      <p:sp>
        <p:nvSpPr>
          <p:cNvPr id="458" name="Oval 457">
            <a:extLst>
              <a:ext uri="{FF2B5EF4-FFF2-40B4-BE49-F238E27FC236}">
                <a16:creationId xmlns:a16="http://schemas.microsoft.com/office/drawing/2014/main" id="{CB72BC41-0AA3-7D19-4DDC-B7BF567305E7}"/>
              </a:ext>
            </a:extLst>
          </p:cNvPr>
          <p:cNvSpPr>
            <a:spLocks noChangeAspect="1"/>
          </p:cNvSpPr>
          <p:nvPr/>
        </p:nvSpPr>
        <p:spPr>
          <a:xfrm>
            <a:off x="16210658" y="1918906"/>
            <a:ext cx="640080" cy="6400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P</a:t>
            </a:r>
            <a:r>
              <a:rPr lang="en-US" sz="2400" baseline="-25000" dirty="0"/>
              <a:t>2</a:t>
            </a: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6F6933E2-31A5-046D-FB96-1973B78EE9FB}"/>
              </a:ext>
            </a:extLst>
          </p:cNvPr>
          <p:cNvSpPr txBox="1"/>
          <p:nvPr/>
        </p:nvSpPr>
        <p:spPr>
          <a:xfrm>
            <a:off x="14625127" y="1388082"/>
            <a:ext cx="12057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Ring</a:t>
            </a:r>
          </a:p>
        </p:txBody>
      </p:sp>
      <p:pic>
        <p:nvPicPr>
          <p:cNvPr id="467" name="Picture 466">
            <a:extLst>
              <a:ext uri="{FF2B5EF4-FFF2-40B4-BE49-F238E27FC236}">
                <a16:creationId xmlns:a16="http://schemas.microsoft.com/office/drawing/2014/main" id="{AA63B432-BDFD-EE1B-8469-69D5C4BBD9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463614" y="1677914"/>
            <a:ext cx="571500" cy="660400"/>
          </a:xfrm>
          <a:prstGeom prst="rect">
            <a:avLst/>
          </a:prstGeom>
        </p:spPr>
      </p:pic>
      <p:sp>
        <p:nvSpPr>
          <p:cNvPr id="468" name="TextBox 467">
            <a:extLst>
              <a:ext uri="{FF2B5EF4-FFF2-40B4-BE49-F238E27FC236}">
                <a16:creationId xmlns:a16="http://schemas.microsoft.com/office/drawing/2014/main" id="{C9E0CA59-ACC8-58C1-D127-7AA03E1D83BE}"/>
              </a:ext>
            </a:extLst>
          </p:cNvPr>
          <p:cNvSpPr txBox="1"/>
          <p:nvPr/>
        </p:nvSpPr>
        <p:spPr>
          <a:xfrm>
            <a:off x="20035114" y="1777281"/>
            <a:ext cx="28306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/>
              <a:t>Let's start with P2P!</a:t>
            </a:r>
          </a:p>
        </p:txBody>
      </p:sp>
      <p:pic>
        <p:nvPicPr>
          <p:cNvPr id="470" name="Picture 469">
            <a:extLst>
              <a:ext uri="{FF2B5EF4-FFF2-40B4-BE49-F238E27FC236}">
                <a16:creationId xmlns:a16="http://schemas.microsoft.com/office/drawing/2014/main" id="{54224BA3-0775-D042-A4C0-759E26C8E35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1464" y="2144933"/>
            <a:ext cx="889000" cy="825500"/>
          </a:xfrm>
          <a:prstGeom prst="rect">
            <a:avLst/>
          </a:prstGeom>
        </p:spPr>
      </p:pic>
      <p:sp>
        <p:nvSpPr>
          <p:cNvPr id="471" name="TextBox 470">
            <a:extLst>
              <a:ext uri="{FF2B5EF4-FFF2-40B4-BE49-F238E27FC236}">
                <a16:creationId xmlns:a16="http://schemas.microsoft.com/office/drawing/2014/main" id="{E06EEC00-F2CF-23A5-CAE2-35338BDCFB2A}"/>
              </a:ext>
            </a:extLst>
          </p:cNvPr>
          <p:cNvSpPr txBox="1"/>
          <p:nvPr/>
        </p:nvSpPr>
        <p:spPr>
          <a:xfrm>
            <a:off x="7158612" y="2160924"/>
            <a:ext cx="28306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/>
              <a:t>Single-Chunk Collective</a:t>
            </a:r>
          </a:p>
        </p:txBody>
      </p:sp>
      <p:graphicFrame>
        <p:nvGraphicFramePr>
          <p:cNvPr id="28" name="Diagram 27">
            <a:extLst>
              <a:ext uri="{FF2B5EF4-FFF2-40B4-BE49-F238E27FC236}">
                <a16:creationId xmlns:a16="http://schemas.microsoft.com/office/drawing/2014/main" id="{1EE37A14-2756-34EC-76C1-DFBCE8D664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1178248"/>
              </p:ext>
            </p:extLst>
          </p:nvPr>
        </p:nvGraphicFramePr>
        <p:xfrm>
          <a:off x="11317088" y="4809781"/>
          <a:ext cx="24384000" cy="6096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8555</TotalTime>
  <Words>1934</Words>
  <Application>Microsoft Macintosh PowerPoint</Application>
  <PresentationFormat>Custom</PresentationFormat>
  <Paragraphs>375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Aptos</vt:lpstr>
      <vt:lpstr>Arial</vt:lpstr>
      <vt:lpstr>Calibri</vt:lpstr>
      <vt:lpstr>Calibri Light</vt:lpstr>
      <vt:lpstr>Cambria</vt:lpstr>
      <vt:lpstr>Cambria Math</vt:lpstr>
      <vt:lpstr>Roboto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LogGP Parameters in NCCL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Dai, Liuyao</dc:creator>
  <cp:lastModifiedBy>Dai, Liuyao</cp:lastModifiedBy>
  <cp:revision>20</cp:revision>
  <dcterms:created xsi:type="dcterms:W3CDTF">2025-06-09T16:59:04Z</dcterms:created>
  <dcterms:modified xsi:type="dcterms:W3CDTF">2025-08-06T21:39:44Z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2025-07-21T15:50:05Z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e73dfc70-24f9-4456-abd0-b1aa94c002a9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