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60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310" r:id="rId10"/>
    <p:sldId id="311" r:id="rId11"/>
    <p:sldId id="312" r:id="rId12"/>
    <p:sldId id="313" r:id="rId13"/>
    <p:sldId id="314" r:id="rId14"/>
    <p:sldId id="261" r:id="rId15"/>
    <p:sldId id="262" r:id="rId16"/>
    <p:sldId id="263" r:id="rId17"/>
    <p:sldId id="264" r:id="rId18"/>
    <p:sldId id="265" r:id="rId19"/>
    <p:sldId id="266" r:id="rId20"/>
    <p:sldId id="31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40"/>
    <p:restoredTop sz="94660"/>
  </p:normalViewPr>
  <p:slideViewPr>
    <p:cSldViewPr snapToGrid="0" snapToObjects="1">
      <p:cViewPr varScale="1">
        <p:scale>
          <a:sx n="137" d="100"/>
          <a:sy n="137" d="100"/>
        </p:scale>
        <p:origin x="10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5863B-3C3D-8547-B77A-58198D29863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61290-A10D-8F4D-B9D4-DAE45DC5E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0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61290-A10D-8F4D-B9D4-DAE45DC5E6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34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61290-A10D-8F4D-B9D4-DAE45DC5E6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2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79AA-693A-524D-8EC7-418550595EAF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75264-C7F4-2443-AF57-3E4BB6B85F63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3CE2-8C90-E94F-B848-8ECB822FA402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DB88-2737-5D4E-97DD-0313419605FD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A5E3-B01F-644F-B9FD-EC673AD08763}" type="datetime1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EE3AC-A31A-6940-B3BF-1DEAF5165AAD}" type="datetime1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3F0B-4900-F346-BC3D-D538B05EB4FD}" type="datetime1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3033-5FE7-4547-8FC6-A00A4A703A1D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90E59-365E-374C-AE83-0D3DB7336F69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55376-332D-064B-A61C-1AA648EC3C56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9FFFF-9080-A547-BFF7-21CFCC80FF4B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43014-BF81-5D46-92C5-77E6370DEE57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Background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8522D2-D488-0025-741D-D6AA5270B3C8}"/>
              </a:ext>
            </a:extLst>
          </p:cNvPr>
          <p:cNvGrpSpPr/>
          <p:nvPr/>
        </p:nvGrpSpPr>
        <p:grpSpPr>
          <a:xfrm>
            <a:off x="1139057" y="1757425"/>
            <a:ext cx="3579662" cy="1091674"/>
            <a:chOff x="1059614" y="5492006"/>
            <a:chExt cx="3579662" cy="109167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7AE6073-9D9A-BD3E-235F-9B9FCD9DF32E}"/>
                </a:ext>
              </a:extLst>
            </p:cNvPr>
            <p:cNvCxnSpPr>
              <a:cxnSpLocks/>
            </p:cNvCxnSpPr>
            <p:nvPr/>
          </p:nvCxnSpPr>
          <p:spPr>
            <a:xfrm>
              <a:off x="2170396" y="5683706"/>
              <a:ext cx="246888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CABAA6-8690-F5A7-DDF5-F002D5AEFD62}"/>
                </a:ext>
              </a:extLst>
            </p:cNvPr>
            <p:cNvSpPr txBox="1"/>
            <p:nvPr/>
          </p:nvSpPr>
          <p:spPr>
            <a:xfrm>
              <a:off x="1147678" y="5492006"/>
              <a:ext cx="941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Sender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C323847-6D2B-58D0-5523-EDC3A39A0BE5}"/>
                </a:ext>
              </a:extLst>
            </p:cNvPr>
            <p:cNvCxnSpPr>
              <a:cxnSpLocks/>
            </p:cNvCxnSpPr>
            <p:nvPr/>
          </p:nvCxnSpPr>
          <p:spPr>
            <a:xfrm>
              <a:off x="2170396" y="6152585"/>
              <a:ext cx="246888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6AA676-8EFB-73B4-1357-DBFECC1B66FD}"/>
                </a:ext>
              </a:extLst>
            </p:cNvPr>
            <p:cNvSpPr txBox="1"/>
            <p:nvPr/>
          </p:nvSpPr>
          <p:spPr>
            <a:xfrm>
              <a:off x="1059614" y="5960885"/>
              <a:ext cx="11179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Receiver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333CD68-09AE-4AA7-165F-316152B1DEBE}"/>
                    </a:ext>
                  </a:extLst>
                </p:cNvPr>
                <p:cNvSpPr/>
                <p:nvPr/>
              </p:nvSpPr>
              <p:spPr>
                <a:xfrm>
                  <a:off x="2654257" y="5565424"/>
                  <a:ext cx="548640" cy="2286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lang="en-US" sz="20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oMath>
                    </m:oMathPara>
                  </a14:m>
                  <a:endPara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333CD68-09AE-4AA7-165F-316152B1DE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4257" y="5565424"/>
                  <a:ext cx="548640" cy="228600"/>
                </a:xfrm>
                <a:prstGeom prst="rect">
                  <a:avLst/>
                </a:prstGeom>
                <a:blipFill>
                  <a:blip r:embed="rId3"/>
                  <a:stretch>
                    <a:fillRect l="-6522" r="-2174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436B16-DAB1-C8BB-9870-90733A688C15}"/>
                </a:ext>
              </a:extLst>
            </p:cNvPr>
            <p:cNvSpPr txBox="1"/>
            <p:nvPr/>
          </p:nvSpPr>
          <p:spPr>
            <a:xfrm>
              <a:off x="2786877" y="6183570"/>
              <a:ext cx="6260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E742179-4B2C-E76B-D1E2-CC372C6412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5262" y="5805295"/>
              <a:ext cx="3618" cy="527699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FAD5FD0-CEA0-A634-92B7-8533BFC0FD40}"/>
                </a:ext>
              </a:extLst>
            </p:cNvPr>
            <p:cNvCxnSpPr>
              <a:cxnSpLocks/>
            </p:cNvCxnSpPr>
            <p:nvPr/>
          </p:nvCxnSpPr>
          <p:spPr>
            <a:xfrm>
              <a:off x="3545763" y="6148294"/>
              <a:ext cx="0" cy="177912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E422FDD-5F04-BC6E-276E-E8DF631716C1}"/>
                </a:ext>
              </a:extLst>
            </p:cNvPr>
            <p:cNvCxnSpPr>
              <a:cxnSpLocks/>
            </p:cNvCxnSpPr>
            <p:nvPr/>
          </p:nvCxnSpPr>
          <p:spPr>
            <a:xfrm>
              <a:off x="2645263" y="6244289"/>
              <a:ext cx="900500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10B4DBF-9443-EB3C-3657-0E33E81B4239}"/>
                </a:ext>
              </a:extLst>
            </p:cNvPr>
            <p:cNvCxnSpPr>
              <a:cxnSpLocks/>
            </p:cNvCxnSpPr>
            <p:nvPr/>
          </p:nvCxnSpPr>
          <p:spPr>
            <a:xfrm>
              <a:off x="2658421" y="5801200"/>
              <a:ext cx="902174" cy="334028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7CC7C4C-7617-4094-ADFD-356AFF06C75A}"/>
                </a:ext>
              </a:extLst>
            </p:cNvPr>
            <p:cNvCxnSpPr>
              <a:cxnSpLocks/>
            </p:cNvCxnSpPr>
            <p:nvPr/>
          </p:nvCxnSpPr>
          <p:spPr>
            <a:xfrm>
              <a:off x="3200279" y="5794024"/>
              <a:ext cx="886188" cy="34838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D599055-4691-9250-137F-B7D147C3110F}"/>
                </a:ext>
              </a:extLst>
            </p:cNvPr>
            <p:cNvSpPr/>
            <p:nvPr/>
          </p:nvSpPr>
          <p:spPr>
            <a:xfrm>
              <a:off x="2285538" y="5565424"/>
              <a:ext cx="36576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b" anchorCtr="0">
              <a:noAutofit/>
            </a:bodyPr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D527284-1B83-1043-F379-B75BE5632818}"/>
                </a:ext>
              </a:extLst>
            </p:cNvPr>
            <p:cNvSpPr/>
            <p:nvPr/>
          </p:nvSpPr>
          <p:spPr>
            <a:xfrm>
              <a:off x="4086467" y="6028105"/>
              <a:ext cx="36576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b" anchorCtr="0">
              <a:noAutofit/>
            </a:bodyPr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3B123D0-A08A-C0A0-EF3D-899A7B8C676C}"/>
                </a:ext>
              </a:extLst>
            </p:cNvPr>
            <p:cNvCxnSpPr>
              <a:cxnSpLocks/>
            </p:cNvCxnSpPr>
            <p:nvPr/>
          </p:nvCxnSpPr>
          <p:spPr>
            <a:xfrm>
              <a:off x="2937343" y="5794024"/>
              <a:ext cx="886188" cy="34838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4/59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B8B25F0-1781-4830-34C9-BF7681E4A912}"/>
              </a:ext>
            </a:extLst>
          </p:cNvPr>
          <p:cNvGrpSpPr/>
          <p:nvPr/>
        </p:nvGrpSpPr>
        <p:grpSpPr>
          <a:xfrm>
            <a:off x="6288188" y="1101862"/>
            <a:ext cx="5291246" cy="2384303"/>
            <a:chOff x="6288188" y="1101862"/>
            <a:chExt cx="5291246" cy="2384303"/>
          </a:xfrm>
        </p:grpSpPr>
        <p:sp>
          <p:nvSpPr>
            <p:cNvPr id="35" name="TextBox 34"/>
            <p:cNvSpPr txBox="1"/>
            <p:nvPr/>
          </p:nvSpPr>
          <p:spPr>
            <a:xfrm>
              <a:off x="7413372" y="1101862"/>
              <a:ext cx="358046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1D1D1F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RDMA Write Flow (Send Side)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AAF2E14-E9D0-9245-BB83-D8C8CACDBFE8}"/>
                </a:ext>
              </a:extLst>
            </p:cNvPr>
            <p:cNvSpPr/>
            <p:nvPr/>
          </p:nvSpPr>
          <p:spPr>
            <a:xfrm>
              <a:off x="6288188" y="1568505"/>
              <a:ext cx="1051560" cy="274320"/>
            </a:xfrm>
            <a:prstGeom prst="roundRect">
              <a:avLst>
                <a:gd name="adj" fmla="val 1500"/>
              </a:avLst>
            </a:prstGeom>
            <a:solidFill>
              <a:srgbClr val="1B3A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NCCL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F0EE84E-8CC7-2A56-AE4E-632AD3632F32}"/>
                </a:ext>
              </a:extLst>
            </p:cNvPr>
            <p:cNvSpPr/>
            <p:nvPr/>
          </p:nvSpPr>
          <p:spPr>
            <a:xfrm>
              <a:off x="7705508" y="1568505"/>
              <a:ext cx="1051560" cy="274320"/>
            </a:xfrm>
            <a:prstGeom prst="roundRect">
              <a:avLst>
                <a:gd name="adj" fmla="val 1500"/>
              </a:avLst>
            </a:prstGeom>
            <a:solidFill>
              <a:srgbClr val="2C5F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Plugin</a:t>
              </a:r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240B399B-4D3C-2FCB-732D-B284FA8BFE10}"/>
                </a:ext>
              </a:extLst>
            </p:cNvPr>
            <p:cNvSpPr/>
            <p:nvPr/>
          </p:nvSpPr>
          <p:spPr>
            <a:xfrm>
              <a:off x="9118584" y="1568505"/>
              <a:ext cx="1051560" cy="274320"/>
            </a:xfrm>
            <a:prstGeom prst="roundRect">
              <a:avLst>
                <a:gd name="adj" fmla="val 1500"/>
              </a:avLst>
            </a:prstGeom>
            <a:solidFill>
              <a:srgbClr val="4A7D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rPr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Libfabric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F0E20A61-1BEB-C5E3-E4C7-A70B3020E086}"/>
                </a:ext>
              </a:extLst>
            </p:cNvPr>
            <p:cNvSpPr/>
            <p:nvPr/>
          </p:nvSpPr>
          <p:spPr>
            <a:xfrm>
              <a:off x="10527874" y="1568505"/>
              <a:ext cx="1051560" cy="274320"/>
            </a:xfrm>
            <a:prstGeom prst="roundRect">
              <a:avLst>
                <a:gd name="adj" fmla="val 1500"/>
              </a:avLst>
            </a:prstGeom>
            <a:solidFill>
              <a:srgbClr val="6C9DC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EFA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D9E5BAD-8215-14DF-8F84-E8E81AC609FC}"/>
                </a:ext>
              </a:extLst>
            </p:cNvPr>
            <p:cNvSpPr/>
            <p:nvPr/>
          </p:nvSpPr>
          <p:spPr>
            <a:xfrm>
              <a:off x="6808621" y="1888545"/>
              <a:ext cx="9144" cy="1554480"/>
            </a:xfrm>
            <a:prstGeom prst="rect">
              <a:avLst/>
            </a:prstGeom>
            <a:solidFill>
              <a:srgbClr val="E5E5EA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EE55CCE-CCB5-F89B-DB6D-2DA76D2CD46E}"/>
                </a:ext>
              </a:extLst>
            </p:cNvPr>
            <p:cNvSpPr/>
            <p:nvPr/>
          </p:nvSpPr>
          <p:spPr>
            <a:xfrm>
              <a:off x="8225941" y="1888545"/>
              <a:ext cx="9144" cy="1554480"/>
            </a:xfrm>
            <a:prstGeom prst="rect">
              <a:avLst/>
            </a:prstGeom>
            <a:solidFill>
              <a:srgbClr val="E5E5EA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373EF17-B738-D7BD-0A53-949E26C1ED3D}"/>
                </a:ext>
              </a:extLst>
            </p:cNvPr>
            <p:cNvSpPr/>
            <p:nvPr/>
          </p:nvSpPr>
          <p:spPr>
            <a:xfrm>
              <a:off x="9643261" y="1888545"/>
              <a:ext cx="9144" cy="1554480"/>
            </a:xfrm>
            <a:prstGeom prst="rect">
              <a:avLst/>
            </a:prstGeom>
            <a:solidFill>
              <a:srgbClr val="E5E5EA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789457B-FF93-F0C0-44A1-EC8D623449B9}"/>
                </a:ext>
              </a:extLst>
            </p:cNvPr>
            <p:cNvSpPr/>
            <p:nvPr/>
          </p:nvSpPr>
          <p:spPr>
            <a:xfrm>
              <a:off x="11060581" y="1888545"/>
              <a:ext cx="9144" cy="1554480"/>
            </a:xfrm>
            <a:prstGeom prst="rect">
              <a:avLst/>
            </a:prstGeom>
            <a:solidFill>
              <a:srgbClr val="E5E5EA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46C1148-E2C7-5232-80C1-7D19BBAB0ECF}"/>
                </a:ext>
              </a:extLst>
            </p:cNvPr>
            <p:cNvSpPr txBox="1"/>
            <p:nvPr/>
          </p:nvSpPr>
          <p:spPr>
            <a:xfrm>
              <a:off x="7119988" y="2104012"/>
              <a:ext cx="710131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>
                <a:defRPr sz="900">
                  <a:solidFill>
                    <a:srgbClr val="1B3A5C"/>
                  </a:solidFill>
                </a:defRPr>
              </a:pPr>
              <a:r>
                <a:rPr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isend</a:t>
              </a: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()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B11908D-2EBE-8471-0144-E8FAC67F1BB4}"/>
                </a:ext>
              </a:extLst>
            </p:cNvPr>
            <p:cNvSpPr txBox="1"/>
            <p:nvPr/>
          </p:nvSpPr>
          <p:spPr>
            <a:xfrm>
              <a:off x="8228685" y="2251767"/>
              <a:ext cx="1413662" cy="3077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900">
                  <a:solidFill>
                    <a:srgbClr val="1B3A5C"/>
                  </a:solidFill>
                </a:defRPr>
              </a:pPr>
              <a:r>
                <a:rPr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fi_writedata</a:t>
              </a: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B83C903-6D7E-4D96-53A4-0B8E269F961D}"/>
                </a:ext>
              </a:extLst>
            </p:cNvPr>
            <p:cNvSpPr txBox="1"/>
            <p:nvPr/>
          </p:nvSpPr>
          <p:spPr>
            <a:xfrm>
              <a:off x="9641335" y="2445581"/>
              <a:ext cx="1422904" cy="3077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900">
                  <a:solidFill>
                    <a:srgbClr val="1B3A5C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RDMA write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F159A4E-CA0E-E764-7251-461CE288AF43}"/>
                </a:ext>
              </a:extLst>
            </p:cNvPr>
            <p:cNvSpPr txBox="1"/>
            <p:nvPr/>
          </p:nvSpPr>
          <p:spPr>
            <a:xfrm>
              <a:off x="10005964" y="2849099"/>
              <a:ext cx="69923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>
                  <a:solidFill>
                    <a:srgbClr val="27AE60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CQE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2685457-F9B2-17AF-E92F-D83EA6A24813}"/>
                </a:ext>
              </a:extLst>
            </p:cNvPr>
            <p:cNvSpPr txBox="1"/>
            <p:nvPr/>
          </p:nvSpPr>
          <p:spPr>
            <a:xfrm>
              <a:off x="8211026" y="2968562"/>
              <a:ext cx="145245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>
                  <a:solidFill>
                    <a:srgbClr val="27AE60"/>
                  </a:solidFill>
                </a:defRPr>
              </a:pPr>
              <a:r>
                <a:rPr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fi_cq_read</a:t>
              </a: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()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6D74573-DEA8-815B-CC69-39427FED56AC}"/>
                </a:ext>
              </a:extLst>
            </p:cNvPr>
            <p:cNvSpPr txBox="1"/>
            <p:nvPr/>
          </p:nvSpPr>
          <p:spPr>
            <a:xfrm>
              <a:off x="7121272" y="3086055"/>
              <a:ext cx="70884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>
                  <a:solidFill>
                    <a:srgbClr val="27AE60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test()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D6793D-B42E-D316-7A96-E00EABD2CC50}"/>
                </a:ext>
              </a:extLst>
            </p:cNvPr>
            <p:cNvSpPr txBox="1"/>
            <p:nvPr/>
          </p:nvSpPr>
          <p:spPr>
            <a:xfrm>
              <a:off x="9613108" y="1793991"/>
              <a:ext cx="152638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>
                  <a:solidFill>
                    <a:srgbClr val="27AE60"/>
                  </a:solidFill>
                </a:defRPr>
              </a:pPr>
              <a:r>
                <a:rPr lang="en-US" sz="2000" dirty="0" err="1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ctrl_msg</a:t>
              </a:r>
              <a:r>
                <a:rPr lang="en-US" sz="2000" dirty="0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sz="2000" dirty="0" err="1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rx</a:t>
              </a:r>
              <a:r>
                <a:rPr lang="en-US" sz="2000" dirty="0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sz="2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9725082-C6C8-22AF-FA13-447000AF3836}"/>
                </a:ext>
              </a:extLst>
            </p:cNvPr>
            <p:cNvCxnSpPr/>
            <p:nvPr/>
          </p:nvCxnSpPr>
          <p:spPr>
            <a:xfrm>
              <a:off x="6815937" y="2445581"/>
              <a:ext cx="1395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DE11222-F3FB-596A-62C8-CA45F1F32FCC}"/>
                </a:ext>
              </a:extLst>
            </p:cNvPr>
            <p:cNvCxnSpPr/>
            <p:nvPr/>
          </p:nvCxnSpPr>
          <p:spPr>
            <a:xfrm>
              <a:off x="8238931" y="2612295"/>
              <a:ext cx="1395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3A710C1-F341-1DF7-E3A7-3B8D7E481EDC}"/>
                </a:ext>
              </a:extLst>
            </p:cNvPr>
            <p:cNvCxnSpPr/>
            <p:nvPr/>
          </p:nvCxnSpPr>
          <p:spPr>
            <a:xfrm>
              <a:off x="9659594" y="2763138"/>
              <a:ext cx="1395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A1D3DD5-6B49-7C90-039B-B50D181189C4}"/>
                </a:ext>
              </a:extLst>
            </p:cNvPr>
            <p:cNvCxnSpPr/>
            <p:nvPr/>
          </p:nvCxnSpPr>
          <p:spPr>
            <a:xfrm flipH="1">
              <a:off x="9659594" y="2889892"/>
              <a:ext cx="1395089" cy="0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011972B-8257-0859-2D6E-9F8E5DB27644}"/>
                </a:ext>
              </a:extLst>
            </p:cNvPr>
            <p:cNvCxnSpPr/>
            <p:nvPr/>
          </p:nvCxnSpPr>
          <p:spPr>
            <a:xfrm flipH="1">
              <a:off x="8211026" y="3020385"/>
              <a:ext cx="1395089" cy="0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BDFDC39-937F-D68E-D08C-87B7BBE4BE52}"/>
                </a:ext>
              </a:extLst>
            </p:cNvPr>
            <p:cNvCxnSpPr/>
            <p:nvPr/>
          </p:nvCxnSpPr>
          <p:spPr>
            <a:xfrm flipH="1">
              <a:off x="6815937" y="3143448"/>
              <a:ext cx="1395089" cy="0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A97044A-5D4C-6B25-8586-C8A051C1F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5942" y="2227317"/>
              <a:ext cx="28277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9737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Ring </a:t>
            </a:r>
            <a:r>
              <a:rPr lang="en-US" dirty="0" err="1"/>
              <a:t>AllReduce</a:t>
            </a:r>
            <a:r>
              <a:rPr lang="en-US" dirty="0"/>
              <a:t> (How NCCL Behaves)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1D1F"/>
                </a:solidFill>
              </a:defRPr>
            </a:pPr>
            <a:r>
              <a:t>Initial: each GPU has 4 chunks of its own data</a:t>
            </a:r>
          </a:p>
        </p:txBody>
      </p:sp>
      <p:pic>
        <p:nvPicPr>
          <p:cNvPr id="5" name="Picture 4" descr="multichunk_ste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463040"/>
            <a:ext cx="11978640" cy="4791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Dashed = OUT     Thick = IN     Arcs = transfer     Stripes =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13/59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9208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Ring </a:t>
            </a:r>
            <a:r>
              <a:rPr lang="en-US" dirty="0" err="1"/>
              <a:t>AllReduce</a:t>
            </a:r>
            <a:r>
              <a:rPr lang="en-US" dirty="0"/>
              <a:t> (How NCCL Behaves)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rPr dirty="0"/>
              <a:t>RS Step 1: each GPU sends a different chunk →</a:t>
            </a:r>
          </a:p>
        </p:txBody>
      </p:sp>
      <p:pic>
        <p:nvPicPr>
          <p:cNvPr id="5" name="Picture 4" descr="multichunk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463040"/>
            <a:ext cx="11978640" cy="4791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Dashed = OUT     Thick = IN     Arcs = transfer     Stripes = 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01E26-4E34-AE85-8C07-67260B12DA6F}"/>
              </a:ext>
            </a:extLst>
          </p:cNvPr>
          <p:cNvSpPr txBox="1"/>
          <p:nvPr/>
        </p:nvSpPr>
        <p:spPr>
          <a:xfrm>
            <a:off x="457200" y="5175239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6C757D"/>
                </a:solidFill>
              </a:defRPr>
            </a:pPr>
            <a:r>
              <a:rPr dirty="0" err="1"/>
              <a:t>ReduceScatter</a:t>
            </a:r>
            <a:r>
              <a:rPr lang="en-US" dirty="0"/>
              <a:t>:</a:t>
            </a:r>
            <a:r>
              <a:rPr dirty="0"/>
              <a:t> N−1 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FCA24-60E6-1E29-F2D0-5A9566A5B343}"/>
              </a:ext>
            </a:extLst>
          </p:cNvPr>
          <p:cNvSpPr txBox="1"/>
          <p:nvPr/>
        </p:nvSpPr>
        <p:spPr>
          <a:xfrm>
            <a:off x="4413381" y="4309684"/>
            <a:ext cx="7016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1D1D1F"/>
                </a:solidFill>
              </a:defRPr>
            </a:pPr>
            <a:r>
              <a:rPr lang="en-US" sz="2000" b="1" dirty="0">
                <a:solidFill>
                  <a:srgbClr val="1B3A5C"/>
                </a:solidFill>
              </a:rPr>
              <a:t>T = </a:t>
            </a:r>
            <a:r>
              <a:rPr lang="el-GR" sz="2000" b="1" dirty="0">
                <a:solidFill>
                  <a:srgbClr val="1B3A5C"/>
                </a:solidFill>
              </a:rPr>
              <a:t>α + β × </a:t>
            </a:r>
            <a:r>
              <a:rPr lang="en-US" sz="2000" b="1" dirty="0">
                <a:solidFill>
                  <a:srgbClr val="1B3A5C"/>
                </a:solidFill>
              </a:rPr>
              <a:t>S/N (S: Message Size, N = Number of GPUs)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14/59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9208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Ring </a:t>
            </a:r>
            <a:r>
              <a:rPr lang="en-US" dirty="0" err="1"/>
              <a:t>AllReduce</a:t>
            </a:r>
            <a:r>
              <a:rPr lang="en-US" dirty="0"/>
              <a:t> (How NCCL Behaves)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rPr dirty="0"/>
              <a:t>RS Step 2: send the accumulated chunk onward →</a:t>
            </a:r>
          </a:p>
        </p:txBody>
      </p:sp>
      <p:pic>
        <p:nvPicPr>
          <p:cNvPr id="5" name="Picture 4" descr="multichunk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463040"/>
            <a:ext cx="11978640" cy="4791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rPr dirty="0"/>
              <a:t>Dashed = OUT     Thick = IN     Arcs = transfer     Stripes = 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75336-C7D4-67AE-E4E3-58E80FA2C82A}"/>
              </a:ext>
            </a:extLst>
          </p:cNvPr>
          <p:cNvSpPr txBox="1"/>
          <p:nvPr/>
        </p:nvSpPr>
        <p:spPr>
          <a:xfrm>
            <a:off x="3219063" y="4291023"/>
            <a:ext cx="7016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1D1D1F"/>
                </a:solidFill>
              </a:defRPr>
            </a:pPr>
            <a:r>
              <a:rPr lang="en-US" sz="2000" b="1" dirty="0">
                <a:solidFill>
                  <a:srgbClr val="1B3A5C"/>
                </a:solidFill>
              </a:rPr>
              <a:t>T = </a:t>
            </a:r>
            <a:r>
              <a:rPr lang="el-GR" sz="2000" b="1" dirty="0">
                <a:solidFill>
                  <a:srgbClr val="1B3A5C"/>
                </a:solidFill>
              </a:rPr>
              <a:t>α + β × </a:t>
            </a:r>
            <a:r>
              <a:rPr lang="en-US" sz="2000" b="1" dirty="0">
                <a:solidFill>
                  <a:srgbClr val="1B3A5C"/>
                </a:solidFill>
              </a:rPr>
              <a:t>S/N (S: Message Size, N = Number of GPUs)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D8CCA-6C37-A864-9204-BB9D8A6F0F2C}"/>
              </a:ext>
            </a:extLst>
          </p:cNvPr>
          <p:cNvSpPr txBox="1"/>
          <p:nvPr/>
        </p:nvSpPr>
        <p:spPr>
          <a:xfrm>
            <a:off x="457200" y="5175239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6C757D"/>
                </a:solidFill>
              </a:defRPr>
            </a:pPr>
            <a:r>
              <a:rPr dirty="0" err="1"/>
              <a:t>ReduceScatter</a:t>
            </a:r>
            <a:r>
              <a:rPr lang="en-US" dirty="0"/>
              <a:t>:</a:t>
            </a:r>
            <a:r>
              <a:rPr dirty="0"/>
              <a:t> N−1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15/59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9208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Ring </a:t>
            </a:r>
            <a:r>
              <a:rPr lang="en-US" dirty="0" err="1"/>
              <a:t>AllReduce</a:t>
            </a:r>
            <a:r>
              <a:rPr lang="en-US" dirty="0"/>
              <a:t> (How NCCL Behaves)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rPr dirty="0"/>
              <a:t>RS Step 3: one chunk per GPU fully reduced</a:t>
            </a:r>
          </a:p>
        </p:txBody>
      </p:sp>
      <p:pic>
        <p:nvPicPr>
          <p:cNvPr id="5" name="Picture 4" descr="multichunk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463040"/>
            <a:ext cx="11978640" cy="4791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Dashed = OUT     Thick = IN     Arcs = transfer     Stripes = 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A30F6-1B30-5A6C-CF66-3E0937DCFA83}"/>
              </a:ext>
            </a:extLst>
          </p:cNvPr>
          <p:cNvSpPr txBox="1"/>
          <p:nvPr/>
        </p:nvSpPr>
        <p:spPr>
          <a:xfrm>
            <a:off x="2663890" y="4347007"/>
            <a:ext cx="7016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1D1D1F"/>
                </a:solidFill>
              </a:defRPr>
            </a:pPr>
            <a:r>
              <a:rPr lang="en-US" sz="2000" b="1" dirty="0">
                <a:solidFill>
                  <a:srgbClr val="1B3A5C"/>
                </a:solidFill>
              </a:rPr>
              <a:t>T = </a:t>
            </a:r>
            <a:r>
              <a:rPr lang="el-GR" sz="2000" b="1" dirty="0">
                <a:solidFill>
                  <a:srgbClr val="1B3A5C"/>
                </a:solidFill>
              </a:rPr>
              <a:t>α + β × </a:t>
            </a:r>
            <a:r>
              <a:rPr lang="en-US" sz="2000" b="1" dirty="0">
                <a:solidFill>
                  <a:srgbClr val="1B3A5C"/>
                </a:solidFill>
              </a:rPr>
              <a:t>S/N (S: Message Size, N = Number of GPUs)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C41BA-9694-674A-F07F-B90820B31692}"/>
              </a:ext>
            </a:extLst>
          </p:cNvPr>
          <p:cNvSpPr txBox="1"/>
          <p:nvPr/>
        </p:nvSpPr>
        <p:spPr>
          <a:xfrm>
            <a:off x="457200" y="5175239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6C757D"/>
                </a:solidFill>
              </a:defRPr>
            </a:pPr>
            <a:r>
              <a:rPr dirty="0" err="1"/>
              <a:t>ReduceScatter</a:t>
            </a:r>
            <a:r>
              <a:rPr lang="en-US" dirty="0"/>
              <a:t>:</a:t>
            </a:r>
            <a:r>
              <a:rPr dirty="0"/>
              <a:t> N−1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16/59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9208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Ring </a:t>
            </a:r>
            <a:r>
              <a:rPr lang="en-US" dirty="0" err="1"/>
              <a:t>AllReduce</a:t>
            </a:r>
            <a:r>
              <a:rPr lang="en-US" dirty="0"/>
              <a:t> (How NCCL Behaves)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rPr dirty="0"/>
              <a:t>AG Step 4: broadcast fully reduced chunk →</a:t>
            </a:r>
          </a:p>
        </p:txBody>
      </p:sp>
      <p:pic>
        <p:nvPicPr>
          <p:cNvPr id="5" name="Picture 4" descr="multichunk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463040"/>
            <a:ext cx="11978640" cy="4791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Dashed = OUT     Thick = IN     Arcs = transfer     Stripes = 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424C7-2FF8-2FAF-A6D0-0C868EA188F5}"/>
              </a:ext>
            </a:extLst>
          </p:cNvPr>
          <p:cNvSpPr txBox="1"/>
          <p:nvPr/>
        </p:nvSpPr>
        <p:spPr>
          <a:xfrm>
            <a:off x="2335265" y="4291023"/>
            <a:ext cx="7016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1D1D1F"/>
                </a:solidFill>
              </a:defRPr>
            </a:pPr>
            <a:r>
              <a:rPr lang="en-US" sz="2000" b="1" dirty="0">
                <a:solidFill>
                  <a:srgbClr val="1B3A5C"/>
                </a:solidFill>
              </a:rPr>
              <a:t>T = </a:t>
            </a:r>
            <a:r>
              <a:rPr lang="el-GR" sz="2000" b="1" dirty="0">
                <a:solidFill>
                  <a:srgbClr val="1B3A5C"/>
                </a:solidFill>
              </a:rPr>
              <a:t>α + β × </a:t>
            </a:r>
            <a:r>
              <a:rPr lang="en-US" sz="2000" b="1" dirty="0">
                <a:solidFill>
                  <a:srgbClr val="1B3A5C"/>
                </a:solidFill>
              </a:rPr>
              <a:t>S/N (S: Message Size, N = Number of GPUs)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3C02C0-BC33-887B-38D0-8B4391383B8F}"/>
              </a:ext>
            </a:extLst>
          </p:cNvPr>
          <p:cNvSpPr txBox="1"/>
          <p:nvPr/>
        </p:nvSpPr>
        <p:spPr>
          <a:xfrm>
            <a:off x="457200" y="5272759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6C757D"/>
                </a:solidFill>
              </a:defRPr>
            </a:pPr>
            <a:r>
              <a:rPr lang="en-US" dirty="0" err="1"/>
              <a:t>AllGather</a:t>
            </a:r>
            <a:r>
              <a:rPr lang="en-US" dirty="0"/>
              <a:t>: N−1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17/59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9208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Ring </a:t>
            </a:r>
            <a:r>
              <a:rPr lang="en-US" dirty="0" err="1"/>
              <a:t>AllReduce</a:t>
            </a:r>
            <a:r>
              <a:rPr lang="en-US" dirty="0"/>
              <a:t> (How NCCL Behaves)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rPr dirty="0"/>
              <a:t>AG Step 5: continue broadcasting →</a:t>
            </a:r>
          </a:p>
        </p:txBody>
      </p:sp>
      <p:pic>
        <p:nvPicPr>
          <p:cNvPr id="5" name="Picture 4" descr="multichunk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463040"/>
            <a:ext cx="11978640" cy="4791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Dashed = OUT     Thick = IN     Arcs = transfer     Stripes = 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64ABBC-2BA4-07BC-2D96-1E7F725F7611}"/>
              </a:ext>
            </a:extLst>
          </p:cNvPr>
          <p:cNvSpPr txBox="1"/>
          <p:nvPr/>
        </p:nvSpPr>
        <p:spPr>
          <a:xfrm>
            <a:off x="3424707" y="4309684"/>
            <a:ext cx="7016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1D1D1F"/>
                </a:solidFill>
              </a:defRPr>
            </a:pPr>
            <a:r>
              <a:rPr lang="en-US" sz="2000" b="1" dirty="0">
                <a:solidFill>
                  <a:srgbClr val="1B3A5C"/>
                </a:solidFill>
              </a:rPr>
              <a:t>T = </a:t>
            </a:r>
            <a:r>
              <a:rPr lang="el-GR" sz="2000" b="1" dirty="0">
                <a:solidFill>
                  <a:srgbClr val="1B3A5C"/>
                </a:solidFill>
              </a:rPr>
              <a:t>α + β × </a:t>
            </a:r>
            <a:r>
              <a:rPr lang="en-US" sz="2000" b="1" dirty="0">
                <a:solidFill>
                  <a:srgbClr val="1B3A5C"/>
                </a:solidFill>
              </a:rPr>
              <a:t>S/N (S: Message Size, N = Number of GPUs)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4A4591-3487-6EB2-3D40-4BD43AF6DDF8}"/>
              </a:ext>
            </a:extLst>
          </p:cNvPr>
          <p:cNvSpPr txBox="1"/>
          <p:nvPr/>
        </p:nvSpPr>
        <p:spPr>
          <a:xfrm>
            <a:off x="457200" y="528209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6C757D"/>
                </a:solidFill>
              </a:defRPr>
            </a:pPr>
            <a:r>
              <a:rPr lang="en-US" dirty="0" err="1"/>
              <a:t>AllGather</a:t>
            </a:r>
            <a:r>
              <a:rPr lang="en-US" dirty="0"/>
              <a:t>: N−1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18/59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9208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Ring </a:t>
            </a:r>
            <a:r>
              <a:rPr lang="en-US" dirty="0" err="1"/>
              <a:t>AllReduce</a:t>
            </a:r>
            <a:r>
              <a:rPr lang="en-US" dirty="0"/>
              <a:t> (How NCCL Behaves)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rPr dirty="0"/>
              <a:t>AG Step 6: all GPUs have all chunks fully reduced</a:t>
            </a:r>
          </a:p>
        </p:txBody>
      </p:sp>
      <p:pic>
        <p:nvPicPr>
          <p:cNvPr id="5" name="Picture 4" descr="multichunk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463040"/>
            <a:ext cx="11978640" cy="4791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Dashed = OUT     Thick = IN     Arcs = transfer     Stripes = 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6659B-0D8F-EC5B-9793-D4492BFF76C9}"/>
              </a:ext>
            </a:extLst>
          </p:cNvPr>
          <p:cNvSpPr txBox="1"/>
          <p:nvPr/>
        </p:nvSpPr>
        <p:spPr>
          <a:xfrm>
            <a:off x="3097764" y="4300353"/>
            <a:ext cx="7016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1D1D1F"/>
                </a:solidFill>
              </a:defRPr>
            </a:pPr>
            <a:r>
              <a:rPr lang="en-US" sz="2000" b="1" dirty="0">
                <a:solidFill>
                  <a:srgbClr val="1B3A5C"/>
                </a:solidFill>
              </a:rPr>
              <a:t>T = </a:t>
            </a:r>
            <a:r>
              <a:rPr lang="el-GR" sz="2000" b="1" dirty="0">
                <a:solidFill>
                  <a:srgbClr val="1B3A5C"/>
                </a:solidFill>
              </a:rPr>
              <a:t>α + β × </a:t>
            </a:r>
            <a:r>
              <a:rPr lang="en-US" sz="2000" b="1" dirty="0">
                <a:solidFill>
                  <a:srgbClr val="1B3A5C"/>
                </a:solidFill>
              </a:rPr>
              <a:t>S/N (S: Message Size, N = Number of GPUs)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9FEC0-02F8-D078-36A4-35FB1276E73D}"/>
              </a:ext>
            </a:extLst>
          </p:cNvPr>
          <p:cNvSpPr txBox="1"/>
          <p:nvPr/>
        </p:nvSpPr>
        <p:spPr>
          <a:xfrm>
            <a:off x="685800" y="4846767"/>
            <a:ext cx="109728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>
                <a:solidFill>
                  <a:srgbClr val="6C757D"/>
                </a:solidFill>
              </a:defRPr>
            </a:pPr>
            <a:r>
              <a:rPr dirty="0" err="1"/>
              <a:t>ReduceScatter</a:t>
            </a:r>
            <a:r>
              <a:rPr dirty="0"/>
              <a:t> (N−1) + </a:t>
            </a:r>
            <a:r>
              <a:rPr dirty="0" err="1"/>
              <a:t>AllGather</a:t>
            </a:r>
            <a:r>
              <a:rPr dirty="0"/>
              <a:t> (N−1) = 2(N−1) total steps</a:t>
            </a:r>
            <a:endParaRPr lang="en-US" dirty="0"/>
          </a:p>
          <a:p>
            <a:pPr algn="ctr">
              <a:spcAft>
                <a:spcPts val="400"/>
              </a:spcAft>
              <a:defRPr sz="2000">
                <a:solidFill>
                  <a:srgbClr val="6C757D"/>
                </a:solidFill>
              </a:defRPr>
            </a:pPr>
            <a:r>
              <a:rPr lang="en-US" sz="2000" b="1" dirty="0">
                <a:solidFill>
                  <a:srgbClr val="1B3A5C"/>
                </a:solidFill>
              </a:rPr>
              <a:t>Total time: T = 2 </a:t>
            </a:r>
            <a:r>
              <a:rPr lang="el-GR" sz="2000" b="1" dirty="0">
                <a:solidFill>
                  <a:srgbClr val="1B3A5C"/>
                </a:solidFill>
              </a:rPr>
              <a:t>×</a:t>
            </a:r>
            <a:r>
              <a:rPr lang="en-US" sz="2000" b="1" dirty="0">
                <a:solidFill>
                  <a:srgbClr val="1B3A5C"/>
                </a:solidFill>
              </a:rPr>
              <a:t> (N−1) </a:t>
            </a:r>
            <a:r>
              <a:rPr lang="el-GR" sz="2000" b="1" dirty="0">
                <a:solidFill>
                  <a:srgbClr val="1B3A5C"/>
                </a:solidFill>
              </a:rPr>
              <a:t>×</a:t>
            </a:r>
            <a:r>
              <a:rPr lang="en-US" sz="2000" b="1" dirty="0">
                <a:solidFill>
                  <a:srgbClr val="1B3A5C"/>
                </a:solidFill>
              </a:rPr>
              <a:t> (</a:t>
            </a:r>
            <a:r>
              <a:rPr lang="el-GR" sz="2000" b="1" dirty="0">
                <a:solidFill>
                  <a:srgbClr val="1B3A5C"/>
                </a:solidFill>
              </a:rPr>
              <a:t>α + β × </a:t>
            </a:r>
            <a:r>
              <a:rPr lang="en-US" sz="2000" b="1" dirty="0">
                <a:solidFill>
                  <a:srgbClr val="1B3A5C"/>
                </a:solidFill>
              </a:rPr>
              <a:t>S/N)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19/59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1789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1D1F"/>
                </a:solidFill>
              </a:defRPr>
            </a:pPr>
            <a:r>
              <a:rPr dirty="0"/>
              <a:t>Initial: each GPU has 4 chunks (own data)</a:t>
            </a:r>
          </a:p>
        </p:txBody>
      </p:sp>
      <p:pic>
        <p:nvPicPr>
          <p:cNvPr id="5" name="Picture 4" descr="tree_multichunk_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36/59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rPr dirty="0"/>
              <a:t>Step 0: leaves send c0 → GPU2 (reduce)</a:t>
            </a:r>
          </a:p>
        </p:txBody>
      </p:sp>
      <p:pic>
        <p:nvPicPr>
          <p:cNvPr id="5" name="Picture 4" descr="tree_multichunk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37/59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rPr dirty="0"/>
              <a:t>Step 1: leaves c1→GPU2 | GPU2 reduced_c0→GPU0</a:t>
            </a:r>
          </a:p>
        </p:txBody>
      </p:sp>
      <p:pic>
        <p:nvPicPr>
          <p:cNvPr id="5" name="Picture 4" descr="tree_multichunk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38/59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rPr dirty="0"/>
              <a:t>Step 2: leaves c2→GPU2 | GPU2 reduced_c1→GPU0</a:t>
            </a:r>
          </a:p>
        </p:txBody>
      </p:sp>
      <p:pic>
        <p:nvPicPr>
          <p:cNvPr id="5" name="Picture 4" descr="tree_multichunk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rPr dirty="0"/>
              <a:t>Stripes = sources | Dashed = OUT | Thick = IN | Pipeline: chunks overlap across tree levels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026C0-44E4-14E4-EE79-A9C7267873A6}"/>
              </a:ext>
            </a:extLst>
          </p:cNvPr>
          <p:cNvSpPr txBox="1"/>
          <p:nvPr/>
        </p:nvSpPr>
        <p:spPr>
          <a:xfrm>
            <a:off x="831946" y="5611602"/>
            <a:ext cx="1052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After (Number of Chunks - 1) steps, all chunks except the last one have been sent to GPU2.</a:t>
            </a:r>
            <a:endParaRPr lang="en-US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39/59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rPr dirty="0"/>
              <a:t>Step 3: leaves c3→GPU2 | GPU2 reduced_c2→GPU0</a:t>
            </a:r>
          </a:p>
        </p:txBody>
      </p:sp>
      <p:pic>
        <p:nvPicPr>
          <p:cNvPr id="5" name="Picture 4" descr="tree_multichunk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40/59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</a:defRPr>
            </a:pPr>
            <a:r>
              <a:rPr dirty="0"/>
              <a:t>Step 4: GPU2 reduced_c3→GPU0 (Reduce DONE)</a:t>
            </a:r>
          </a:p>
        </p:txBody>
      </p:sp>
      <p:pic>
        <p:nvPicPr>
          <p:cNvPr id="5" name="Picture 4" descr="tree_multichunk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805ED-487C-F702-26FE-776183564B3E}"/>
              </a:ext>
            </a:extLst>
          </p:cNvPr>
          <p:cNvSpPr txBox="1"/>
          <p:nvPr/>
        </p:nvSpPr>
        <p:spPr>
          <a:xfrm>
            <a:off x="831946" y="5611602"/>
            <a:ext cx="1052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 </a:t>
            </a:r>
            <a:r>
              <a:rPr lang="en-US" b="1" dirty="0"/>
              <a:t>The last chunk needs </a:t>
            </a:r>
            <a:r>
              <a:rPr lang="en-US" b="1" dirty="0" err="1"/>
              <a:t>log₂N</a:t>
            </a:r>
            <a:r>
              <a:rPr lang="en-US" b="1" dirty="0"/>
              <a:t> steps to finish the reduce process.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41/59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rPr dirty="0"/>
              <a:t>Step 5: GPU0 c0→GPU2 (Broadcast starts)</a:t>
            </a:r>
          </a:p>
        </p:txBody>
      </p:sp>
      <p:pic>
        <p:nvPicPr>
          <p:cNvPr id="5" name="Picture 4" descr="tree_multichunk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42/59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rPr dirty="0"/>
              <a:t>Step 6: GPU0 c1→GPU2 | GPU2 c0→leaves</a:t>
            </a:r>
          </a:p>
        </p:txBody>
      </p:sp>
      <p:pic>
        <p:nvPicPr>
          <p:cNvPr id="5" name="Picture 4" descr="tree_multichunk_ste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43/59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rPr dirty="0"/>
              <a:t>Step 7: GPU0 c2→GPU2 | GPU2 c1→leaves</a:t>
            </a:r>
          </a:p>
        </p:txBody>
      </p:sp>
      <p:pic>
        <p:nvPicPr>
          <p:cNvPr id="5" name="Picture 4" descr="tree_multichunk_ste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A8CA1C-C5A8-43AA-19D2-B5B92B937035}"/>
              </a:ext>
            </a:extLst>
          </p:cNvPr>
          <p:cNvSpPr txBox="1"/>
          <p:nvPr/>
        </p:nvSpPr>
        <p:spPr>
          <a:xfrm>
            <a:off x="831946" y="5611602"/>
            <a:ext cx="1052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After (Number of Chunks - 1) steps, all reduced chunks except the last one have been sent </a:t>
            </a:r>
            <a:r>
              <a:rPr lang="en-US" b="1"/>
              <a:t>to GPU</a:t>
            </a:r>
            <a:r>
              <a:rPr lang="en-US" altLang="zh-CN" b="1"/>
              <a:t>2</a:t>
            </a:r>
            <a:r>
              <a:rPr lang="en-US" b="1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44/59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rPr dirty="0"/>
              <a:t>Step 8: GPU0 c3→GPU2 | GPU2 c2→leaves</a:t>
            </a:r>
          </a:p>
        </p:txBody>
      </p:sp>
      <p:pic>
        <p:nvPicPr>
          <p:cNvPr id="5" name="Picture 4" descr="tree_multichunk_ste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45/59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8097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— How NCCL Behaves — Multi-Chunk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rPr dirty="0"/>
              <a:t>Step 9: GPU2 c3→leaves (ALL DONE)</a:t>
            </a:r>
          </a:p>
        </p:txBody>
      </p:sp>
      <p:pic>
        <p:nvPicPr>
          <p:cNvPr id="5" name="Picture 4" descr="tree_multichunk_ste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241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Stripes = sources | Dashed = OUT | Thick = IN | Pipeline: chunks overlap across tree levels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FBF7-2EFB-BCAF-097C-E80406A6F339}"/>
              </a:ext>
            </a:extLst>
          </p:cNvPr>
          <p:cNvSpPr txBox="1"/>
          <p:nvPr/>
        </p:nvSpPr>
        <p:spPr>
          <a:xfrm>
            <a:off x="831946" y="5611602"/>
            <a:ext cx="1052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 </a:t>
            </a:r>
            <a:r>
              <a:rPr lang="en-US" b="1" dirty="0"/>
              <a:t>The last chunk needs </a:t>
            </a:r>
            <a:r>
              <a:rPr lang="en-US" b="1" dirty="0" err="1"/>
              <a:t>log₂N</a:t>
            </a:r>
            <a:r>
              <a:rPr lang="en-US" b="1" dirty="0"/>
              <a:t> steps to finish the broadcast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46/59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36AB792-C66B-CECC-24C3-B8A69FE1AEF5}"/>
              </a:ext>
            </a:extLst>
          </p:cNvPr>
          <p:cNvGrpSpPr/>
          <p:nvPr/>
        </p:nvGrpSpPr>
        <p:grpSpPr>
          <a:xfrm>
            <a:off x="206126" y="1677202"/>
            <a:ext cx="11089896" cy="3896000"/>
            <a:chOff x="206126" y="1677202"/>
            <a:chExt cx="11089896" cy="3896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3D7CBC2-7D6F-381C-DE44-45047FAAA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126" y="1677202"/>
              <a:ext cx="11089896" cy="3896000"/>
            </a:xfrm>
            <a:prstGeom prst="rect">
              <a:avLst/>
            </a:prstGeom>
          </p:spPr>
        </p:pic>
        <p:sp>
          <p:nvSpPr>
            <p:cNvPr id="3" name="Left Brace 2">
              <a:extLst>
                <a:ext uri="{FF2B5EF4-FFF2-40B4-BE49-F238E27FC236}">
                  <a16:creationId xmlns:a16="http://schemas.microsoft.com/office/drawing/2014/main" id="{ACD43914-DC9F-E729-711F-5F19D97E41EA}"/>
                </a:ext>
              </a:extLst>
            </p:cNvPr>
            <p:cNvSpPr/>
            <p:nvPr/>
          </p:nvSpPr>
          <p:spPr>
            <a:xfrm rot="16200000">
              <a:off x="1678171" y="2938734"/>
              <a:ext cx="785038" cy="195494"/>
            </a:xfrm>
            <a:prstGeom prst="leftBrac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A4BCF8E-9969-A7DF-B175-7D1A9FA11607}"/>
                </a:ext>
              </a:extLst>
            </p:cNvPr>
            <p:cNvSpPr txBox="1"/>
            <p:nvPr/>
          </p:nvSpPr>
          <p:spPr>
            <a:xfrm>
              <a:off x="1163782" y="3429000"/>
              <a:ext cx="13547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o_net</a:t>
              </a:r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zh-CN" sz="9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T_send</a:t>
              </a:r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en-US" altLang="zh-CN" sz="9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T_wire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6A50AC7F-FDDC-0E7C-AA1E-FF5B4FD13380}"/>
                </a:ext>
              </a:extLst>
            </p:cNvPr>
            <p:cNvSpPr/>
            <p:nvPr/>
          </p:nvSpPr>
          <p:spPr>
            <a:xfrm rot="16200000">
              <a:off x="2466595" y="3278666"/>
              <a:ext cx="898073" cy="606117"/>
            </a:xfrm>
            <a:prstGeom prst="leftBrac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EB9147-7733-EE99-BA4E-5463822D503E}"/>
                </a:ext>
              </a:extLst>
            </p:cNvPr>
            <p:cNvSpPr txBox="1"/>
            <p:nvPr/>
          </p:nvSpPr>
          <p:spPr>
            <a:xfrm>
              <a:off x="2440146" y="3994186"/>
              <a:ext cx="12405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o_mem</a:t>
              </a:r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zh-CN" sz="9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T_mem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0AC54008-B079-3A93-BAB5-B965BFD38129}"/>
                </a:ext>
              </a:extLst>
            </p:cNvPr>
            <p:cNvSpPr/>
            <p:nvPr/>
          </p:nvSpPr>
          <p:spPr>
            <a:xfrm rot="5400000">
              <a:off x="8817381" y="3473791"/>
              <a:ext cx="496312" cy="1322741"/>
            </a:xfrm>
            <a:prstGeom prst="leftBrac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71AB97-7A41-3537-401E-2D60E4FA7356}"/>
                </a:ext>
              </a:extLst>
            </p:cNvPr>
            <p:cNvSpPr txBox="1"/>
            <p:nvPr/>
          </p:nvSpPr>
          <p:spPr>
            <a:xfrm>
              <a:off x="7546153" y="3475166"/>
              <a:ext cx="3060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o_round</a:t>
              </a: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the gap between two consecutive rounds. </a:t>
              </a:r>
            </a:p>
            <a:p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Here, each round has 4 × (number of GPUs − 1) = 12 chunks.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89754B-B69F-4921-D748-35A49CE8D72F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>
              <a:off x="9726908" y="4383318"/>
              <a:ext cx="4921" cy="4209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4C4B5A-41FB-847D-9D92-55E0143EE465}"/>
                </a:ext>
              </a:extLst>
            </p:cNvPr>
            <p:cNvCxnSpPr>
              <a:cxnSpLocks/>
            </p:cNvCxnSpPr>
            <p:nvPr/>
          </p:nvCxnSpPr>
          <p:spPr>
            <a:xfrm>
              <a:off x="8404167" y="4383318"/>
              <a:ext cx="0" cy="27712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59067B-1C72-85CE-BCEB-5B5934286DAF}"/>
                </a:ext>
              </a:extLst>
            </p:cNvPr>
            <p:cNvCxnSpPr>
              <a:cxnSpLocks/>
            </p:cNvCxnSpPr>
            <p:nvPr/>
          </p:nvCxnSpPr>
          <p:spPr>
            <a:xfrm>
              <a:off x="2169339" y="2543884"/>
              <a:ext cx="0" cy="27712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7887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6904</TotalTime>
  <Words>1054</Words>
  <Application>Microsoft Macintosh PowerPoint</Application>
  <PresentationFormat>Custom</PresentationFormat>
  <Paragraphs>134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Dai, Liuyao</cp:lastModifiedBy>
  <cp:revision>36</cp:revision>
  <dcterms:created xsi:type="dcterms:W3CDTF">2013-01-27T09:14:16Z</dcterms:created>
  <dcterms:modified xsi:type="dcterms:W3CDTF">2026-08-10T16:38:39Z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2026-07-11T22:19:00Z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6e42c477-c44a-4ec7-b6f7-733311e849dc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